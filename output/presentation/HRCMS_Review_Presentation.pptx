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eb0f835f7524e62" /><Relationship Type="http://schemas.openxmlformats.org/officeDocument/2006/relationships/extended-properties" Target="/docProps/app.xml" Id="R8021d9e7fcf64aa8" /><Relationship Type="http://schemas.openxmlformats.org/officeDocument/2006/relationships/officeDocument" Target="/ppt/presentation.xml" Id="Rcae1c36576c74d3a" /></Relationships>
</file>

<file path=ppt/presentation.xml><?xml version="1.0" encoding="utf-8"?>
<p:presentation xmlns:p="http://schemas.openxmlformats.org/presentationml/2006/main">
  <p:sldMasterIdLst>
    <p:sldMasterId xmlns:r="http://schemas.openxmlformats.org/officeDocument/2006/relationships" id="2147483648" r:id="Rba05dffca3ef4035"/>
  </p:sldMasterIdLst>
  <p:notesMasterIdLst>
    <p:notesMasterId xmlns:r="http://schemas.openxmlformats.org/officeDocument/2006/relationships" r:id="R09191693195f443e"/>
  </p:notesMasterIdLst>
  <p:sldIdLst>
    <p:sldId xmlns:r="http://schemas.openxmlformats.org/officeDocument/2006/relationships" id="256" r:id="R23f8bdd3a3b94650"/>
    <p:sldId xmlns:r="http://schemas.openxmlformats.org/officeDocument/2006/relationships" id="257" r:id="Rb07952ea6b4547e0"/>
    <p:sldId xmlns:r="http://schemas.openxmlformats.org/officeDocument/2006/relationships" id="258" r:id="Rf4bfb0ff4f5747d5"/>
    <p:sldId xmlns:r="http://schemas.openxmlformats.org/officeDocument/2006/relationships" id="259" r:id="R4fe4684cdf8e419e"/>
    <p:sldId xmlns:r="http://schemas.openxmlformats.org/officeDocument/2006/relationships" id="260" r:id="Rf5696d10836e4877"/>
    <p:sldId xmlns:r="http://schemas.openxmlformats.org/officeDocument/2006/relationships" id="261" r:id="Rf318e748d2564732"/>
    <p:sldId xmlns:r="http://schemas.openxmlformats.org/officeDocument/2006/relationships" id="262" r:id="R378d70dea12845d4"/>
    <p:sldId xmlns:r="http://schemas.openxmlformats.org/officeDocument/2006/relationships" id="263" r:id="Rfe8b3fec3dd64c1b"/>
    <p:sldId xmlns:r="http://schemas.openxmlformats.org/officeDocument/2006/relationships" id="264" r:id="R03bc59ff872e4ce3"/>
    <p:sldId xmlns:r="http://schemas.openxmlformats.org/officeDocument/2006/relationships" id="265" r:id="R0796238dc159400a"/>
    <p:sldId xmlns:r="http://schemas.openxmlformats.org/officeDocument/2006/relationships" id="266" r:id="Re3541ceab44449c5"/>
    <p:sldId xmlns:r="http://schemas.openxmlformats.org/officeDocument/2006/relationships" id="267" r:id="Ra9e5e43b40f548b6"/>
    <p:sldId xmlns:r="http://schemas.openxmlformats.org/officeDocument/2006/relationships" id="268" r:id="R3a91c8f1612b47b8"/>
    <p:sldId xmlns:r="http://schemas.openxmlformats.org/officeDocument/2006/relationships" id="269" r:id="Rf1fd525ca98641f5"/>
    <p:sldId xmlns:r="http://schemas.openxmlformats.org/officeDocument/2006/relationships" id="270" r:id="R54d8fa4174f840e4"/>
    <p:sldId xmlns:r="http://schemas.openxmlformats.org/officeDocument/2006/relationships" id="271" r:id="Rebd8cea586f6411d"/>
    <p:sldId xmlns:r="http://schemas.openxmlformats.org/officeDocument/2006/relationships" id="272" r:id="Rcd62b8a367d24a56"/>
    <p:sldId xmlns:r="http://schemas.openxmlformats.org/officeDocument/2006/relationships" id="273" r:id="Rb3bef6aad3794678"/>
    <p:sldId xmlns:r="http://schemas.openxmlformats.org/officeDocument/2006/relationships" id="274" r:id="R4e752c6c71544757"/>
    <p:sldId xmlns:r="http://schemas.openxmlformats.org/officeDocument/2006/relationships" id="275" r:id="Rc9d6b5a3c0e741e8"/>
    <p:sldId xmlns:r="http://schemas.openxmlformats.org/officeDocument/2006/relationships" id="276" r:id="Rb04b5da113744fbc"/>
    <p:sldId xmlns:r="http://schemas.openxmlformats.org/officeDocument/2006/relationships" id="277" r:id="R219117b590314560"/>
    <p:sldId xmlns:r="http://schemas.openxmlformats.org/officeDocument/2006/relationships" id="278" r:id="R0dc3bf033e7e4fed"/>
    <p:sldId xmlns:r="http://schemas.openxmlformats.org/officeDocument/2006/relationships" id="279" r:id="R8fee83e7cef74b4d"/>
    <p:sldId xmlns:r="http://schemas.openxmlformats.org/officeDocument/2006/relationships" id="280" r:id="R4aee10c54f014004"/>
    <p:sldId xmlns:r="http://schemas.openxmlformats.org/officeDocument/2006/relationships" id="281" r:id="R939df0228cf74f3e"/>
    <p:sldId xmlns:r="http://schemas.openxmlformats.org/officeDocument/2006/relationships" id="282" r:id="Reb68e7fa0d4c4680"/>
    <p:sldId xmlns:r="http://schemas.openxmlformats.org/officeDocument/2006/relationships" id="283" r:id="R7b66341680f74913"/>
    <p:sldId xmlns:r="http://schemas.openxmlformats.org/officeDocument/2006/relationships" id="284" r:id="Rc67d069750ee4c08"/>
    <p:sldId xmlns:r="http://schemas.openxmlformats.org/officeDocument/2006/relationships" id="285" r:id="R1b5d0a254c6a447b"/>
    <p:sldId xmlns:r="http://schemas.openxmlformats.org/officeDocument/2006/relationships" id="286" r:id="R1b5d155d8ddf4408"/>
    <p:sldId xmlns:r="http://schemas.openxmlformats.org/officeDocument/2006/relationships" id="287" r:id="R8125cdf75a864583"/>
    <p:sldId xmlns:r="http://schemas.openxmlformats.org/officeDocument/2006/relationships" id="288" r:id="R92589400d3384bc4"/>
    <p:sldId xmlns:r="http://schemas.openxmlformats.org/officeDocument/2006/relationships" id="289" r:id="R836940085bc24a42"/>
    <p:sldId xmlns:r="http://schemas.openxmlformats.org/officeDocument/2006/relationships" id="290" r:id="R27a59e7593f34209"/>
    <p:sldId xmlns:r="http://schemas.openxmlformats.org/officeDocument/2006/relationships" id="291" r:id="Rad3195eee167495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e2c3e3fcd54b34" /><Relationship Type="http://schemas.openxmlformats.org/officeDocument/2006/relationships/slideMaster" Target="/ppt/slideMasters/slideMaster1.xml" Id="Rba05dffca3ef4035" /><Relationship Type="http://schemas.openxmlformats.org/officeDocument/2006/relationships/notesMaster" Target="/ppt/notesMasters/notesMaster1.xml" Id="R09191693195f443e" /><Relationship Type="http://schemas.openxmlformats.org/officeDocument/2006/relationships/presProps" Target="/ppt/presProps.xml" Id="R04cd312a44c140ec" /><Relationship Type="http://schemas.openxmlformats.org/officeDocument/2006/relationships/tableStyles" Target="/ppt/tableStyles.xml" Id="Radd550b9e1b640de" /><Relationship Type="http://schemas.openxmlformats.org/officeDocument/2006/relationships/slide" Target="/ppt/slides/slide1.xml" Id="R23f8bdd3a3b94650" /><Relationship Type="http://schemas.openxmlformats.org/officeDocument/2006/relationships/slide" Target="/ppt/slides/slide2.xml" Id="Rb07952ea6b4547e0" /><Relationship Type="http://schemas.openxmlformats.org/officeDocument/2006/relationships/slide" Target="/ppt/slides/slide3.xml" Id="Rf4bfb0ff4f5747d5" /><Relationship Type="http://schemas.openxmlformats.org/officeDocument/2006/relationships/slide" Target="/ppt/slides/slide4.xml" Id="R4fe4684cdf8e419e" /><Relationship Type="http://schemas.openxmlformats.org/officeDocument/2006/relationships/slide" Target="/ppt/slides/slide5.xml" Id="Rf5696d10836e4877" /><Relationship Type="http://schemas.openxmlformats.org/officeDocument/2006/relationships/slide" Target="/ppt/slides/slide6.xml" Id="Rf318e748d2564732" /><Relationship Type="http://schemas.openxmlformats.org/officeDocument/2006/relationships/slide" Target="/ppt/slides/slide7.xml" Id="R378d70dea12845d4" /><Relationship Type="http://schemas.openxmlformats.org/officeDocument/2006/relationships/slide" Target="/ppt/slides/slide8.xml" Id="Rfe8b3fec3dd64c1b" /><Relationship Type="http://schemas.openxmlformats.org/officeDocument/2006/relationships/slide" Target="/ppt/slides/slide9.xml" Id="R03bc59ff872e4ce3" /><Relationship Type="http://schemas.openxmlformats.org/officeDocument/2006/relationships/slide" Target="/ppt/slides/slide10.xml" Id="R0796238dc159400a" /><Relationship Type="http://schemas.openxmlformats.org/officeDocument/2006/relationships/slide" Target="/ppt/slides/slide11.xml" Id="Re3541ceab44449c5" /><Relationship Type="http://schemas.openxmlformats.org/officeDocument/2006/relationships/slide" Target="/ppt/slides/slide12.xml" Id="Ra9e5e43b40f548b6" /><Relationship Type="http://schemas.openxmlformats.org/officeDocument/2006/relationships/slide" Target="/ppt/slides/slide13.xml" Id="R3a91c8f1612b47b8" /><Relationship Type="http://schemas.openxmlformats.org/officeDocument/2006/relationships/slide" Target="/ppt/slides/slide14.xml" Id="Rf1fd525ca98641f5" /><Relationship Type="http://schemas.openxmlformats.org/officeDocument/2006/relationships/slide" Target="/ppt/slides/slide15.xml" Id="R54d8fa4174f840e4" /><Relationship Type="http://schemas.openxmlformats.org/officeDocument/2006/relationships/slide" Target="/ppt/slides/slide16.xml" Id="Rebd8cea586f6411d" /><Relationship Type="http://schemas.openxmlformats.org/officeDocument/2006/relationships/slide" Target="/ppt/slides/slide17.xml" Id="Rcd62b8a367d24a56" /><Relationship Type="http://schemas.openxmlformats.org/officeDocument/2006/relationships/slide" Target="/ppt/slides/slide18.xml" Id="Rb3bef6aad3794678" /><Relationship Type="http://schemas.openxmlformats.org/officeDocument/2006/relationships/slide" Target="/ppt/slides/slide19.xml" Id="R4e752c6c71544757" /><Relationship Type="http://schemas.openxmlformats.org/officeDocument/2006/relationships/slide" Target="/ppt/slides/slide20.xml" Id="Rc9d6b5a3c0e741e8" /><Relationship Type="http://schemas.openxmlformats.org/officeDocument/2006/relationships/slide" Target="/ppt/slides/slide21.xml" Id="Rb04b5da113744fbc" /><Relationship Type="http://schemas.openxmlformats.org/officeDocument/2006/relationships/slide" Target="/ppt/slides/slide22.xml" Id="R219117b590314560" /><Relationship Type="http://schemas.openxmlformats.org/officeDocument/2006/relationships/slide" Target="/ppt/slides/slide23.xml" Id="R0dc3bf033e7e4fed" /><Relationship Type="http://schemas.openxmlformats.org/officeDocument/2006/relationships/slide" Target="/ppt/slides/slide24.xml" Id="R8fee83e7cef74b4d" /><Relationship Type="http://schemas.openxmlformats.org/officeDocument/2006/relationships/slide" Target="/ppt/slides/slide25.xml" Id="R4aee10c54f014004" /><Relationship Type="http://schemas.openxmlformats.org/officeDocument/2006/relationships/slide" Target="/ppt/slides/slide26.xml" Id="R939df0228cf74f3e" /><Relationship Type="http://schemas.openxmlformats.org/officeDocument/2006/relationships/slide" Target="/ppt/slides/slide27.xml" Id="Reb68e7fa0d4c4680" /><Relationship Type="http://schemas.openxmlformats.org/officeDocument/2006/relationships/slide" Target="/ppt/slides/slide28.xml" Id="R7b66341680f74913" /><Relationship Type="http://schemas.openxmlformats.org/officeDocument/2006/relationships/slide" Target="/ppt/slides/slide29.xml" Id="Rc67d069750ee4c08" /><Relationship Type="http://schemas.openxmlformats.org/officeDocument/2006/relationships/slide" Target="/ppt/slides/slide30.xml" Id="R1b5d0a254c6a447b" /><Relationship Type="http://schemas.openxmlformats.org/officeDocument/2006/relationships/slide" Target="/ppt/slides/slide31.xml" Id="R1b5d155d8ddf4408" /><Relationship Type="http://schemas.openxmlformats.org/officeDocument/2006/relationships/slide" Target="/ppt/slides/slide32.xml" Id="R8125cdf75a864583" /><Relationship Type="http://schemas.openxmlformats.org/officeDocument/2006/relationships/slide" Target="/ppt/slides/slide33.xml" Id="R92589400d3384bc4" /><Relationship Type="http://schemas.openxmlformats.org/officeDocument/2006/relationships/slide" Target="/ppt/slides/slide34.xml" Id="R836940085bc24a42" /><Relationship Type="http://schemas.openxmlformats.org/officeDocument/2006/relationships/slide" Target="/ppt/slides/slide35.xml" Id="R27a59e7593f34209" /><Relationship Type="http://schemas.openxmlformats.org/officeDocument/2006/relationships/slide" Target="/ppt/slides/slide36.xml" Id="Rad3195eee16749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b672033803413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3f76e1895f9435f" /><Relationship Type="http://schemas.openxmlformats.org/officeDocument/2006/relationships/notesMaster" Target="/ppt/notesMasters/notesMaster1.xml" Id="R86e5f3f1e5f14b9e" /></Relationships>
</file>

<file path=ppt/notesSlides/_rels/notesSlide2.xml.rels>&#65279;<?xml version="1.0" encoding="utf-8"?><Relationships xmlns="http://schemas.openxmlformats.org/package/2006/relationships"><Relationship Type="http://schemas.openxmlformats.org/officeDocument/2006/relationships/slide" Target="/ppt/slides/slide2.xml" Id="R31b27596cd064852" /><Relationship Type="http://schemas.openxmlformats.org/officeDocument/2006/relationships/notesMaster" Target="/ppt/notesMasters/notesMaster1.xml" Id="R6501285098164af0"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8e78e8bda44451" /><Relationship Type="http://schemas.openxmlformats.org/officeDocument/2006/relationships/notesMaster" Target="/ppt/notesMasters/notesMaster1.xml" Id="Rd3a8d49648a04baa" /></Relationships>
</file>

<file path=ppt/notesSlides/_rels/notesSlide4.xml.rels>&#65279;<?xml version="1.0" encoding="utf-8"?><Relationships xmlns="http://schemas.openxmlformats.org/package/2006/relationships"><Relationship Type="http://schemas.openxmlformats.org/officeDocument/2006/relationships/slide" Target="/ppt/slides/slide4.xml" Id="R74bf3202308a4ecf" /><Relationship Type="http://schemas.openxmlformats.org/officeDocument/2006/relationships/notesMaster" Target="/ppt/notesMasters/notesMaster1.xml" Id="Re57f280a5cf44434" /></Relationships>
</file>

<file path=ppt/notesSlides/_rels/notesSlide5.xml.rels>&#65279;<?xml version="1.0" encoding="utf-8"?><Relationships xmlns="http://schemas.openxmlformats.org/package/2006/relationships"><Relationship Type="http://schemas.openxmlformats.org/officeDocument/2006/relationships/slide" Target="/ppt/slides/slide5.xml" Id="R120ba8012df84f14" /><Relationship Type="http://schemas.openxmlformats.org/officeDocument/2006/relationships/notesMaster" Target="/ppt/notesMasters/notesMaster1.xml" Id="R27fe7a057fd741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f97c9fd06c1244ac" /><Relationship Type="http://schemas.openxmlformats.org/officeDocument/2006/relationships/notesMaster" Target="/ppt/notesMasters/notesMaster1.xml" Id="Re587a55f9631452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e3d3b609b54926" /><Relationship Type="http://schemas.openxmlformats.org/officeDocument/2006/relationships/notesMaster" Target="/ppt/notesMasters/notesMaster1.xml" Id="R7a6d1cb4e2b84a0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2ef3fe1541b4602" /><Relationship Type="http://schemas.openxmlformats.org/officeDocument/2006/relationships/notesMaster" Target="/ppt/notesMasters/notesMaster1.xml" Id="R4cfe400f7d0042a0" /></Relationships>
</file>

<file path=ppt/notesSlides/_rels/notesSlide9.xml.rels>&#65279;<?xml version="1.0" encoding="utf-8"?><Relationships xmlns="http://schemas.openxmlformats.org/package/2006/relationships"><Relationship Type="http://schemas.openxmlformats.org/officeDocument/2006/relationships/slide" Target="/ppt/slides/slide9.xml" Id="R1c08640cb6f44e56" /><Relationship Type="http://schemas.openxmlformats.org/officeDocument/2006/relationships/notesMaster" Target="/ppt/notesMasters/notesMaster1.xml" Id="Re37d6ad8ff7247f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a5edc38dba74927" /><Relationship Type="http://schemas.openxmlformats.org/officeDocument/2006/relationships/notesMaster" Target="/ppt/notesMasters/notesMaster1.xml" Id="R32816fedd16343e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4daac04d2964d5f" /><Relationship Type="http://schemas.openxmlformats.org/officeDocument/2006/relationships/notesMaster" Target="/ppt/notesMasters/notesMaster1.xml" Id="R22ba2790ad604d2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77eae9eef84193" /><Relationship Type="http://schemas.openxmlformats.org/officeDocument/2006/relationships/notesMaster" Target="/ppt/notesMasters/notesMaster1.xml" Id="R32c6d25d7f7942f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1e2d9246a9e4052" /><Relationship Type="http://schemas.openxmlformats.org/officeDocument/2006/relationships/notesMaster" Target="/ppt/notesMasters/notesMaster1.xml" Id="R92f3b376d4b4475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d666a486d7b43c7" /><Relationship Type="http://schemas.openxmlformats.org/officeDocument/2006/relationships/notesMaster" Target="/ppt/notesMasters/notesMaster1.xml" Id="R0e161403fcff45d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3d4a306a71249dd" /><Relationship Type="http://schemas.openxmlformats.org/officeDocument/2006/relationships/notesMaster" Target="/ppt/notesMasters/notesMaster1.xml" Id="Rf5ad51505b4849e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63ce163aaa2419e" /><Relationship Type="http://schemas.openxmlformats.org/officeDocument/2006/relationships/notesMaster" Target="/ppt/notesMasters/notesMaster1.xml" Id="R3104fc08ea4246c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a11289507bf404e" /><Relationship Type="http://schemas.openxmlformats.org/officeDocument/2006/relationships/notesMaster" Target="/ppt/notesMasters/notesMaster1.xml" Id="R9f964c206e2b412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5db6e7f6df24e93" /><Relationship Type="http://schemas.openxmlformats.org/officeDocument/2006/relationships/notesMaster" Target="/ppt/notesMasters/notesMaster1.xml" Id="R0906829f259b49c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07e0a246f39499a" /><Relationship Type="http://schemas.openxmlformats.org/officeDocument/2006/relationships/notesMaster" Target="/ppt/notesMasters/notesMaster1.xml" Id="R1c060c03be93424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25fdff19f804837" /><Relationship Type="http://schemas.openxmlformats.org/officeDocument/2006/relationships/notesMaster" Target="/ppt/notesMasters/notesMaster1.xml" Id="Rd7fd87a60a2f42f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080b2f235964e21" /><Relationship Type="http://schemas.openxmlformats.org/officeDocument/2006/relationships/notesMaster" Target="/ppt/notesMasters/notesMaster1.xml" Id="R6aae3102140b425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f66e803fae84268" /><Relationship Type="http://schemas.openxmlformats.org/officeDocument/2006/relationships/notesMaster" Target="/ppt/notesMasters/notesMaster1.xml" Id="Rf60f336adfec4b8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5fa6f7b5f6c4527" /><Relationship Type="http://schemas.openxmlformats.org/officeDocument/2006/relationships/notesMaster" Target="/ppt/notesMasters/notesMaster1.xml" Id="Rd40f0cdf42954a9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44977fdbad64b6c" /><Relationship Type="http://schemas.openxmlformats.org/officeDocument/2006/relationships/notesMaster" Target="/ppt/notesMasters/notesMaster1.xml" Id="R0a9ce2db60e144c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443aa20b48d403c" /><Relationship Type="http://schemas.openxmlformats.org/officeDocument/2006/relationships/notesMaster" Target="/ppt/notesMasters/notesMaster1.xml" Id="R44c06a89c2914d6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62e948247064673" /><Relationship Type="http://schemas.openxmlformats.org/officeDocument/2006/relationships/notesMaster" Target="/ppt/notesMasters/notesMaster1.xml" Id="R79f85b128a5b48c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dbe51f931ae460c" /><Relationship Type="http://schemas.openxmlformats.org/officeDocument/2006/relationships/notesMaster" Target="/ppt/notesMasters/notesMaster1.xml" Id="Ra396ecc2d122495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a233d167f4b41a5" /><Relationship Type="http://schemas.openxmlformats.org/officeDocument/2006/relationships/notesMaster" Target="/ppt/notesMasters/notesMaster1.xml" Id="R0f070f5a6915495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1c2c345217f4275" /><Relationship Type="http://schemas.openxmlformats.org/officeDocument/2006/relationships/notesMaster" Target="/ppt/notesMasters/notesMaster1.xml" Id="Rc6bec24b77a24b0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171218984f14b0d" /><Relationship Type="http://schemas.openxmlformats.org/officeDocument/2006/relationships/notesMaster" Target="/ppt/notesMasters/notesMaster1.xml" Id="R12dc54b7b3ca4c7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9c87667590c4fb2" /><Relationship Type="http://schemas.openxmlformats.org/officeDocument/2006/relationships/notesMaster" Target="/ppt/notesMasters/notesMaster1.xml" Id="R5615e27a179843a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67344980a3d4602" /><Relationship Type="http://schemas.openxmlformats.org/officeDocument/2006/relationships/notesMaster" Target="/ppt/notesMasters/notesMaster1.xml" Id="R33378f9d69a34f5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8392f27eb134404" /><Relationship Type="http://schemas.openxmlformats.org/officeDocument/2006/relationships/notesMaster" Target="/ppt/notesMasters/notesMaster1.xml" Id="R81e1f6b4eb3e457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8ccc2cdd5744d4e" /><Relationship Type="http://schemas.openxmlformats.org/officeDocument/2006/relationships/notesMaster" Target="/ppt/notesMasters/notesMaster1.xml" Id="R097e4690583046a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90918c0e9af4aef" /><Relationship Type="http://schemas.openxmlformats.org/officeDocument/2006/relationships/notesMaster" Target="/ppt/notesMasters/notesMaster1.xml" Id="R168180fd7c6443f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9c0472c91334f25" /><Relationship Type="http://schemas.openxmlformats.org/officeDocument/2006/relationships/notesMaster" Target="/ppt/notesMasters/notesMaster1.xml" Id="R709379a6f6e9487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aim is one connected database for room allotment and maintenance complaints. Functional requirements cover all four roles. Non-functional requirements include hashed passwords, parameterized SQL, data integrity, responsive forms and maintainable separation between frontend, API and MySQL. The design does not claim measured production performance. Team: M. Dhanush Sai and Nishaanth S.</a:t>
            </a:r>
          </a:p>
          <a:p xmlns:a="http://schemas.openxmlformats.org/drawingml/2006/main">
            <a:r>
              <a:t/>
            </a:r>
          </a:p>
          <a:p xmlns:a="http://schemas.openxmlformats.org/drawingml/2006/main">
            <a:r>
              <a:t>Sources: C:/Users/nisha/Documents/ChatGPT/DBMS/docs/SPEC.md; C:/Users/nisha/Documents/ChatGPT/DBMS/README.md; C:/Users/nisha/Documents/ChatGPT/DBMS/backend/src/auth.js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three displayed subtypes form a PARTIAL specialization of USERS because ADMIN users have no subtype table. The d circle denotes disjoint specialization. The single line from USERS denotes partial participation. Each subtype row has exactly one USERS row through its PK/FK. A USERS row has zero or one row in each subtype table. API transactions create exactly the subtype matching a non-admin role and prohibit role changes. SQL foreign keys alone do not enforce disjointness or role matching. USER_PHONE has composite PK(user_id,phone_no): each phone row belongs to exactly one user, while a user may have zero or many phone rows. A phone number need not be globally unique. Attributes are selected for readability, not a full data dictionary.</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C:/Users/nisha/Documents/ChatGPT/DBMS/backend/src/admin.js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FKs: hostel_block.warden_id, room.block_id, room.type_code, room_allocation.student_id and room_allocation.room_id. At each end, the label counts instances of that entity per instance at the other end. The nullable UNIQUE warden FK makes management optional one-to-one in both directions. Every room has exactly one block and one room type. Each block/type can have zero or many rooms. Each allocation belongs to exactly one student and one room. Each student/room may have zero or many historical allocations. One ACTIVE allocation per student is a separate generated unique-key rule; room capacity and block gender are checked by routines/triggers. ROOM uses surrogate room_id and alternate unique key(block_id,room_number), so it is not drawn as a weak entity in this implemented relational ER model. Inactive entities retain their relationships.</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C:/Users/nisha/Documents/ChatGPT/DBMS/backend/src/admin.js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Six FKs: complaint.student_id, complaint.room_id, complaint.category_id, complaint.assigned_staff_id, complaint_log.complaint_id and feedback.complaint_id. Every complaint requires exactly one student, room and category. Each of those parents may have zero or many complaints. A complaint has zero or one assigned staff member, and a staff member can have zero or many complaints. Each log belongs to exactly one complaint. The FK allows zero or many logs per complaint, while the AFTER INSERT trigger creates the initial log in normal workflow. Each feedback row belongs to exactly one complaint. Its shared PK/FK allows at most one feedback row per complaint; resolved complaints may await feedback. A trigger requires RESOLVED and owner attribution for feedback, then closes the complaint. These workflow conditions are not additional FKs. complaint_log uses standalone log_id, not a composite log_no weak-entity key.</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C:/Users/nisha/Documents/ChatGPT/DBMS/backend/src/admin.js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remaining three FKs are maintenance_staff.block_id, maintenance_staff.category_id and complaint_log.changed_by. Each staff row requires one block and one category; either parent may have zero or many staff members. changed_by is nullable and ON DELETE SET NULL, so each log has zero or one user actor and each user can author zero or many logs. This is attribution, not the student who raised the complaint. The separate complaint_log.complaint_id link is on the complaint slide. Staff-to-USERS PK/FK is on the specialization slide. All 13 tables and 18 FKs are covered across the four diagrams. Keys and minimum participation follow DDL; role matching and block/category assignment checks are additional application/procedure constraints.</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C:/Users/nisha/Documents/ChatGPT/DBMS/backend/src/admin.js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Map strong entities to tables. Place foreign keys on the many side. Use a unique foreign key for the optional warden–block relationship. Map the allocation relationship to an associative table. Flatten guardian into guardian_name and guardian_phone. Do not create a table for ADMIN because the users role already identifies that case. The full attribute lists are in database/01_schema.sql.</a:t>
            </a:r>
          </a:p>
          <a:p xmlns:a="http://schemas.openxmlformats.org/drawingml/2006/main">
            <a:r>
              <a:t/>
            </a:r>
          </a:p>
          <a:p xmlns:a="http://schemas.openxmlformats.org/drawingml/2006/main">
            <a:r>
              <a:t>Sources: C:/Users/nisha/Documents/ChatGPT/DBMS/database/01_schema.sql; C:/Users/nisha/Documents/ChatGPT/DBMS/database/README.md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 targets 3NF under the functional dependencies described in the report. Examples are user_id determines user details, type_code determines capacity and annual_fee, category_id determines category details, and room_id determines its block and type. Complaint rows reference these entities instead of repeating their descriptive attributes. Avoid describing student plus academic year as the final allocation key: allocation_id is the implementation key and supports room changes within a year. No independent formal proof of BCNF is claimed here.</a:t>
            </a:r>
          </a:p>
          <a:p xmlns:a="http://schemas.openxmlformats.org/drawingml/2006/main">
            <a:r>
              <a:t/>
            </a:r>
          </a:p>
          <a:p xmlns:a="http://schemas.openxmlformats.org/drawingml/2006/main">
            <a:r>
              <a:t>Sources: C:/Users/nisha/Documents/ChatGPT/DBMS/database/01_schema.sql; C:/Users/nisha/Documents/ChatGPT/DBMS/database/README.md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11 CHECK constraints in the schema. active_flag evaluates to 1 for ACTIVE allocations and NULL otherwise. MySQL unique indexes allow multiple NULL entries, so old VACATED rows do not block later allotments. A separate trigger and locked procedure check room capacity and block gender. The schema uses cascading deletes for selected dependents and SET NULL for optional historical attribution. The user-facing app deactivates records instead of exposing destructive deletes.</a:t>
            </a:r>
          </a:p>
          <a:p xmlns:a="http://schemas.openxmlformats.org/drawingml/2006/main">
            <a:r>
              <a:t/>
            </a:r>
          </a:p>
          <a:p xmlns:a="http://schemas.openxmlformats.org/drawingml/2006/main">
            <a:r>
              <a:t>Sources: C:/Users/nisha/Documents/ChatGPT/DBMS/database/01_schema.sql; C:/Users/nisha/Documents/ChatGPT/DBMS/database/02_logic.sql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users,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user_phone,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warden,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hostel_block,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room_type,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room,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student,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complaint_category,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maintenance_staff,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room_allocation,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complaint, copied from the implemented MySQL schema with whitespace reflowed for readability. This is part 1 of 2; read the next/previous part in sequence to form one complete statement.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complaint, copied from the implemented MySQL schema with whitespace reflowed for readability. This is part 2 of 2; read the next/previous part in sequence to form one complete statement.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complaint_log,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CREATE TABLE DDL for feedback, copied from the implemented MySQL schema with whitespace reflowed for readability. All columns, key clauses, checks and indexes for this table are shown. Definitions follow foreign-key dependency order. Tables referenced here are defined earlier in the DDL section.</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Sample data sequence 1 of 6. Run these samples in order on a fresh demonstration database after loading 01_schema.sql and 02_logic.sql. Explicit IDs form one related sample dataset; they are not intended to be inserted again into the already seeded application. The bcrypt hash is for the public demonstration password Hostel@123. This is a small presentation dataset based on the application's seed values, not the full seed. Allocation, complaint creation and workflow calls reuse the application's stored procedures. COMPLAINT_LOG is populated by triggers, so manual log inserts are unnecessary. Four linked role accounts and two phone rows. Passwords are stored as bcrypt hashes.</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C:/Users/nisha/Documents/ChatGPT/DBMS/backend/scripts/seed.js; C:/Users/nisha/Documents/ChatGPT/DBMS/docs/presentation/dml-content.mjs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Sample data sequence 2 of 6. Run these samples in order on a fresh demonstration database after loading 01_schema.sql and 02_logic.sql. Explicit IDs form one related sample dataset; they are not intended to be inserted again into the already seeded application. The bcrypt hash is for the public demonstration password Hostel@123. This is a small presentation dataset based on the application's seed values, not the full seed. Allocation, complaint creation and workflow calls reuse the application's stored procedures. COMPLAINT_LOG is populated by triggers, so manual log inserts are unnecessary. Subtype keys reuse USERS IDs. A Block is managed by warden 2; student 13 is male.</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C:/Users/nisha/Documents/ChatGPT/DBMS/backend/scripts/seed.js; C:/Users/nisha/Documents/ChatGPT/DBMS/docs/presentation/dml-content.mjs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Sample data sequence 3 of 6. Run these samples in order on a fresh demonstration database after loading 01_schema.sql and 02_logic.sql. Explicit IDs form one related sample dataset; they are not intended to be inserted again into the already seeded application. The bcrypt hash is for the public demonstration password Hostel@123. This is a small presentation dataset based on the application's seed values, not the full seed. Allocation, complaint creation and workflow calls reuse the application's stored procedures. COMPLAINT_LOG is populated by triggers, so manual log inserts are unnecessary. Two room types and two rooms. Each room references an existing block and room type.</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C:/Users/nisha/Documents/ChatGPT/DBMS/backend/scripts/seed.js; C:/Users/nisha/Documents/ChatGPT/DBMS/docs/presentation/dml-content.mjs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Sample data sequence 4 of 6. Run these samples in order on a fresh demonstration database after loading 01_schema.sql and 02_logic.sql. Explicit IDs form one related sample dataset; they are not intended to be inserted again into the already seeded application. The bcrypt hash is for the public demonstration password Hostel@123. This is a small presentation dataset based on the application's seed values, not the full seed. Allocation, complaint creation and workflow calls reuse the application's stored procedures. COMPLAINT_LOG is populated by triggers, so manual log inserts are unnecessary. Staff member 5 handles electrical issues in A Block on the morning shift.</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C:/Users/nisha/Documents/ChatGPT/DBMS/backend/scripts/seed.js; C:/Users/nisha/Documents/ChatGPT/DBMS/docs/presentation/dml-content.mjs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Sample data sequence 5 of 6. Run these samples in order on a fresh demonstration database after loading 01_schema.sql and 02_logic.sql. Explicit IDs form one related sample dataset; they are not intended to be inserted again into the already seeded application. The bcrypt hash is for the public demonstration password Hostel@123. This is a small presentation dataset based on the application's seed values, not the full seed. Allocation, complaint creation and workflow calls reuse the application's stored procedures. COMPLAINT_LOG is populated by triggers, so manual log inserts are unnecessary. One active allotment and one OPEN complaint. The complaint trigger creates its first log row.</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C:/Users/nisha/Documents/ChatGPT/DBMS/backend/scripts/seed.js; C:/Users/nisha/Documents/ChatGPT/DBMS/docs/presentation/dml-content.mjs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Sample data sequence 6 of 6. Run these samples in order on a fresh demonstration database after loading 01_schema.sql and 02_logic.sql. Explicit IDs form one related sample dataset; they are not intended to be inserted again into the already seeded application. The bcrypt hash is for the public demonstration password Hostel@123. This is a small presentation dataset based on the application's seed values, not the full seed. Allocation, complaint creation and workflow calls reuse the application's stored procedures. COMPLAINT_LOG is populated by triggers, so manual log inserts are unnecessary. One feedback entry closes the complaint. Triggers record five status events in COMPLAINT_LOG.</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C:/Users/nisha/Documents/ChatGPT/DBMS/backend/scripts/seed.js; C:/Users/nisha/Documents/ChatGPT/DBMS/docs/presentation/dml-content.mjs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actual saved administrator overview screenshot from the project, not a generated mockup. The local browser QA added one completed complaint to the ten seeded complaints, so the screenshot shows eleven. Occupancy is 11 of 31 beds and 18 currently available beds, because the two beds in the maintenance room are blocked. The interface uses the Haven brand. You may switch to the live application during this slide.</a:t>
            </a:r>
          </a:p>
          <a:p xmlns:a="http://schemas.openxmlformats.org/drawingml/2006/main">
            <a:r>
              <a:t/>
            </a:r>
          </a:p>
          <a:p xmlns:a="http://schemas.openxmlformats.org/drawingml/2006/main">
            <a:r>
              <a:t>Sources: C:/Users/nisha/Documents/ChatGPT/DBMS/docs/screenshots/overview.png; C:/Users/nisha/Documents/ChatGPT/DBMS/docs/VALIDATION.md; C:/Users/nisha/Documents/ChatGPT/DBMS/frontend/src/main.jsx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 stored states are OPEN, ASSIGNED, IN_PROGRESS, RESOLVED, CLOSED and REJECTED. Rejection is allowed from OPEN or ASSIGNED. Only the complaint owner can reopen RESOLVED to OPEN. Only the assigned staff member can start or resolve work. Only the owning student can submit feedback on a resolved issue. A resolved issue still counts as active for duplicate detection. Assignment moves OPEN to ASSIGNED and reassignments keep ASSIGNED.</a:t>
            </a:r>
          </a:p>
          <a:p xmlns:a="http://schemas.openxmlformats.org/drawingml/2006/main">
            <a:r>
              <a:t/>
            </a:r>
          </a:p>
          <a:p xmlns:a="http://schemas.openxmlformats.org/drawingml/2006/main">
            <a:r>
              <a:t>Sources: C:/Users/nisha/Documents/ChatGPT/DBMS/database/02_logic.sql; C:/Users/nisha/Documents/ChatGPT/DBMS/backend/src/routes.js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a concrete chain: the student inserts feedback, the BEFORE trigger verifies ownership and resolved status, the CHECK constrains the rating, the AFTER trigger updates the complaint to CLOSED, and the complaint update trigger appends the closure history. The history user comes from @app_user_id on the same pooled database connection. The state transition trigger blocks an OPEN-to-RESOLVED shortcut.</a:t>
            </a:r>
          </a:p>
          <a:p xmlns:a="http://schemas.openxmlformats.org/drawingml/2006/main">
            <a:r>
              <a:t/>
            </a:r>
          </a:p>
          <a:p xmlns:a="http://schemas.openxmlformats.org/drawingml/2006/main">
            <a:r>
              <a:t>Sources: C:/Users/nisha/Documents/ChatGPT/DBMS/database/02_logic.sql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Procedures centralize the main database mutations, but authorization is also checked by the API. Parameters use the signed-in user rather than a client-supplied actor ID. sp_raise_complaint locks the room and rejects another unresolved issue in that category. MySQL SIGNAL SQLSTATE 45000 returns a domain error that Express maps to a readable HTTP 400 response.</a:t>
            </a:r>
          </a:p>
          <a:p xmlns:a="http://schemas.openxmlformats.org/drawingml/2006/main">
            <a:r>
              <a:t/>
            </a:r>
          </a:p>
          <a:p xmlns:a="http://schemas.openxmlformats.org/drawingml/2006/main">
            <a:r>
              <a:t>Sources: C:/Users/nisha/Documents/ChatGPT/DBMS/database/02_logic.sql; C:/Users/nisha/Documents/ChatGPT/DBMS/backend/src/db.js; C:/Users/nisha/Documents/ChatGPT/DBMS/backend/src/routes.js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values are not copied into base tables. The views compute occupancy from ACTIVE allocations and complaint age from timestamps. Overdue means age exceeds sla_hours and the state is OPEN, ASSIGNED or IN_PROGRESS. Resolved issues do not appear as overdue. Dashboard summary queries calculate average ratings and resolution hours. CSV uses the scoped complaint listing and escapes potential spreadsheet formulas.</a:t>
            </a:r>
          </a:p>
          <a:p xmlns:a="http://schemas.openxmlformats.org/drawingml/2006/main">
            <a:r>
              <a:t/>
            </a:r>
          </a:p>
          <a:p xmlns:a="http://schemas.openxmlformats.org/drawingml/2006/main">
            <a:r>
              <a:t>Sources: C:/Users/nisha/Documents/ChatGPT/DBMS/database/02_logic.sql; C:/Users/nisha/Documents/ChatGPT/DBMS/backend/src/routes.js; C:/Users/nisha/Documents/ChatGPT/DBMS/frontend/src/main.jsx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API uses mysql2/promise and a reusable pool of up to ten connections. The driver gets credentials from backend/.env, which Git ignores. For writes, the API obtains one connection, begins a READ COMMITTED transaction, sets @app_user_id, calls the procedure, and commits or rolls back. It clears session variables before releasing the connection. Each new connection uses UTC so timestamps display correctly in the browser. JWTs last eight hours and account status and role are checked against MySQL. Local website/API is 127.0.0.1:5000 and the optional isolated MySQL instance is 127.0.0.1:3307. The code shown summarizes the implemented transaction pattern.</a:t>
            </a:r>
          </a:p>
          <a:p xmlns:a="http://schemas.openxmlformats.org/drawingml/2006/main">
            <a:r>
              <a:t/>
            </a:r>
          </a:p>
          <a:p xmlns:a="http://schemas.openxmlformats.org/drawingml/2006/main">
            <a:r>
              <a:t>Sources: C:/Users/nisha/Documents/ChatGPT/DBMS/backend/src/db.js; C:/Users/nisha/Documents/ChatGPT/DBMS/backend/src/config.js; C:/Users/nisha/Documents/ChatGPT/DBMS/backend/src/auth.js; C:/Users/nisha/Documents/ChatGPT/DBMS/README.md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validation record dated 25 October 2026 reports 31 passing Node test checks including the parent test. Supertest calls Express against a uniquely created MySQL database. The runner removes only that test database afterwards. The production frontend build and backend syntax checks passed. GitHub Actions also passed on commit c0a3340 with a MySQL 8.4 service. Browser checks covered the four role logins, a 390 by 844 phone layout, room details and the full complaint workflow. These are functional tests, not a load test or a measured availability guarantee.</a:t>
            </a:r>
          </a:p>
          <a:p xmlns:a="http://schemas.openxmlformats.org/drawingml/2006/main">
            <a:r>
              <a:t/>
            </a:r>
          </a:p>
          <a:p xmlns:a="http://schemas.openxmlformats.org/drawingml/2006/main">
            <a:r>
              <a:t>Sources: C:/Users/nisha/Documents/ChatGPT/DBMS/docs/VALIDATION.md; C:/Users/nisha/Documents/ChatGPT/DBMS/backend/test/integration.test.js; C:/Users/nisha/Documents/ChatGPT/DBMS/.github/workflows/ci.yml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arjun@student.edu, warden.a@hrcms.edu and vijay@hrcms.edu for an A101 Housekeeping demo. The seeded demo password is Hostel@123. Choose a category without another active complaint for that room. Use admin@hrcms.edu for administration and harish@student.edu to demonstrate rejection of a complaint from a student without a room. Start the local application before the review at http://127.0.0.1:5000. README documents setup and logins, API.md documents routes, database/README.md explains schema and transactions, and VALIDATION.md records the checks. GitHub source is private at https://github.com/S-Nishaanth/hrcms. The live database and .env credentials remain local.</a:t>
            </a:r>
          </a:p>
          <a:p xmlns:a="http://schemas.openxmlformats.org/drawingml/2006/main">
            <a:r>
              <a:t/>
            </a:r>
          </a:p>
          <a:p xmlns:a="http://schemas.openxmlformats.org/drawingml/2006/main">
            <a:r>
              <a:t>Sources: C:/Users/nisha/Documents/ChatGPT/DBMS/README.md; C:/Users/nisha/Documents/ChatGPT/DBMS/docs/API.md; C:/Users/nisha/Documents/ChatGPT/DBMS/database/README.md; C:/Users/nisha/Documents/ChatGPT/DBMS/docs/VALIDATION.md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4627754f1245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008bd4b765b438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510abc393c84f5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4bba53291de4dd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bd71663fcdb4c9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ebee8eb38ca434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8CFCF74-DAA8-469A-AA98-E15EDA0A8B0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CA07F00-3AE4-4FC5-8D5A-4AF3F7D98A2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8006806-43D5-4074-A81C-1A0F0C903AF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81D89C2-EC56-44CC-BD55-CC1B286EA5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DAA79A0-1D1E-45F8-A17C-73481AA7F52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833819F-EA5A-4382-823C-58ED7D69746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2D6A53-D6D2-4CB9-856F-2E060AFC43C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A0B9B15-57E7-41C4-94B1-4F6930BDD9B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E02D1E-9863-4A64-ACF9-9C880D55AA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8EB6DA-EF66-490A-AB08-D0FBEEC7A0F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f48ace1ade43ec" /><Relationship Type="http://schemas.openxmlformats.org/officeDocument/2006/relationships/slideLayout" Target="/ppt/slideLayouts/slideLayout1.xml" Id="Re4ed4d9b6ace4682" /><Relationship Type="http://schemas.openxmlformats.org/officeDocument/2006/relationships/slideLayout" Target="/ppt/slideLayouts/slideLayout2.xml" Id="Rbffa42f4bd334189" /><Relationship Type="http://schemas.openxmlformats.org/officeDocument/2006/relationships/slideLayout" Target="/ppt/slideLayouts/slideLayout3.xml" Id="R3e53f9afe7b947ab" /><Relationship Type="http://schemas.openxmlformats.org/officeDocument/2006/relationships/slideLayout" Target="/ppt/slideLayouts/slideLayout4.xml" Id="R2a19ac3c0a28449b" /><Relationship Type="http://schemas.openxmlformats.org/officeDocument/2006/relationships/slideLayout" Target="/ppt/slideLayouts/slideLayout5.xml" Id="R75f4907d39314d91" /><Relationship Type="http://schemas.openxmlformats.org/officeDocument/2006/relationships/slideLayout" Target="/ppt/slideLayouts/slideLayout6.xml" Id="Ra6dbad8e9f444ab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ed4d9b6ace4682"/>
    <p:sldLayoutId xmlns:r="http://schemas.openxmlformats.org/officeDocument/2006/relationships" id="2147483650" r:id="Rbffa42f4bd334189"/>
    <p:sldLayoutId xmlns:r="http://schemas.openxmlformats.org/officeDocument/2006/relationships" id="2147483651" r:id="R3e53f9afe7b947ab"/>
    <p:sldLayoutId xmlns:r="http://schemas.openxmlformats.org/officeDocument/2006/relationships" id="2147483652" r:id="R2a19ac3c0a28449b"/>
    <p:sldLayoutId xmlns:r="http://schemas.openxmlformats.org/officeDocument/2006/relationships" id="2147483653" r:id="R75f4907d39314d91"/>
    <p:sldLayoutId xmlns:r="http://schemas.openxmlformats.org/officeDocument/2006/relationships" id="2147483654" r:id="Ra6dbad8e9f444ab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fe83d7636a04062" /><Relationship Type="http://schemas.openxmlformats.org/officeDocument/2006/relationships/notesSlide" Target="/ppt/notesSlides/notesSlide1.xml" Id="Rd29936202d5c48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9ce85b8834942ed" /><Relationship Type="http://schemas.openxmlformats.org/officeDocument/2006/relationships/notesSlide" Target="/ppt/notesSlides/notesSlide2.xml" Id="R878d5269a34344d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928bcfe2f66467e" /><Relationship Type="http://schemas.openxmlformats.org/officeDocument/2006/relationships/notesSlide" Target="/ppt/notesSlides/notesSlide3.xml" Id="Ra1e78cdaf4744d6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2e1bbd3249d458b" /><Relationship Type="http://schemas.openxmlformats.org/officeDocument/2006/relationships/notesSlide" Target="/ppt/notesSlides/notesSlide4.xml" Id="Re186fc7fb00443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a6214f4cb684cc0" /><Relationship Type="http://schemas.openxmlformats.org/officeDocument/2006/relationships/notesSlide" Target="/ppt/notesSlides/notesSlide5.xml" Id="Rc4ce719a3e6341d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6bba755be724025" /><Relationship Type="http://schemas.openxmlformats.org/officeDocument/2006/relationships/notesSlide" Target="/ppt/notesSlides/notesSlide6.xml" Id="R57c8b7c6cf4c492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32c9d74df064555" /><Relationship Type="http://schemas.openxmlformats.org/officeDocument/2006/relationships/notesSlide" Target="/ppt/notesSlides/notesSlide7.xml" Id="Rac3092b5aa7e485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24f1a7e895b4d88" /><Relationship Type="http://schemas.openxmlformats.org/officeDocument/2006/relationships/notesSlide" Target="/ppt/notesSlides/notesSlide8.xml" Id="R7cd05d64dabb400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5bfcc45d7be4b4e" /><Relationship Type="http://schemas.openxmlformats.org/officeDocument/2006/relationships/notesSlide" Target="/ppt/notesSlides/notesSlide9.xml" Id="R2eac95e51b7b426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f71dd05baf14bac" /><Relationship Type="http://schemas.openxmlformats.org/officeDocument/2006/relationships/notesSlide" Target="/ppt/notesSlides/notesSlide10.xml" Id="R12426ad23cd741f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88f7c424d1a4e65" /><Relationship Type="http://schemas.openxmlformats.org/officeDocument/2006/relationships/notesSlide" Target="/ppt/notesSlides/notesSlide11.xml" Id="R61b4b0021c08480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7ea8760ba304985" /><Relationship Type="http://schemas.openxmlformats.org/officeDocument/2006/relationships/notesSlide" Target="/ppt/notesSlides/notesSlide12.xml" Id="Rd71b545e54b144a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0bb6f62a0884354" /><Relationship Type="http://schemas.openxmlformats.org/officeDocument/2006/relationships/notesSlide" Target="/ppt/notesSlides/notesSlide13.xml" Id="Rc78da39df09441a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8d26e9def9b4483" /><Relationship Type="http://schemas.openxmlformats.org/officeDocument/2006/relationships/notesSlide" Target="/ppt/notesSlides/notesSlide14.xml" Id="Rd942fe51eb4d495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cadf544d4af437c" /><Relationship Type="http://schemas.openxmlformats.org/officeDocument/2006/relationships/notesSlide" Target="/ppt/notesSlides/notesSlide15.xml" Id="R3e3d254b862f48c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1670258f3ac4dea" /><Relationship Type="http://schemas.openxmlformats.org/officeDocument/2006/relationships/notesSlide" Target="/ppt/notesSlides/notesSlide16.xml" Id="Rbdab4b82608747d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62092a35b074a05" /><Relationship Type="http://schemas.openxmlformats.org/officeDocument/2006/relationships/notesSlide" Target="/ppt/notesSlides/notesSlide17.xml" Id="R6ba65d00e0aa41e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fa9aad9d77549ec" /><Relationship Type="http://schemas.openxmlformats.org/officeDocument/2006/relationships/notesSlide" Target="/ppt/notesSlides/notesSlide18.xml" Id="R6226fd4690204ad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dccfd8a836049c2" /><Relationship Type="http://schemas.openxmlformats.org/officeDocument/2006/relationships/notesSlide" Target="/ppt/notesSlides/notesSlide19.xml" Id="Re6a2f211dc434b8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9f747e79be04579" /><Relationship Type="http://schemas.openxmlformats.org/officeDocument/2006/relationships/notesSlide" Target="/ppt/notesSlides/notesSlide20.xml" Id="R427582335e574cf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0995d4af4924495" /><Relationship Type="http://schemas.openxmlformats.org/officeDocument/2006/relationships/notesSlide" Target="/ppt/notesSlides/notesSlide21.xml" Id="R9d33bbdd9acb473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4ba6594b417451f" /><Relationship Type="http://schemas.openxmlformats.org/officeDocument/2006/relationships/notesSlide" Target="/ppt/notesSlides/notesSlide22.xml" Id="Rc7dff98061d04fa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691f39b575245b6" /><Relationship Type="http://schemas.openxmlformats.org/officeDocument/2006/relationships/notesSlide" Target="/ppt/notesSlides/notesSlide23.xml" Id="R9a91b7afab804c2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ae34696809e45c7" /><Relationship Type="http://schemas.openxmlformats.org/officeDocument/2006/relationships/notesSlide" Target="/ppt/notesSlides/notesSlide24.xml" Id="R60191d86d42f403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837d6957e9d4032" /><Relationship Type="http://schemas.openxmlformats.org/officeDocument/2006/relationships/notesSlide" Target="/ppt/notesSlides/notesSlide25.xml" Id="R9edaa54a0b134e4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5af7c07385844c7" /><Relationship Type="http://schemas.openxmlformats.org/officeDocument/2006/relationships/notesSlide" Target="/ppt/notesSlides/notesSlide26.xml" Id="Rfad3ddf6104b49d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fe88970dee34b7d" /><Relationship Type="http://schemas.openxmlformats.org/officeDocument/2006/relationships/notesSlide" Target="/ppt/notesSlides/notesSlide27.xml" Id="R5dd1b04920fc41e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2179be60c504314" /><Relationship Type="http://schemas.openxmlformats.org/officeDocument/2006/relationships/notesSlide" Target="/ppt/notesSlides/notesSlide28.xml" Id="Rf1cd56088d074b4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98d74c5b9794a27" /><Relationship Type="http://schemas.openxmlformats.org/officeDocument/2006/relationships/image" Target="/ppt/media/image.jpeg" Id="R86acd16a1c5044a9" /><Relationship Type="http://schemas.openxmlformats.org/officeDocument/2006/relationships/notesSlide" Target="/ppt/notesSlides/notesSlide29.xml" Id="R43e6dbf86ca046a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63775a893884a6f" /><Relationship Type="http://schemas.openxmlformats.org/officeDocument/2006/relationships/notesSlide" Target="/ppt/notesSlides/notesSlide30.xml" Id="R909d0c84af5c4f5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d9b567fe2f14d58" /><Relationship Type="http://schemas.openxmlformats.org/officeDocument/2006/relationships/notesSlide" Target="/ppt/notesSlides/notesSlide31.xml" Id="Rad95ccc87d94431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a9cf3fe9f1a4d77" /><Relationship Type="http://schemas.openxmlformats.org/officeDocument/2006/relationships/notesSlide" Target="/ppt/notesSlides/notesSlide32.xml" Id="Rca2815f77a7d4fc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df854882b0942ed" /><Relationship Type="http://schemas.openxmlformats.org/officeDocument/2006/relationships/notesSlide" Target="/ppt/notesSlides/notesSlide33.xml" Id="R9ea3b15255464bd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24eca7465154616" /><Relationship Type="http://schemas.openxmlformats.org/officeDocument/2006/relationships/notesSlide" Target="/ppt/notesSlides/notesSlide34.xml" Id="R0f7e5fb6cb5a407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447aa548c8ba428d" /><Relationship Type="http://schemas.openxmlformats.org/officeDocument/2006/relationships/notesSlide" Target="/ppt/notesSlides/notesSlide35.xml" Id="Rce023387c30244a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5d7ab4a24824a46" /><Relationship Type="http://schemas.openxmlformats.org/officeDocument/2006/relationships/notesSlide" Target="/ppt/notesSlides/notesSlide36.xml" Id="R2bbec7af2cf54c42" /></Relationships>
</file>

<file path=ppt/slides/slide1.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C030D985-F3AF-4A02-8FA0-11AD7F0A3011}"/>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75" b="1">
                <a:solidFill>
                  <a:srgbClr val="1F4D3B"/>
                </a:solidFill>
                <a:latin typeface="Arial"/>
                <a:ea typeface="Arial"/>
                <a:cs typeface="Arial"/>
              </a:defRPr>
            </a:defPPr>
            <a:lvl1pPr>
              <a:defRPr sz="2775" b="1">
                <a:solidFill>
                  <a:srgbClr val="1F4D3B"/>
                </a:solidFill>
                <a:latin typeface="Arial"/>
                <a:ea typeface="Arial"/>
                <a:cs typeface="Arial"/>
              </a:defRPr>
            </a:lvl1pPr>
            <a:lvl2pPr>
              <a:defRPr sz="2775" b="1">
                <a:solidFill>
                  <a:srgbClr val="1F4D3B"/>
                </a:solidFill>
                <a:latin typeface="Arial"/>
                <a:ea typeface="Arial"/>
                <a:cs typeface="Arial"/>
              </a:defRPr>
            </a:lvl2pPr>
            <a:lvl3pPr>
              <a:defRPr sz="2775" b="1">
                <a:solidFill>
                  <a:srgbClr val="1F4D3B"/>
                </a:solidFill>
                <a:latin typeface="Arial"/>
                <a:ea typeface="Arial"/>
                <a:cs typeface="Arial"/>
              </a:defRPr>
            </a:lvl3pPr>
            <a:lvl4pPr>
              <a:defRPr sz="2775" b="1">
                <a:solidFill>
                  <a:srgbClr val="1F4D3B"/>
                </a:solidFill>
                <a:latin typeface="Arial"/>
                <a:ea typeface="Arial"/>
                <a:cs typeface="Arial"/>
              </a:defRPr>
            </a:lvl4pPr>
            <a:lvl5pPr>
              <a:defRPr sz="2775" b="1">
                <a:solidFill>
                  <a:srgbClr val="1F4D3B"/>
                </a:solidFill>
                <a:latin typeface="Arial"/>
                <a:ea typeface="Arial"/>
                <a:cs typeface="Arial"/>
              </a:defRPr>
            </a:lvl5pPr>
            <a:lvl6pPr>
              <a:defRPr sz="2775" b="1">
                <a:solidFill>
                  <a:srgbClr val="1F4D3B"/>
                </a:solidFill>
                <a:latin typeface="Arial"/>
                <a:ea typeface="Arial"/>
                <a:cs typeface="Arial"/>
              </a:defRPr>
            </a:lvl6pPr>
            <a:lvl7pPr>
              <a:defRPr sz="2775" b="1">
                <a:solidFill>
                  <a:srgbClr val="1F4D3B"/>
                </a:solidFill>
                <a:latin typeface="Arial"/>
                <a:ea typeface="Arial"/>
                <a:cs typeface="Arial"/>
              </a:defRPr>
            </a:lvl7pPr>
            <a:lvl8pPr>
              <a:defRPr sz="2775" b="1">
                <a:solidFill>
                  <a:srgbClr val="1F4D3B"/>
                </a:solidFill>
                <a:latin typeface="Arial"/>
                <a:ea typeface="Arial"/>
                <a:cs typeface="Arial"/>
              </a:defRPr>
            </a:lvl8pPr>
            <a:lvl9pPr>
              <a:defRPr sz="2775" b="1">
                <a:solidFill>
                  <a:srgbClr val="1F4D3B"/>
                </a:solidFill>
                <a:latin typeface="Arial"/>
                <a:ea typeface="Arial"/>
                <a:cs typeface="Arial"/>
              </a:defRPr>
            </a:lvl9pPr>
          </a:lstStyle>
          <a:p xmlns:a="http://schemas.openxmlformats.org/drawingml/2006/main">
            <a:pPr>
              <a:defRPr sz="2775" b="1">
                <a:solidFill>
                  <a:srgbClr val="1F4D3B"/>
                </a:solidFill>
                <a:latin typeface="Arial"/>
                <a:ea typeface="Arial"/>
                <a:cs typeface="Arial"/>
              </a:defRPr>
            </a:pPr>
            <a:r>
              <a:rPr sz="2775" b="1">
                <a:solidFill>
                  <a:srgbClr val="1F4D3B"/>
                </a:solidFill>
                <a:latin typeface="Arial"/>
                <a:ea typeface="Arial"/>
                <a:cs typeface="Arial"/>
              </a:rPr>
              <a:t>Problem Identification and Requirement Analysis</a:t>
            </a:r>
          </a:p>
        </p:txBody>
      </p:sp>
      <p:sp>
        <p:nvSpPr>
          <p:cNvPr id="3" name="footer">
            <a:extLst xmlns:a="http://schemas.openxmlformats.org/drawingml/2006/main">
              <a:ext uri="{FF2B5EF4-FFF2-40B4-BE49-F238E27FC236}">
                <a16:creationId xmlns:a16="http://schemas.microsoft.com/office/drawing/2014/main" id="{EF1C24AB-0E95-4C68-BA0D-24A9E79AD523}"/>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D5F89210-56DE-4A30-8555-1FE779C46999}"/>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01 / 36</a:t>
            </a:r>
          </a:p>
        </p:txBody>
      </p:sp>
      <p:sp>
        <p:nvSpPr>
          <p:cNvPr id="5" name="text">
            <a:extLst xmlns:a="http://schemas.openxmlformats.org/drawingml/2006/main">
              <a:ext uri="{FF2B5EF4-FFF2-40B4-BE49-F238E27FC236}">
                <a16:creationId xmlns:a16="http://schemas.microsoft.com/office/drawing/2014/main" id="{A59E1979-12EC-413D-9994-1B65D5DCF8EE}"/>
              </a:ext>
            </a:extLst>
          </p:cNvPr>
          <p:cNvSpPr>
            <a:spLocks xmlns:a="http://schemas.openxmlformats.org/drawingml/2006/main" noGrp="1"/>
          </p:cNvSpPr>
          <p:nvPr/>
        </p:nvSpPr>
        <p:spPr>
          <a:xfrm xmlns:a="http://schemas.openxmlformats.org/drawingml/2006/main">
            <a:off x="628650" y="1552575"/>
            <a:ext cx="1076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F4D3B"/>
                </a:solidFill>
                <a:latin typeface="Arial"/>
                <a:ea typeface="Arial"/>
                <a:cs typeface="Arial"/>
              </a:defRPr>
            </a:defPPr>
            <a:lvl1pPr>
              <a:defRPr sz="2025" b="1">
                <a:solidFill>
                  <a:srgbClr val="1F4D3B"/>
                </a:solidFill>
                <a:latin typeface="Arial"/>
                <a:ea typeface="Arial"/>
                <a:cs typeface="Arial"/>
              </a:defRPr>
            </a:lvl1pPr>
            <a:lvl2pPr>
              <a:defRPr sz="2025" b="1">
                <a:solidFill>
                  <a:srgbClr val="1F4D3B"/>
                </a:solidFill>
                <a:latin typeface="Arial"/>
                <a:ea typeface="Arial"/>
                <a:cs typeface="Arial"/>
              </a:defRPr>
            </a:lvl2pPr>
            <a:lvl3pPr>
              <a:defRPr sz="2025" b="1">
                <a:solidFill>
                  <a:srgbClr val="1F4D3B"/>
                </a:solidFill>
                <a:latin typeface="Arial"/>
                <a:ea typeface="Arial"/>
                <a:cs typeface="Arial"/>
              </a:defRPr>
            </a:lvl3pPr>
            <a:lvl4pPr>
              <a:defRPr sz="2025" b="1">
                <a:solidFill>
                  <a:srgbClr val="1F4D3B"/>
                </a:solidFill>
                <a:latin typeface="Arial"/>
                <a:ea typeface="Arial"/>
                <a:cs typeface="Arial"/>
              </a:defRPr>
            </a:lvl4pPr>
            <a:lvl5pPr>
              <a:defRPr sz="2025" b="1">
                <a:solidFill>
                  <a:srgbClr val="1F4D3B"/>
                </a:solidFill>
                <a:latin typeface="Arial"/>
                <a:ea typeface="Arial"/>
                <a:cs typeface="Arial"/>
              </a:defRPr>
            </a:lvl5pPr>
            <a:lvl6pPr>
              <a:defRPr sz="2025" b="1">
                <a:solidFill>
                  <a:srgbClr val="1F4D3B"/>
                </a:solidFill>
                <a:latin typeface="Arial"/>
                <a:ea typeface="Arial"/>
                <a:cs typeface="Arial"/>
              </a:defRPr>
            </a:lvl6pPr>
            <a:lvl7pPr>
              <a:defRPr sz="2025" b="1">
                <a:solidFill>
                  <a:srgbClr val="1F4D3B"/>
                </a:solidFill>
                <a:latin typeface="Arial"/>
                <a:ea typeface="Arial"/>
                <a:cs typeface="Arial"/>
              </a:defRPr>
            </a:lvl7pPr>
            <a:lvl8pPr>
              <a:defRPr sz="2025" b="1">
                <a:solidFill>
                  <a:srgbClr val="1F4D3B"/>
                </a:solidFill>
                <a:latin typeface="Arial"/>
                <a:ea typeface="Arial"/>
                <a:cs typeface="Arial"/>
              </a:defRPr>
            </a:lvl8pPr>
            <a:lvl9pPr>
              <a:defRPr sz="2025" b="1">
                <a:solidFill>
                  <a:srgbClr val="1F4D3B"/>
                </a:solidFill>
                <a:latin typeface="Arial"/>
                <a:ea typeface="Arial"/>
                <a:cs typeface="Arial"/>
              </a:defRPr>
            </a:lvl9pPr>
          </a:lstStyle>
          <a:p xmlns:a="http://schemas.openxmlformats.org/drawingml/2006/main">
            <a:pPr>
              <a:defRPr sz="2025" b="1">
                <a:solidFill>
                  <a:srgbClr val="1F4D3B"/>
                </a:solidFill>
                <a:latin typeface="Arial"/>
                <a:ea typeface="Arial"/>
                <a:cs typeface="Arial"/>
              </a:defRPr>
            </a:pPr>
            <a:r>
              <a:rPr sz="2025" b="1">
                <a:solidFill>
                  <a:srgbClr val="1F4D3B"/>
                </a:solidFill>
                <a:latin typeface="Arial"/>
                <a:ea typeface="Arial"/>
                <a:cs typeface="Arial"/>
              </a:rPr>
              <a:t>Problem</a:t>
            </a:r>
          </a:p>
        </p:txBody>
      </p:sp>
      <p:sp>
        <p:nvSpPr>
          <p:cNvPr id="6" name="text">
            <a:extLst xmlns:a="http://schemas.openxmlformats.org/drawingml/2006/main">
              <a:ext uri="{FF2B5EF4-FFF2-40B4-BE49-F238E27FC236}">
                <a16:creationId xmlns:a16="http://schemas.microsoft.com/office/drawing/2014/main" id="{1F6C729B-EA54-49BF-8BB6-0998A7B81004}"/>
              </a:ext>
            </a:extLst>
          </p:cNvPr>
          <p:cNvSpPr>
            <a:spLocks xmlns:a="http://schemas.openxmlformats.org/drawingml/2006/main" noGrp="1"/>
          </p:cNvSpPr>
          <p:nvPr/>
        </p:nvSpPr>
        <p:spPr>
          <a:xfrm xmlns:a="http://schemas.openxmlformats.org/drawingml/2006/main">
            <a:off x="628650" y="1943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0735E"/>
                </a:solidFill>
                <a:latin typeface="Arial"/>
                <a:ea typeface="Arial"/>
                <a:cs typeface="Arial"/>
              </a:defRPr>
            </a:defPPr>
            <a:lvl1pPr>
              <a:defRPr sz="1950" b="0">
                <a:solidFill>
                  <a:srgbClr val="60735E"/>
                </a:solidFill>
                <a:latin typeface="Arial"/>
                <a:ea typeface="Arial"/>
                <a:cs typeface="Arial"/>
              </a:defRPr>
            </a:lvl1pPr>
            <a:lvl2pPr>
              <a:defRPr sz="1950" b="0">
                <a:solidFill>
                  <a:srgbClr val="60735E"/>
                </a:solidFill>
                <a:latin typeface="Arial"/>
                <a:ea typeface="Arial"/>
                <a:cs typeface="Arial"/>
              </a:defRPr>
            </a:lvl2pPr>
            <a:lvl3pPr>
              <a:defRPr sz="1950" b="0">
                <a:solidFill>
                  <a:srgbClr val="60735E"/>
                </a:solidFill>
                <a:latin typeface="Arial"/>
                <a:ea typeface="Arial"/>
                <a:cs typeface="Arial"/>
              </a:defRPr>
            </a:lvl3pPr>
            <a:lvl4pPr>
              <a:defRPr sz="1950" b="0">
                <a:solidFill>
                  <a:srgbClr val="60735E"/>
                </a:solidFill>
                <a:latin typeface="Arial"/>
                <a:ea typeface="Arial"/>
                <a:cs typeface="Arial"/>
              </a:defRPr>
            </a:lvl4pPr>
            <a:lvl5pPr>
              <a:defRPr sz="1950" b="0">
                <a:solidFill>
                  <a:srgbClr val="60735E"/>
                </a:solidFill>
                <a:latin typeface="Arial"/>
                <a:ea typeface="Arial"/>
                <a:cs typeface="Arial"/>
              </a:defRPr>
            </a:lvl5pPr>
            <a:lvl6pPr>
              <a:defRPr sz="1950" b="0">
                <a:solidFill>
                  <a:srgbClr val="60735E"/>
                </a:solidFill>
                <a:latin typeface="Arial"/>
                <a:ea typeface="Arial"/>
                <a:cs typeface="Arial"/>
              </a:defRPr>
            </a:lvl6pPr>
            <a:lvl7pPr>
              <a:defRPr sz="1950" b="0">
                <a:solidFill>
                  <a:srgbClr val="60735E"/>
                </a:solidFill>
                <a:latin typeface="Arial"/>
                <a:ea typeface="Arial"/>
                <a:cs typeface="Arial"/>
              </a:defRPr>
            </a:lvl7pPr>
            <a:lvl8pPr>
              <a:defRPr sz="1950" b="0">
                <a:solidFill>
                  <a:srgbClr val="60735E"/>
                </a:solidFill>
                <a:latin typeface="Arial"/>
                <a:ea typeface="Arial"/>
                <a:cs typeface="Arial"/>
              </a:defRPr>
            </a:lvl8pPr>
            <a:lvl9pPr>
              <a:defRPr sz="1950" b="0">
                <a:solidFill>
                  <a:srgbClr val="60735E"/>
                </a:solidFill>
                <a:latin typeface="Arial"/>
                <a:ea typeface="Arial"/>
                <a:cs typeface="Arial"/>
              </a:defRPr>
            </a:lvl9pPr>
          </a:lstStyle>
          <a:p xmlns:a="http://schemas.openxmlformats.org/drawingml/2006/main">
            <a:pPr>
              <a:defRPr sz="1950" b="0">
                <a:solidFill>
                  <a:srgbClr val="60735E"/>
                </a:solidFill>
                <a:latin typeface="Arial"/>
                <a:ea typeface="Arial"/>
                <a:cs typeface="Arial"/>
              </a:defRPr>
            </a:pPr>
            <a:r>
              <a:rPr sz="1950" b="0">
                <a:solidFill>
                  <a:srgbClr val="60735E"/>
                </a:solidFill>
                <a:latin typeface="Arial"/>
                <a:ea typeface="Arial"/>
                <a:cs typeface="Arial"/>
              </a:rPr>
              <a:t>Manual room registers and informal complaints create conflicting allotments, lost requests and unclear responsibility.</a:t>
            </a:r>
          </a:p>
        </p:txBody>
      </p:sp>
      <p:graphicFrame>
        <p:nvGraphicFramePr>
          <p:cNvPr id="7" name="">
            <a:extLst xmlns:a="http://schemas.openxmlformats.org/drawingml/2006/main">
              <a:ext uri="{FF2B5EF4-FFF2-40B4-BE49-F238E27FC236}">
                <a16:creationId xmlns:a16="http://schemas.microsoft.com/office/drawing/2014/main" id="{C2AAC5DB-7209-4A92-8C23-D694CEDF3749}"/>
              </a:ext>
            </a:extLst>
          </p:cNvPr>
          <p:cNvGraphicFramePr/>
          <p:nvPr/>
        </p:nvGraphicFramePr>
        <p:xfrm>
          <a:off xmlns:a="http://schemas.openxmlformats.org/drawingml/2006/main" x="609600" y="2781300"/>
          <a:ext xmlns:a="http://schemas.openxmlformats.org/drawingml/2006/main" cx="10972800" cy="2457450"/>
        </p:xfrm>
        <a:graphic xmlns:a="http://schemas.openxmlformats.org/drawingml/2006/main">
          <a:graphicData uri="http://schemas.openxmlformats.org/drawingml/2006/table">
            <a:tbl>
              <a:tblPr/>
              <a:tblGrid>
                <a:gridCol w="2857500"/>
                <a:gridCol w="8115300"/>
              </a:tblGrid>
              <a:tr h="457200">
                <a:tc>
                  <a:txBody>
                    <a:bodyPr lIns="114300" tIns="114300" rIns="114300" bIns="114300"/>
                    <a:lstStyle/>
                    <a:p>
                      <a:r>
                        <a:rPr sz="1650" b="1">
                          <a:solidFill>
                            <a:srgbClr val="FFFFFF"/>
                          </a:solidFill>
                          <a:latin typeface="Arial"/>
                          <a:ea typeface="Arial"/>
                          <a:cs typeface="Arial"/>
                        </a:rPr>
                        <a:t>User</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650" b="1">
                          <a:solidFill>
                            <a:srgbClr val="FFFFFF"/>
                          </a:solidFill>
                          <a:latin typeface="Arial"/>
                          <a:ea typeface="Arial"/>
                          <a:cs typeface="Arial"/>
                        </a:rPr>
                        <a:t>Required access and actions</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500063">
                <a:tc>
                  <a:txBody>
                    <a:bodyPr lIns="114300" tIns="114300" rIns="114300" bIns="114300"/>
                    <a:lstStyle/>
                    <a:p>
                      <a:r>
                        <a:rPr sz="1725" b="0">
                          <a:solidFill>
                            <a:srgbClr val="243B2D"/>
                          </a:solidFill>
                          <a:latin typeface="Arial"/>
                          <a:ea typeface="Arial"/>
                          <a:cs typeface="Arial"/>
                        </a:rPr>
                        <a:t>Student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725" b="0">
                          <a:solidFill>
                            <a:srgbClr val="243B2D"/>
                          </a:solidFill>
                          <a:latin typeface="Arial"/>
                          <a:ea typeface="Arial"/>
                          <a:cs typeface="Arial"/>
                        </a:rPr>
                        <a:t>Own room, complaints, progress and resolved feedback</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00063">
                <a:tc>
                  <a:txBody>
                    <a:bodyPr lIns="114300" tIns="114300" rIns="114300" bIns="114300"/>
                    <a:lstStyle/>
                    <a:p>
                      <a:r>
                        <a:rPr sz="1725" b="0">
                          <a:solidFill>
                            <a:srgbClr val="243B2D"/>
                          </a:solidFill>
                          <a:latin typeface="Arial"/>
                          <a:ea typeface="Arial"/>
                          <a:cs typeface="Arial"/>
                        </a:rPr>
                        <a:t>Warden</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725" b="0">
                          <a:solidFill>
                            <a:srgbClr val="243B2D"/>
                          </a:solidFill>
                          <a:latin typeface="Arial"/>
                          <a:ea typeface="Arial"/>
                          <a:cs typeface="Arial"/>
                        </a:rPr>
                        <a:t>Managed block, allotments, complaint assignment and reports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00063">
                <a:tc>
                  <a:txBody>
                    <a:bodyPr lIns="114300" tIns="114300" rIns="114300" bIns="114300"/>
                    <a:lstStyle/>
                    <a:p>
                      <a:r>
                        <a:rPr sz="1725" b="0">
                          <a:solidFill>
                            <a:srgbClr val="243B2D"/>
                          </a:solidFill>
                          <a:latin typeface="Arial"/>
                          <a:ea typeface="Arial"/>
                          <a:cs typeface="Arial"/>
                        </a:rPr>
                        <a:t>Maintenance staff</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725" b="0">
                          <a:solidFill>
                            <a:srgbClr val="243B2D"/>
                          </a:solidFill>
                          <a:latin typeface="Arial"/>
                          <a:ea typeface="Arial"/>
                          <a:cs typeface="Arial"/>
                        </a:rPr>
                        <a:t>Assigned work orders with progress and repair remarks</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00063">
                <a:tc>
                  <a:txBody>
                    <a:bodyPr lIns="114300" tIns="114300" rIns="114300" bIns="114300"/>
                    <a:lstStyle/>
                    <a:p>
                      <a:r>
                        <a:rPr sz="1725" b="0">
                          <a:solidFill>
                            <a:srgbClr val="243B2D"/>
                          </a:solidFill>
                          <a:latin typeface="Arial"/>
                          <a:ea typeface="Arial"/>
                          <a:cs typeface="Arial"/>
                        </a:rPr>
                        <a:t>Administrator</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725" b="0">
                          <a:solidFill>
                            <a:srgbClr val="243B2D"/>
                          </a:solidFill>
                          <a:latin typeface="Arial"/>
                          <a:ea typeface="Arial"/>
                          <a:cs typeface="Arial"/>
                        </a:rPr>
                        <a:t>Users, hostel blocks, rooms, room types and categories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bl>
          </a:graphicData>
        </a:graphic>
      </p:graphicFrame>
      <p:sp>
        <p:nvSpPr>
          <p:cNvPr id="8" name="text">
            <a:extLst xmlns:a="http://schemas.openxmlformats.org/drawingml/2006/main">
              <a:ext uri="{FF2B5EF4-FFF2-40B4-BE49-F238E27FC236}">
                <a16:creationId xmlns:a16="http://schemas.microsoft.com/office/drawing/2014/main" id="{F1A27141-EE97-4D84-99C0-1D1ED52B1530}"/>
              </a:ext>
            </a:extLst>
          </p:cNvPr>
          <p:cNvSpPr>
            <a:spLocks xmlns:a="http://schemas.openxmlformats.org/drawingml/2006/main" noGrp="1"/>
          </p:cNvSpPr>
          <p:nvPr/>
        </p:nvSpPr>
        <p:spPr>
          <a:xfrm xmlns:a="http://schemas.openxmlformats.org/drawingml/2006/main">
            <a:off x="628650" y="5505450"/>
            <a:ext cx="1076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1F4D3B"/>
                </a:solidFill>
                <a:latin typeface="Arial"/>
                <a:ea typeface="Arial"/>
                <a:cs typeface="Arial"/>
              </a:defRPr>
            </a:defPPr>
            <a:lvl1pPr>
              <a:defRPr sz="1950" b="1">
                <a:solidFill>
                  <a:srgbClr val="1F4D3B"/>
                </a:solidFill>
                <a:latin typeface="Arial"/>
                <a:ea typeface="Arial"/>
                <a:cs typeface="Arial"/>
              </a:defRPr>
            </a:lvl1pPr>
            <a:lvl2pPr>
              <a:defRPr sz="1950" b="1">
                <a:solidFill>
                  <a:srgbClr val="1F4D3B"/>
                </a:solidFill>
                <a:latin typeface="Arial"/>
                <a:ea typeface="Arial"/>
                <a:cs typeface="Arial"/>
              </a:defRPr>
            </a:lvl2pPr>
            <a:lvl3pPr>
              <a:defRPr sz="1950" b="1">
                <a:solidFill>
                  <a:srgbClr val="1F4D3B"/>
                </a:solidFill>
                <a:latin typeface="Arial"/>
                <a:ea typeface="Arial"/>
                <a:cs typeface="Arial"/>
              </a:defRPr>
            </a:lvl3pPr>
            <a:lvl4pPr>
              <a:defRPr sz="1950" b="1">
                <a:solidFill>
                  <a:srgbClr val="1F4D3B"/>
                </a:solidFill>
                <a:latin typeface="Arial"/>
                <a:ea typeface="Arial"/>
                <a:cs typeface="Arial"/>
              </a:defRPr>
            </a:lvl4pPr>
            <a:lvl5pPr>
              <a:defRPr sz="1950" b="1">
                <a:solidFill>
                  <a:srgbClr val="1F4D3B"/>
                </a:solidFill>
                <a:latin typeface="Arial"/>
                <a:ea typeface="Arial"/>
                <a:cs typeface="Arial"/>
              </a:defRPr>
            </a:lvl5pPr>
            <a:lvl6pPr>
              <a:defRPr sz="1950" b="1">
                <a:solidFill>
                  <a:srgbClr val="1F4D3B"/>
                </a:solidFill>
                <a:latin typeface="Arial"/>
                <a:ea typeface="Arial"/>
                <a:cs typeface="Arial"/>
              </a:defRPr>
            </a:lvl6pPr>
            <a:lvl7pPr>
              <a:defRPr sz="1950" b="1">
                <a:solidFill>
                  <a:srgbClr val="1F4D3B"/>
                </a:solidFill>
                <a:latin typeface="Arial"/>
                <a:ea typeface="Arial"/>
                <a:cs typeface="Arial"/>
              </a:defRPr>
            </a:lvl7pPr>
            <a:lvl8pPr>
              <a:defRPr sz="1950" b="1">
                <a:solidFill>
                  <a:srgbClr val="1F4D3B"/>
                </a:solidFill>
                <a:latin typeface="Arial"/>
                <a:ea typeface="Arial"/>
                <a:cs typeface="Arial"/>
              </a:defRPr>
            </a:lvl8pPr>
            <a:lvl9pPr>
              <a:defRPr sz="1950" b="1">
                <a:solidFill>
                  <a:srgbClr val="1F4D3B"/>
                </a:solidFill>
                <a:latin typeface="Arial"/>
                <a:ea typeface="Arial"/>
                <a:cs typeface="Arial"/>
              </a:defRPr>
            </a:lvl9pPr>
          </a:lstStyle>
          <a:p xmlns:a="http://schemas.openxmlformats.org/drawingml/2006/main">
            <a:pPr>
              <a:defRPr sz="1950" b="1">
                <a:solidFill>
                  <a:srgbClr val="1F4D3B"/>
                </a:solidFill>
                <a:latin typeface="Arial"/>
                <a:ea typeface="Arial"/>
                <a:cs typeface="Arial"/>
              </a:defRPr>
            </a:pPr>
            <a:r>
              <a:rPr sz="1950" b="1">
                <a:solidFill>
                  <a:srgbClr val="1F4D3B"/>
                </a:solidFill>
                <a:latin typeface="Arial"/>
                <a:ea typeface="Arial"/>
                <a:cs typeface="Arial"/>
              </a:rPr>
              <a:t>Integrity requirements</a:t>
            </a:r>
          </a:p>
        </p:txBody>
      </p:sp>
      <p:sp>
        <p:nvSpPr>
          <p:cNvPr id="9" name="text">
            <a:extLst xmlns:a="http://schemas.openxmlformats.org/drawingml/2006/main">
              <a:ext uri="{FF2B5EF4-FFF2-40B4-BE49-F238E27FC236}">
                <a16:creationId xmlns:a16="http://schemas.microsoft.com/office/drawing/2014/main" id="{981EACD7-FD9C-426A-803D-C3ECAEBE1E32}"/>
              </a:ext>
            </a:extLst>
          </p:cNvPr>
          <p:cNvSpPr>
            <a:spLocks xmlns:a="http://schemas.openxmlformats.org/drawingml/2006/main" noGrp="1"/>
          </p:cNvSpPr>
          <p:nvPr/>
        </p:nvSpPr>
        <p:spPr>
          <a:xfrm xmlns:a="http://schemas.openxmlformats.org/drawingml/2006/main">
            <a:off x="628650" y="588645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0735E"/>
                </a:solidFill>
                <a:latin typeface="Arial"/>
                <a:ea typeface="Arial"/>
                <a:cs typeface="Arial"/>
              </a:defRPr>
            </a:defPPr>
            <a:lvl1pPr>
              <a:defRPr sz="1800" b="0">
                <a:solidFill>
                  <a:srgbClr val="60735E"/>
                </a:solidFill>
                <a:latin typeface="Arial"/>
                <a:ea typeface="Arial"/>
                <a:cs typeface="Arial"/>
              </a:defRPr>
            </a:lvl1pPr>
            <a:lvl2pPr>
              <a:defRPr sz="1800" b="0">
                <a:solidFill>
                  <a:srgbClr val="60735E"/>
                </a:solidFill>
                <a:latin typeface="Arial"/>
                <a:ea typeface="Arial"/>
                <a:cs typeface="Arial"/>
              </a:defRPr>
            </a:lvl2pPr>
            <a:lvl3pPr>
              <a:defRPr sz="1800" b="0">
                <a:solidFill>
                  <a:srgbClr val="60735E"/>
                </a:solidFill>
                <a:latin typeface="Arial"/>
                <a:ea typeface="Arial"/>
                <a:cs typeface="Arial"/>
              </a:defRPr>
            </a:lvl3pPr>
            <a:lvl4pPr>
              <a:defRPr sz="1800" b="0">
                <a:solidFill>
                  <a:srgbClr val="60735E"/>
                </a:solidFill>
                <a:latin typeface="Arial"/>
                <a:ea typeface="Arial"/>
                <a:cs typeface="Arial"/>
              </a:defRPr>
            </a:lvl4pPr>
            <a:lvl5pPr>
              <a:defRPr sz="1800" b="0">
                <a:solidFill>
                  <a:srgbClr val="60735E"/>
                </a:solidFill>
                <a:latin typeface="Arial"/>
                <a:ea typeface="Arial"/>
                <a:cs typeface="Arial"/>
              </a:defRPr>
            </a:lvl5pPr>
            <a:lvl6pPr>
              <a:defRPr sz="1800" b="0">
                <a:solidFill>
                  <a:srgbClr val="60735E"/>
                </a:solidFill>
                <a:latin typeface="Arial"/>
                <a:ea typeface="Arial"/>
                <a:cs typeface="Arial"/>
              </a:defRPr>
            </a:lvl6pPr>
            <a:lvl7pPr>
              <a:defRPr sz="1800" b="0">
                <a:solidFill>
                  <a:srgbClr val="60735E"/>
                </a:solidFill>
                <a:latin typeface="Arial"/>
                <a:ea typeface="Arial"/>
                <a:cs typeface="Arial"/>
              </a:defRPr>
            </a:lvl7pPr>
            <a:lvl8pPr>
              <a:defRPr sz="1800" b="0">
                <a:solidFill>
                  <a:srgbClr val="60735E"/>
                </a:solidFill>
                <a:latin typeface="Arial"/>
                <a:ea typeface="Arial"/>
                <a:cs typeface="Arial"/>
              </a:defRPr>
            </a:lvl8pPr>
            <a:lvl9pPr>
              <a:defRPr sz="1800" b="0">
                <a:solidFill>
                  <a:srgbClr val="60735E"/>
                </a:solidFill>
                <a:latin typeface="Arial"/>
                <a:ea typeface="Arial"/>
                <a:cs typeface="Arial"/>
              </a:defRPr>
            </a:lvl9pPr>
          </a:lstStyle>
          <a:p xmlns:a="http://schemas.openxmlformats.org/drawingml/2006/main">
            <a:pPr>
              <a:defRPr sz="1800" b="0">
                <a:solidFill>
                  <a:srgbClr val="60735E"/>
                </a:solidFill>
                <a:latin typeface="Arial"/>
                <a:ea typeface="Arial"/>
                <a:cs typeface="Arial"/>
              </a:defRPr>
            </a:pPr>
            <a:r>
              <a:rPr sz="1800" b="0">
                <a:solidFill>
                  <a:srgbClr val="60735E"/>
                </a:solidFill>
                <a:latin typeface="Arial"/>
                <a:ea typeface="Arial"/>
                <a:cs typeface="Arial"/>
              </a:rPr>
              <a:t>Capacity and gender checks, one active room per student, role permissions and automatic complaint history.</a:t>
            </a:r>
          </a:p>
        </p:txBody>
      </p:sp>
    </p:spTree>
    <p:extLst>
      <p:ext uri="{BB962C8B-B14F-4D97-AF65-F5344CB8AC3E}">
        <p14:creationId xmlns:p14="http://schemas.microsoft.com/office/powerpoint/2010/main" val="283042012"/>
      </p:ext>
    </p:extLst>
  </p:cSld>
</p:sld>
</file>

<file path=ppt/slides/slide2.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74F54A13-F7E3-40F5-B9C7-E125247C247B}"/>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Construction of ER/EER Diagram</a:t>
            </a:r>
          </a:p>
        </p:txBody>
      </p:sp>
      <p:sp>
        <p:nvSpPr>
          <p:cNvPr id="3" name="footer">
            <a:extLst xmlns:a="http://schemas.openxmlformats.org/drawingml/2006/main">
              <a:ext uri="{FF2B5EF4-FFF2-40B4-BE49-F238E27FC236}">
                <a16:creationId xmlns:a16="http://schemas.microsoft.com/office/drawing/2014/main" id="{E2C096DF-CB50-4B93-AD01-0193B734BEA2}"/>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CEF137EB-1ABB-4B58-BA49-AAC9E1151606}"/>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02 / 36</a:t>
            </a:r>
          </a:p>
        </p:txBody>
      </p:sp>
      <p:sp>
        <p:nvSpPr>
          <p:cNvPr id="5" name="entity-USERS">
            <a:extLst xmlns:a="http://schemas.openxmlformats.org/drawingml/2006/main">
              <a:ext uri="{FF2B5EF4-FFF2-40B4-BE49-F238E27FC236}">
                <a16:creationId xmlns:a16="http://schemas.microsoft.com/office/drawing/2014/main" id="{A05CC364-2553-4632-8C63-F416A41593CF}"/>
              </a:ext>
            </a:extLst>
          </p:cNvPr>
          <p:cNvSpPr>
            <a:spLocks xmlns:a="http://schemas.openxmlformats.org/drawingml/2006/main" noGrp="1"/>
          </p:cNvSpPr>
          <p:nvPr/>
        </p:nvSpPr>
        <p:spPr>
          <a:xfrm xmlns:a="http://schemas.openxmlformats.org/drawingml/2006/main">
            <a:off x="4381500" y="1714500"/>
            <a:ext cx="34290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6" name="entity-name-USERS">
            <a:extLst xmlns:a="http://schemas.openxmlformats.org/drawingml/2006/main">
              <a:ext uri="{FF2B5EF4-FFF2-40B4-BE49-F238E27FC236}">
                <a16:creationId xmlns:a16="http://schemas.microsoft.com/office/drawing/2014/main" id="{FC4C9CA5-0440-42A7-A4CC-05271DEFBC7D}"/>
              </a:ext>
            </a:extLst>
          </p:cNvPr>
          <p:cNvSpPr>
            <a:spLocks xmlns:a="http://schemas.openxmlformats.org/drawingml/2006/main" noGrp="1"/>
          </p:cNvSpPr>
          <p:nvPr/>
        </p:nvSpPr>
        <p:spPr>
          <a:xfrm xmlns:a="http://schemas.openxmlformats.org/drawingml/2006/main">
            <a:off x="4505325" y="1809750"/>
            <a:ext cx="3181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USERS</a:t>
            </a:r>
          </a:p>
        </p:txBody>
      </p:sp>
      <p:sp>
        <p:nvSpPr>
          <p:cNvPr id="7" name="entity-fields-USERS">
            <a:extLst xmlns:a="http://schemas.openxmlformats.org/drawingml/2006/main">
              <a:ext uri="{FF2B5EF4-FFF2-40B4-BE49-F238E27FC236}">
                <a16:creationId xmlns:a16="http://schemas.microsoft.com/office/drawing/2014/main" id="{0A5DCD03-F667-4DAD-A168-CFBAAE7F4424}"/>
              </a:ext>
            </a:extLst>
          </p:cNvPr>
          <p:cNvSpPr>
            <a:spLocks xmlns:a="http://schemas.openxmlformats.org/drawingml/2006/main" noGrp="1"/>
          </p:cNvSpPr>
          <p:nvPr/>
        </p:nvSpPr>
        <p:spPr>
          <a:xfrm xmlns:a="http://schemas.openxmlformats.org/drawingml/2006/main">
            <a:off x="4505325" y="2171700"/>
            <a:ext cx="3181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user_id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UQ email</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full_name, password_hash, role</a:t>
            </a:r>
          </a:p>
        </p:txBody>
      </p:sp>
      <p:sp>
        <p:nvSpPr>
          <p:cNvPr id="8" name="entity-USER_PHONE">
            <a:extLst xmlns:a="http://schemas.openxmlformats.org/drawingml/2006/main">
              <a:ext uri="{FF2B5EF4-FFF2-40B4-BE49-F238E27FC236}">
                <a16:creationId xmlns:a16="http://schemas.microsoft.com/office/drawing/2014/main" id="{80C8E606-C180-478F-B710-235C13856196}"/>
              </a:ext>
            </a:extLst>
          </p:cNvPr>
          <p:cNvSpPr>
            <a:spLocks xmlns:a="http://schemas.openxmlformats.org/drawingml/2006/main" noGrp="1"/>
          </p:cNvSpPr>
          <p:nvPr/>
        </p:nvSpPr>
        <p:spPr>
          <a:xfrm xmlns:a="http://schemas.openxmlformats.org/drawingml/2006/main">
            <a:off x="571500" y="1714500"/>
            <a:ext cx="257175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9" name="entity-name-USER_PHONE">
            <a:extLst xmlns:a="http://schemas.openxmlformats.org/drawingml/2006/main">
              <a:ext uri="{FF2B5EF4-FFF2-40B4-BE49-F238E27FC236}">
                <a16:creationId xmlns:a16="http://schemas.microsoft.com/office/drawing/2014/main" id="{A2BEB356-CFA7-415F-8D67-F9E598E0FFEB}"/>
              </a:ext>
            </a:extLst>
          </p:cNvPr>
          <p:cNvSpPr>
            <a:spLocks xmlns:a="http://schemas.openxmlformats.org/drawingml/2006/main" noGrp="1"/>
          </p:cNvSpPr>
          <p:nvPr/>
        </p:nvSpPr>
        <p:spPr>
          <a:xfrm xmlns:a="http://schemas.openxmlformats.org/drawingml/2006/main">
            <a:off x="695325" y="18097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USER_PHONE</a:t>
            </a:r>
          </a:p>
        </p:txBody>
      </p:sp>
      <p:sp>
        <p:nvSpPr>
          <p:cNvPr id="10" name="entity-fields-USER_PHONE">
            <a:extLst xmlns:a="http://schemas.openxmlformats.org/drawingml/2006/main">
              <a:ext uri="{FF2B5EF4-FFF2-40B4-BE49-F238E27FC236}">
                <a16:creationId xmlns:a16="http://schemas.microsoft.com/office/drawing/2014/main" id="{50D1357A-15B4-4876-9D43-325EA80BE92D}"/>
              </a:ext>
            </a:extLst>
          </p:cNvPr>
          <p:cNvSpPr>
            <a:spLocks xmlns:a="http://schemas.openxmlformats.org/drawingml/2006/main" noGrp="1"/>
          </p:cNvSpPr>
          <p:nvPr/>
        </p:nvSpPr>
        <p:spPr>
          <a:xfrm xmlns:a="http://schemas.openxmlformats.org/drawingml/2006/main">
            <a:off x="695325" y="2171700"/>
            <a:ext cx="2324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user_id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phone_no</a:t>
            </a:r>
          </a:p>
        </p:txBody>
      </p:sp>
      <p:cxnSp>
        <p:nvCxnSpPr>
          <p:cNvPr id="11" name="">
            <a:extLst xmlns:a="http://schemas.openxmlformats.org/drawingml/2006/main">
              <a:ext uri="{FF2B5EF4-FFF2-40B4-BE49-F238E27FC236}">
                <a16:creationId xmlns:a16="http://schemas.microsoft.com/office/drawing/2014/main" id="{222DA68D-C39E-47B8-AD85-30F6226E4802}"/>
              </a:ext>
            </a:extLst>
          </p:cNvPr>
          <p:cNvCxnSpPr/>
          <p:nvPr/>
        </p:nvCxnSpPr>
        <p:spPr>
          <a:xfrm xmlns:a="http://schemas.openxmlformats.org/drawingml/2006/main" flipH="0" flipV="0">
            <a:off x="3143250" y="2381250"/>
            <a:ext cx="1238250" cy="0"/>
          </a:xfrm>
          <a:prstGeom xmlns:a="http://schemas.openxmlformats.org/drawingml/2006/main" prst="straightConnector1">
            <a:avLst/>
          </a:prstGeom>
          <a:ln xmlns:a="http://schemas.openxmlformats.org/drawingml/2006/main" w="19050">
            <a:solidFill>
              <a:srgbClr val="789272"/>
            </a:solidFill>
          </a:ln>
        </p:spPr>
      </p:cxnSp>
      <p:sp>
        <p:nvSpPr>
          <p:cNvPr id="12" name="cardinality-0..*">
            <a:extLst xmlns:a="http://schemas.openxmlformats.org/drawingml/2006/main">
              <a:ext uri="{FF2B5EF4-FFF2-40B4-BE49-F238E27FC236}">
                <a16:creationId xmlns:a16="http://schemas.microsoft.com/office/drawing/2014/main" id="{B41737AD-56C9-41C0-AEFF-93E3127E37FC}"/>
              </a:ext>
            </a:extLst>
          </p:cNvPr>
          <p:cNvSpPr>
            <a:spLocks xmlns:a="http://schemas.openxmlformats.org/drawingml/2006/main" noGrp="1"/>
          </p:cNvSpPr>
          <p:nvPr/>
        </p:nvSpPr>
        <p:spPr>
          <a:xfrm xmlns:a="http://schemas.openxmlformats.org/drawingml/2006/main">
            <a:off x="3209925" y="20383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sp>
        <p:nvSpPr>
          <p:cNvPr id="13" name="cardinality-1">
            <a:extLst xmlns:a="http://schemas.openxmlformats.org/drawingml/2006/main">
              <a:ext uri="{FF2B5EF4-FFF2-40B4-BE49-F238E27FC236}">
                <a16:creationId xmlns:a16="http://schemas.microsoft.com/office/drawing/2014/main" id="{5DAD9D54-AAF6-4AB7-ACDD-E754B2A55E43}"/>
              </a:ext>
            </a:extLst>
          </p:cNvPr>
          <p:cNvSpPr>
            <a:spLocks xmlns:a="http://schemas.openxmlformats.org/drawingml/2006/main" noGrp="1"/>
          </p:cNvSpPr>
          <p:nvPr/>
        </p:nvSpPr>
        <p:spPr>
          <a:xfrm xmlns:a="http://schemas.openxmlformats.org/drawingml/2006/main">
            <a:off x="4095750" y="20383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14" name="entity-STUDENT">
            <a:extLst xmlns:a="http://schemas.openxmlformats.org/drawingml/2006/main">
              <a:ext uri="{FF2B5EF4-FFF2-40B4-BE49-F238E27FC236}">
                <a16:creationId xmlns:a16="http://schemas.microsoft.com/office/drawing/2014/main" id="{496872E8-D8C6-4AFC-9F79-BB8167C3ED81}"/>
              </a:ext>
            </a:extLst>
          </p:cNvPr>
          <p:cNvSpPr>
            <a:spLocks xmlns:a="http://schemas.openxmlformats.org/drawingml/2006/main" noGrp="1"/>
          </p:cNvSpPr>
          <p:nvPr/>
        </p:nvSpPr>
        <p:spPr>
          <a:xfrm xmlns:a="http://schemas.openxmlformats.org/drawingml/2006/main">
            <a:off x="619125" y="4381500"/>
            <a:ext cx="276225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5" name="entity-name-STUDENT">
            <a:extLst xmlns:a="http://schemas.openxmlformats.org/drawingml/2006/main">
              <a:ext uri="{FF2B5EF4-FFF2-40B4-BE49-F238E27FC236}">
                <a16:creationId xmlns:a16="http://schemas.microsoft.com/office/drawing/2014/main" id="{BF9C7DB8-2CE8-4281-83FB-5CA84ABE690B}"/>
              </a:ext>
            </a:extLst>
          </p:cNvPr>
          <p:cNvSpPr>
            <a:spLocks xmlns:a="http://schemas.openxmlformats.org/drawingml/2006/main" noGrp="1"/>
          </p:cNvSpPr>
          <p:nvPr/>
        </p:nvSpPr>
        <p:spPr>
          <a:xfrm xmlns:a="http://schemas.openxmlformats.org/drawingml/2006/main">
            <a:off x="742950" y="4476750"/>
            <a:ext cx="2514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STUDENT</a:t>
            </a:r>
          </a:p>
        </p:txBody>
      </p:sp>
      <p:sp>
        <p:nvSpPr>
          <p:cNvPr id="16" name="entity-fields-STUDENT">
            <a:extLst xmlns:a="http://schemas.openxmlformats.org/drawingml/2006/main">
              <a:ext uri="{FF2B5EF4-FFF2-40B4-BE49-F238E27FC236}">
                <a16:creationId xmlns:a16="http://schemas.microsoft.com/office/drawing/2014/main" id="{0BC65759-4FB6-4789-B8E8-CA6005485E9A}"/>
              </a:ext>
            </a:extLst>
          </p:cNvPr>
          <p:cNvSpPr>
            <a:spLocks xmlns:a="http://schemas.openxmlformats.org/drawingml/2006/main" noGrp="1"/>
          </p:cNvSpPr>
          <p:nvPr/>
        </p:nvSpPr>
        <p:spPr>
          <a:xfrm xmlns:a="http://schemas.openxmlformats.org/drawingml/2006/main">
            <a:off x="742950" y="4838700"/>
            <a:ext cx="2514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student_id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UQ reg_no</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department, year_of_study</a:t>
            </a:r>
          </a:p>
        </p:txBody>
      </p:sp>
      <p:sp>
        <p:nvSpPr>
          <p:cNvPr id="17" name="entity-WARDEN">
            <a:extLst xmlns:a="http://schemas.openxmlformats.org/drawingml/2006/main">
              <a:ext uri="{FF2B5EF4-FFF2-40B4-BE49-F238E27FC236}">
                <a16:creationId xmlns:a16="http://schemas.microsoft.com/office/drawing/2014/main" id="{7ABAFFF3-C26E-47C1-855F-8821F9366D36}"/>
              </a:ext>
            </a:extLst>
          </p:cNvPr>
          <p:cNvSpPr>
            <a:spLocks xmlns:a="http://schemas.openxmlformats.org/drawingml/2006/main" noGrp="1"/>
          </p:cNvSpPr>
          <p:nvPr/>
        </p:nvSpPr>
        <p:spPr>
          <a:xfrm xmlns:a="http://schemas.openxmlformats.org/drawingml/2006/main">
            <a:off x="4714875" y="4381500"/>
            <a:ext cx="276225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8" name="entity-name-WARDEN">
            <a:extLst xmlns:a="http://schemas.openxmlformats.org/drawingml/2006/main">
              <a:ext uri="{FF2B5EF4-FFF2-40B4-BE49-F238E27FC236}">
                <a16:creationId xmlns:a16="http://schemas.microsoft.com/office/drawing/2014/main" id="{B885A72B-3E9A-445F-8DA1-9F9AA1323F12}"/>
              </a:ext>
            </a:extLst>
          </p:cNvPr>
          <p:cNvSpPr>
            <a:spLocks xmlns:a="http://schemas.openxmlformats.org/drawingml/2006/main" noGrp="1"/>
          </p:cNvSpPr>
          <p:nvPr/>
        </p:nvSpPr>
        <p:spPr>
          <a:xfrm xmlns:a="http://schemas.openxmlformats.org/drawingml/2006/main">
            <a:off x="4838700" y="4476750"/>
            <a:ext cx="2514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WARDEN</a:t>
            </a:r>
          </a:p>
        </p:txBody>
      </p:sp>
      <p:sp>
        <p:nvSpPr>
          <p:cNvPr id="19" name="entity-fields-WARDEN">
            <a:extLst xmlns:a="http://schemas.openxmlformats.org/drawingml/2006/main">
              <a:ext uri="{FF2B5EF4-FFF2-40B4-BE49-F238E27FC236}">
                <a16:creationId xmlns:a16="http://schemas.microsoft.com/office/drawing/2014/main" id="{634C83DB-9926-4FBE-AB8E-B7CA9CBA8EE2}"/>
              </a:ext>
            </a:extLst>
          </p:cNvPr>
          <p:cNvSpPr>
            <a:spLocks xmlns:a="http://schemas.openxmlformats.org/drawingml/2006/main" noGrp="1"/>
          </p:cNvSpPr>
          <p:nvPr/>
        </p:nvSpPr>
        <p:spPr>
          <a:xfrm xmlns:a="http://schemas.openxmlformats.org/drawingml/2006/main">
            <a:off x="4838700" y="4838700"/>
            <a:ext cx="2514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warden_id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designation, office_room</a:t>
            </a:r>
          </a:p>
        </p:txBody>
      </p:sp>
      <p:sp>
        <p:nvSpPr>
          <p:cNvPr id="20" name="entity-MAINTENANCE_STAFF">
            <a:extLst xmlns:a="http://schemas.openxmlformats.org/drawingml/2006/main">
              <a:ext uri="{FF2B5EF4-FFF2-40B4-BE49-F238E27FC236}">
                <a16:creationId xmlns:a16="http://schemas.microsoft.com/office/drawing/2014/main" id="{996958F2-923B-4092-B505-C297292E8A1F}"/>
              </a:ext>
            </a:extLst>
          </p:cNvPr>
          <p:cNvSpPr>
            <a:spLocks xmlns:a="http://schemas.openxmlformats.org/drawingml/2006/main" noGrp="1"/>
          </p:cNvSpPr>
          <p:nvPr/>
        </p:nvSpPr>
        <p:spPr>
          <a:xfrm xmlns:a="http://schemas.openxmlformats.org/drawingml/2006/main">
            <a:off x="8810625" y="4381500"/>
            <a:ext cx="276225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1" name="entity-name-MAINTENANCE_STAFF">
            <a:extLst xmlns:a="http://schemas.openxmlformats.org/drawingml/2006/main">
              <a:ext uri="{FF2B5EF4-FFF2-40B4-BE49-F238E27FC236}">
                <a16:creationId xmlns:a16="http://schemas.microsoft.com/office/drawing/2014/main" id="{38F5E739-15B8-465E-885A-05839EAD9B49}"/>
              </a:ext>
            </a:extLst>
          </p:cNvPr>
          <p:cNvSpPr>
            <a:spLocks xmlns:a="http://schemas.openxmlformats.org/drawingml/2006/main" noGrp="1"/>
          </p:cNvSpPr>
          <p:nvPr/>
        </p:nvSpPr>
        <p:spPr>
          <a:xfrm xmlns:a="http://schemas.openxmlformats.org/drawingml/2006/main">
            <a:off x="8934450" y="4476750"/>
            <a:ext cx="2514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MAINTENANCE_STAFF</a:t>
            </a:r>
          </a:p>
        </p:txBody>
      </p:sp>
      <p:sp>
        <p:nvSpPr>
          <p:cNvPr id="22" name="entity-fields-MAINTENANCE_STAFF">
            <a:extLst xmlns:a="http://schemas.openxmlformats.org/drawingml/2006/main">
              <a:ext uri="{FF2B5EF4-FFF2-40B4-BE49-F238E27FC236}">
                <a16:creationId xmlns:a16="http://schemas.microsoft.com/office/drawing/2014/main" id="{9AC4FA7D-8FA5-4636-A894-B68D72F896D8}"/>
              </a:ext>
            </a:extLst>
          </p:cNvPr>
          <p:cNvSpPr>
            <a:spLocks xmlns:a="http://schemas.openxmlformats.org/drawingml/2006/main" noGrp="1"/>
          </p:cNvSpPr>
          <p:nvPr/>
        </p:nvSpPr>
        <p:spPr>
          <a:xfrm xmlns:a="http://schemas.openxmlformats.org/drawingml/2006/main">
            <a:off x="8934450" y="4838700"/>
            <a:ext cx="2514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staff_id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block_id, category_id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shift</a:t>
            </a:r>
          </a:p>
        </p:txBody>
      </p:sp>
      <p:cxnSp>
        <p:nvCxnSpPr>
          <p:cNvPr id="23" name="">
            <a:extLst xmlns:a="http://schemas.openxmlformats.org/drawingml/2006/main">
              <a:ext uri="{FF2B5EF4-FFF2-40B4-BE49-F238E27FC236}">
                <a16:creationId xmlns:a16="http://schemas.microsoft.com/office/drawing/2014/main" id="{A283F3EE-7577-494B-BE5A-2D12B0F25488}"/>
              </a:ext>
            </a:extLst>
          </p:cNvPr>
          <p:cNvCxnSpPr/>
          <p:nvPr/>
        </p:nvCxnSpPr>
        <p:spPr>
          <a:xfrm xmlns:a="http://schemas.openxmlformats.org/drawingml/2006/main" flipH="0" flipV="0">
            <a:off x="6096000" y="3095625"/>
            <a:ext cx="0" cy="381000"/>
          </a:xfrm>
          <a:prstGeom xmlns:a="http://schemas.openxmlformats.org/drawingml/2006/main" prst="straightConnector1">
            <a:avLst/>
          </a:prstGeom>
          <a:ln xmlns:a="http://schemas.openxmlformats.org/drawingml/2006/main" w="19050">
            <a:solidFill>
              <a:srgbClr val="789272"/>
            </a:solidFill>
          </a:ln>
        </p:spPr>
      </p:cxnSp>
      <p:sp>
        <p:nvSpPr>
          <p:cNvPr id="24" name="disjoint-specialization">
            <a:extLst xmlns:a="http://schemas.openxmlformats.org/drawingml/2006/main">
              <a:ext uri="{FF2B5EF4-FFF2-40B4-BE49-F238E27FC236}">
                <a16:creationId xmlns:a16="http://schemas.microsoft.com/office/drawing/2014/main" id="{B0C4B455-841C-4928-B2B5-31B4A11BD673}"/>
              </a:ext>
            </a:extLst>
          </p:cNvPr>
          <p:cNvSpPr>
            <a:spLocks xmlns:a="http://schemas.openxmlformats.org/drawingml/2006/main" noGrp="1"/>
          </p:cNvSpPr>
          <p:nvPr/>
        </p:nvSpPr>
        <p:spPr>
          <a:xfrm xmlns:a="http://schemas.openxmlformats.org/drawingml/2006/main">
            <a:off x="5857875" y="3476625"/>
            <a:ext cx="476250" cy="476250"/>
          </a:xfrm>
          <a:prstGeom xmlns:a="http://schemas.openxmlformats.org/drawingml/2006/main" prst="ellipse">
            <a:avLst/>
          </a:prstGeom>
          <a:solidFill xmlns:a="http://schemas.openxmlformats.org/drawingml/2006/main">
            <a:srgbClr val="FFFFFF"/>
          </a:solidFill>
          <a:ln xmlns:a="http://schemas.openxmlformats.org/drawingml/2006/main" w="14288">
            <a:solidFill>
              <a:srgbClr val="72916C"/>
            </a:solidFill>
          </a:ln>
        </p:spPr>
      </p:sp>
      <p:sp>
        <p:nvSpPr>
          <p:cNvPr id="25" name="text">
            <a:extLst xmlns:a="http://schemas.openxmlformats.org/drawingml/2006/main">
              <a:ext uri="{FF2B5EF4-FFF2-40B4-BE49-F238E27FC236}">
                <a16:creationId xmlns:a16="http://schemas.microsoft.com/office/drawing/2014/main" id="{EB39EC07-4915-41B3-B4ED-28E2A55514B5}"/>
              </a:ext>
            </a:extLst>
          </p:cNvPr>
          <p:cNvSpPr>
            <a:spLocks xmlns:a="http://schemas.openxmlformats.org/drawingml/2006/main" noGrp="1"/>
          </p:cNvSpPr>
          <p:nvPr/>
        </p:nvSpPr>
        <p:spPr>
          <a:xfrm xmlns:a="http://schemas.openxmlformats.org/drawingml/2006/main">
            <a:off x="6010275" y="3552825"/>
            <a:ext cx="238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1F4D3B"/>
                </a:solidFill>
                <a:latin typeface="Arial"/>
                <a:ea typeface="Arial"/>
                <a:cs typeface="Arial"/>
              </a:defRPr>
            </a:defPPr>
            <a:lvl1pPr>
              <a:defRPr sz="1875" b="1">
                <a:solidFill>
                  <a:srgbClr val="1F4D3B"/>
                </a:solidFill>
                <a:latin typeface="Arial"/>
                <a:ea typeface="Arial"/>
                <a:cs typeface="Arial"/>
              </a:defRPr>
            </a:lvl1pPr>
            <a:lvl2pPr>
              <a:defRPr sz="1875" b="1">
                <a:solidFill>
                  <a:srgbClr val="1F4D3B"/>
                </a:solidFill>
                <a:latin typeface="Arial"/>
                <a:ea typeface="Arial"/>
                <a:cs typeface="Arial"/>
              </a:defRPr>
            </a:lvl2pPr>
            <a:lvl3pPr>
              <a:defRPr sz="1875" b="1">
                <a:solidFill>
                  <a:srgbClr val="1F4D3B"/>
                </a:solidFill>
                <a:latin typeface="Arial"/>
                <a:ea typeface="Arial"/>
                <a:cs typeface="Arial"/>
              </a:defRPr>
            </a:lvl3pPr>
            <a:lvl4pPr>
              <a:defRPr sz="1875" b="1">
                <a:solidFill>
                  <a:srgbClr val="1F4D3B"/>
                </a:solidFill>
                <a:latin typeface="Arial"/>
                <a:ea typeface="Arial"/>
                <a:cs typeface="Arial"/>
              </a:defRPr>
            </a:lvl4pPr>
            <a:lvl5pPr>
              <a:defRPr sz="1875" b="1">
                <a:solidFill>
                  <a:srgbClr val="1F4D3B"/>
                </a:solidFill>
                <a:latin typeface="Arial"/>
                <a:ea typeface="Arial"/>
                <a:cs typeface="Arial"/>
              </a:defRPr>
            </a:lvl5pPr>
            <a:lvl6pPr>
              <a:defRPr sz="1875" b="1">
                <a:solidFill>
                  <a:srgbClr val="1F4D3B"/>
                </a:solidFill>
                <a:latin typeface="Arial"/>
                <a:ea typeface="Arial"/>
                <a:cs typeface="Arial"/>
              </a:defRPr>
            </a:lvl6pPr>
            <a:lvl7pPr>
              <a:defRPr sz="1875" b="1">
                <a:solidFill>
                  <a:srgbClr val="1F4D3B"/>
                </a:solidFill>
                <a:latin typeface="Arial"/>
                <a:ea typeface="Arial"/>
                <a:cs typeface="Arial"/>
              </a:defRPr>
            </a:lvl7pPr>
            <a:lvl8pPr>
              <a:defRPr sz="1875" b="1">
                <a:solidFill>
                  <a:srgbClr val="1F4D3B"/>
                </a:solidFill>
                <a:latin typeface="Arial"/>
                <a:ea typeface="Arial"/>
                <a:cs typeface="Arial"/>
              </a:defRPr>
            </a:lvl8pPr>
            <a:lvl9pPr>
              <a:defRPr sz="1875" b="1">
                <a:solidFill>
                  <a:srgbClr val="1F4D3B"/>
                </a:solidFill>
                <a:latin typeface="Arial"/>
                <a:ea typeface="Arial"/>
                <a:cs typeface="Arial"/>
              </a:defRPr>
            </a:lvl9pPr>
          </a:lstStyle>
          <a:p xmlns:a="http://schemas.openxmlformats.org/drawingml/2006/main">
            <a:pPr>
              <a:defRPr sz="1875" b="1">
                <a:solidFill>
                  <a:srgbClr val="1F4D3B"/>
                </a:solidFill>
                <a:latin typeface="Arial"/>
                <a:ea typeface="Arial"/>
                <a:cs typeface="Arial"/>
              </a:defRPr>
            </a:pPr>
            <a:r>
              <a:rPr sz="1875" b="1">
                <a:solidFill>
                  <a:srgbClr val="1F4D3B"/>
                </a:solidFill>
                <a:latin typeface="Arial"/>
                <a:ea typeface="Arial"/>
                <a:cs typeface="Arial"/>
              </a:rPr>
              <a:t>d</a:t>
            </a:r>
          </a:p>
        </p:txBody>
      </p:sp>
      <p:cxnSp>
        <p:nvCxnSpPr>
          <p:cNvPr id="26" name="">
            <a:extLst xmlns:a="http://schemas.openxmlformats.org/drawingml/2006/main">
              <a:ext uri="{FF2B5EF4-FFF2-40B4-BE49-F238E27FC236}">
                <a16:creationId xmlns:a16="http://schemas.microsoft.com/office/drawing/2014/main" id="{1F14AA79-1DAA-4DB8-981E-D57E643316F7}"/>
              </a:ext>
            </a:extLst>
          </p:cNvPr>
          <p:cNvCxnSpPr/>
          <p:nvPr/>
        </p:nvCxnSpPr>
        <p:spPr>
          <a:xfrm xmlns:a="http://schemas.openxmlformats.org/drawingml/2006/main" flipH="0" flipV="0">
            <a:off x="6096000" y="3952875"/>
            <a:ext cx="0" cy="190500"/>
          </a:xfrm>
          <a:prstGeom xmlns:a="http://schemas.openxmlformats.org/drawingml/2006/main" prst="straightConnector1">
            <a:avLst/>
          </a:prstGeom>
          <a:ln xmlns:a="http://schemas.openxmlformats.org/drawingml/2006/main" w="19050">
            <a:solidFill>
              <a:srgbClr val="789272"/>
            </a:solidFill>
          </a:ln>
        </p:spPr>
      </p:cxnSp>
      <p:cxnSp>
        <p:nvCxnSpPr>
          <p:cNvPr id="27" name="">
            <a:extLst xmlns:a="http://schemas.openxmlformats.org/drawingml/2006/main">
              <a:ext uri="{FF2B5EF4-FFF2-40B4-BE49-F238E27FC236}">
                <a16:creationId xmlns:a16="http://schemas.microsoft.com/office/drawing/2014/main" id="{A436A4EB-B74C-4DDA-B986-503F4044E52C}"/>
              </a:ext>
            </a:extLst>
          </p:cNvPr>
          <p:cNvCxnSpPr/>
          <p:nvPr/>
        </p:nvCxnSpPr>
        <p:spPr>
          <a:xfrm xmlns:a="http://schemas.openxmlformats.org/drawingml/2006/main" flipH="1" flipV="0">
            <a:off x="2000250" y="4143375"/>
            <a:ext cx="4095750" cy="0"/>
          </a:xfrm>
          <a:prstGeom xmlns:a="http://schemas.openxmlformats.org/drawingml/2006/main" prst="straightConnector1">
            <a:avLst/>
          </a:prstGeom>
          <a:ln xmlns:a="http://schemas.openxmlformats.org/drawingml/2006/main" w="19050">
            <a:solidFill>
              <a:srgbClr val="789272"/>
            </a:solidFill>
          </a:ln>
        </p:spPr>
      </p:cxnSp>
      <p:cxnSp>
        <p:nvCxnSpPr>
          <p:cNvPr id="28" name="">
            <a:extLst xmlns:a="http://schemas.openxmlformats.org/drawingml/2006/main">
              <a:ext uri="{FF2B5EF4-FFF2-40B4-BE49-F238E27FC236}">
                <a16:creationId xmlns:a16="http://schemas.microsoft.com/office/drawing/2014/main" id="{6E9041EC-6FF0-4C04-9AC5-B8821B98CA9E}"/>
              </a:ext>
            </a:extLst>
          </p:cNvPr>
          <p:cNvCxnSpPr/>
          <p:nvPr/>
        </p:nvCxnSpPr>
        <p:spPr>
          <a:xfrm xmlns:a="http://schemas.openxmlformats.org/drawingml/2006/main" flipH="0" flipV="0">
            <a:off x="2000250" y="4143375"/>
            <a:ext cx="0" cy="238125"/>
          </a:xfrm>
          <a:prstGeom xmlns:a="http://schemas.openxmlformats.org/drawingml/2006/main" prst="straightConnector1">
            <a:avLst/>
          </a:prstGeom>
          <a:ln xmlns:a="http://schemas.openxmlformats.org/drawingml/2006/main" w="19050">
            <a:solidFill>
              <a:srgbClr val="789272"/>
            </a:solidFill>
          </a:ln>
        </p:spPr>
      </p:cxnSp>
      <p:cxnSp>
        <p:nvCxnSpPr>
          <p:cNvPr id="29" name="">
            <a:extLst xmlns:a="http://schemas.openxmlformats.org/drawingml/2006/main">
              <a:ext uri="{FF2B5EF4-FFF2-40B4-BE49-F238E27FC236}">
                <a16:creationId xmlns:a16="http://schemas.microsoft.com/office/drawing/2014/main" id="{1A151E79-DF5B-4245-B32B-E79472C48F50}"/>
              </a:ext>
            </a:extLst>
          </p:cNvPr>
          <p:cNvCxnSpPr/>
          <p:nvPr/>
        </p:nvCxnSpPr>
        <p:spPr>
          <a:xfrm xmlns:a="http://schemas.openxmlformats.org/drawingml/2006/main" flipH="0" flipV="0">
            <a:off x="6096000" y="4143375"/>
            <a:ext cx="0" cy="238125"/>
          </a:xfrm>
          <a:prstGeom xmlns:a="http://schemas.openxmlformats.org/drawingml/2006/main" prst="straightConnector1">
            <a:avLst/>
          </a:prstGeom>
          <a:ln xmlns:a="http://schemas.openxmlformats.org/drawingml/2006/main" w="19050">
            <a:solidFill>
              <a:srgbClr val="789272"/>
            </a:solidFill>
          </a:ln>
        </p:spPr>
      </p:cxnSp>
      <p:cxnSp>
        <p:nvCxnSpPr>
          <p:cNvPr id="30" name="">
            <a:extLst xmlns:a="http://schemas.openxmlformats.org/drawingml/2006/main">
              <a:ext uri="{FF2B5EF4-FFF2-40B4-BE49-F238E27FC236}">
                <a16:creationId xmlns:a16="http://schemas.microsoft.com/office/drawing/2014/main" id="{3F25C492-27B6-449E-BC84-ED717954C60E}"/>
              </a:ext>
            </a:extLst>
          </p:cNvPr>
          <p:cNvCxnSpPr/>
          <p:nvPr/>
        </p:nvCxnSpPr>
        <p:spPr>
          <a:xfrm xmlns:a="http://schemas.openxmlformats.org/drawingml/2006/main" flipH="0" flipV="0">
            <a:off x="6096000" y="4143375"/>
            <a:ext cx="4095750" cy="0"/>
          </a:xfrm>
          <a:prstGeom xmlns:a="http://schemas.openxmlformats.org/drawingml/2006/main" prst="straightConnector1">
            <a:avLst/>
          </a:prstGeom>
          <a:ln xmlns:a="http://schemas.openxmlformats.org/drawingml/2006/main" w="19050">
            <a:solidFill>
              <a:srgbClr val="789272"/>
            </a:solidFill>
          </a:ln>
        </p:spPr>
      </p:cxnSp>
      <p:cxnSp>
        <p:nvCxnSpPr>
          <p:cNvPr id="31" name="">
            <a:extLst xmlns:a="http://schemas.openxmlformats.org/drawingml/2006/main">
              <a:ext uri="{FF2B5EF4-FFF2-40B4-BE49-F238E27FC236}">
                <a16:creationId xmlns:a16="http://schemas.microsoft.com/office/drawing/2014/main" id="{328FDE4D-3510-487C-80BA-F6C24F41FAB8}"/>
              </a:ext>
            </a:extLst>
          </p:cNvPr>
          <p:cNvCxnSpPr/>
          <p:nvPr/>
        </p:nvCxnSpPr>
        <p:spPr>
          <a:xfrm xmlns:a="http://schemas.openxmlformats.org/drawingml/2006/main" flipH="0" flipV="0">
            <a:off x="10191750" y="4143375"/>
            <a:ext cx="0" cy="238125"/>
          </a:xfrm>
          <a:prstGeom xmlns:a="http://schemas.openxmlformats.org/drawingml/2006/main" prst="straightConnector1">
            <a:avLst/>
          </a:prstGeom>
          <a:ln xmlns:a="http://schemas.openxmlformats.org/drawingml/2006/main" w="19050">
            <a:solidFill>
              <a:srgbClr val="789272"/>
            </a:solidFill>
          </a:ln>
        </p:spPr>
      </p:cxnSp>
      <p:sp>
        <p:nvSpPr>
          <p:cNvPr id="32" name="text">
            <a:extLst xmlns:a="http://schemas.openxmlformats.org/drawingml/2006/main">
              <a:ext uri="{FF2B5EF4-FFF2-40B4-BE49-F238E27FC236}">
                <a16:creationId xmlns:a16="http://schemas.microsoft.com/office/drawing/2014/main" id="{45F5C3DE-23E8-4586-8D4E-3C68AD9438B9}"/>
              </a:ext>
            </a:extLst>
          </p:cNvPr>
          <p:cNvSpPr>
            <a:spLocks xmlns:a="http://schemas.openxmlformats.org/drawingml/2006/main" noGrp="1"/>
          </p:cNvSpPr>
          <p:nvPr/>
        </p:nvSpPr>
        <p:spPr>
          <a:xfrm xmlns:a="http://schemas.openxmlformats.org/drawingml/2006/main">
            <a:off x="7048500" y="3333750"/>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F4D3B"/>
                </a:solidFill>
                <a:latin typeface="Arial"/>
                <a:ea typeface="Arial"/>
                <a:cs typeface="Arial"/>
              </a:defRPr>
            </a:defPPr>
            <a:lvl1pPr>
              <a:defRPr sz="1725" b="1">
                <a:solidFill>
                  <a:srgbClr val="1F4D3B"/>
                </a:solidFill>
                <a:latin typeface="Arial"/>
                <a:ea typeface="Arial"/>
                <a:cs typeface="Arial"/>
              </a:defRPr>
            </a:lvl1pPr>
            <a:lvl2pPr>
              <a:defRPr sz="1725" b="1">
                <a:solidFill>
                  <a:srgbClr val="1F4D3B"/>
                </a:solidFill>
                <a:latin typeface="Arial"/>
                <a:ea typeface="Arial"/>
                <a:cs typeface="Arial"/>
              </a:defRPr>
            </a:lvl2pPr>
            <a:lvl3pPr>
              <a:defRPr sz="1725" b="1">
                <a:solidFill>
                  <a:srgbClr val="1F4D3B"/>
                </a:solidFill>
                <a:latin typeface="Arial"/>
                <a:ea typeface="Arial"/>
                <a:cs typeface="Arial"/>
              </a:defRPr>
            </a:lvl3pPr>
            <a:lvl4pPr>
              <a:defRPr sz="1725" b="1">
                <a:solidFill>
                  <a:srgbClr val="1F4D3B"/>
                </a:solidFill>
                <a:latin typeface="Arial"/>
                <a:ea typeface="Arial"/>
                <a:cs typeface="Arial"/>
              </a:defRPr>
            </a:lvl4pPr>
            <a:lvl5pPr>
              <a:defRPr sz="1725" b="1">
                <a:solidFill>
                  <a:srgbClr val="1F4D3B"/>
                </a:solidFill>
                <a:latin typeface="Arial"/>
                <a:ea typeface="Arial"/>
                <a:cs typeface="Arial"/>
              </a:defRPr>
            </a:lvl5pPr>
            <a:lvl6pPr>
              <a:defRPr sz="1725" b="1">
                <a:solidFill>
                  <a:srgbClr val="1F4D3B"/>
                </a:solidFill>
                <a:latin typeface="Arial"/>
                <a:ea typeface="Arial"/>
                <a:cs typeface="Arial"/>
              </a:defRPr>
            </a:lvl6pPr>
            <a:lvl7pPr>
              <a:defRPr sz="1725" b="1">
                <a:solidFill>
                  <a:srgbClr val="1F4D3B"/>
                </a:solidFill>
                <a:latin typeface="Arial"/>
                <a:ea typeface="Arial"/>
                <a:cs typeface="Arial"/>
              </a:defRPr>
            </a:lvl7pPr>
            <a:lvl8pPr>
              <a:defRPr sz="1725" b="1">
                <a:solidFill>
                  <a:srgbClr val="1F4D3B"/>
                </a:solidFill>
                <a:latin typeface="Arial"/>
                <a:ea typeface="Arial"/>
                <a:cs typeface="Arial"/>
              </a:defRPr>
            </a:lvl8pPr>
            <a:lvl9pPr>
              <a:defRPr sz="1725" b="1">
                <a:solidFill>
                  <a:srgbClr val="1F4D3B"/>
                </a:solidFill>
                <a:latin typeface="Arial"/>
                <a:ea typeface="Arial"/>
                <a:cs typeface="Arial"/>
              </a:defRPr>
            </a:lvl9pPr>
          </a:lstStyle>
          <a:p xmlns:a="http://schemas.openxmlformats.org/drawingml/2006/main">
            <a:pPr>
              <a:defRPr sz="1725" b="1">
                <a:solidFill>
                  <a:srgbClr val="1F4D3B"/>
                </a:solidFill>
                <a:latin typeface="Arial"/>
                <a:ea typeface="Arial"/>
                <a:cs typeface="Arial"/>
              </a:defRPr>
            </a:pPr>
            <a:r>
              <a:rPr sz="1725" b="1">
                <a:solidFill>
                  <a:srgbClr val="1F4D3B"/>
                </a:solidFill>
                <a:latin typeface="Arial"/>
                <a:ea typeface="Arial"/>
                <a:cs typeface="Arial"/>
              </a:rPr>
              <a:t>Partial, disjoint specialization</a:t>
            </a:r>
          </a:p>
        </p:txBody>
      </p:sp>
      <p:sp>
        <p:nvSpPr>
          <p:cNvPr id="33" name="text">
            <a:extLst xmlns:a="http://schemas.openxmlformats.org/drawingml/2006/main">
              <a:ext uri="{FF2B5EF4-FFF2-40B4-BE49-F238E27FC236}">
                <a16:creationId xmlns:a16="http://schemas.microsoft.com/office/drawing/2014/main" id="{10B812A5-93F6-4D74-8ACF-7D3BA94BD367}"/>
              </a:ext>
            </a:extLst>
          </p:cNvPr>
          <p:cNvSpPr>
            <a:spLocks xmlns:a="http://schemas.openxmlformats.org/drawingml/2006/main" noGrp="1"/>
          </p:cNvSpPr>
          <p:nvPr/>
        </p:nvSpPr>
        <p:spPr>
          <a:xfrm xmlns:a="http://schemas.openxmlformats.org/drawingml/2006/main">
            <a:off x="7048500" y="3714750"/>
            <a:ext cx="452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60735E"/>
                </a:solidFill>
                <a:latin typeface="Arial"/>
                <a:ea typeface="Arial"/>
                <a:cs typeface="Arial"/>
              </a:defRPr>
            </a:defPPr>
            <a:lvl1pPr>
              <a:defRPr sz="1350" b="0">
                <a:solidFill>
                  <a:srgbClr val="60735E"/>
                </a:solidFill>
                <a:latin typeface="Arial"/>
                <a:ea typeface="Arial"/>
                <a:cs typeface="Arial"/>
              </a:defRPr>
            </a:lvl1pPr>
            <a:lvl2pPr>
              <a:defRPr sz="1350" b="0">
                <a:solidFill>
                  <a:srgbClr val="60735E"/>
                </a:solidFill>
                <a:latin typeface="Arial"/>
                <a:ea typeface="Arial"/>
                <a:cs typeface="Arial"/>
              </a:defRPr>
            </a:lvl2pPr>
            <a:lvl3pPr>
              <a:defRPr sz="1350" b="0">
                <a:solidFill>
                  <a:srgbClr val="60735E"/>
                </a:solidFill>
                <a:latin typeface="Arial"/>
                <a:ea typeface="Arial"/>
                <a:cs typeface="Arial"/>
              </a:defRPr>
            </a:lvl3pPr>
            <a:lvl4pPr>
              <a:defRPr sz="1350" b="0">
                <a:solidFill>
                  <a:srgbClr val="60735E"/>
                </a:solidFill>
                <a:latin typeface="Arial"/>
                <a:ea typeface="Arial"/>
                <a:cs typeface="Arial"/>
              </a:defRPr>
            </a:lvl4pPr>
            <a:lvl5pPr>
              <a:defRPr sz="1350" b="0">
                <a:solidFill>
                  <a:srgbClr val="60735E"/>
                </a:solidFill>
                <a:latin typeface="Arial"/>
                <a:ea typeface="Arial"/>
                <a:cs typeface="Arial"/>
              </a:defRPr>
            </a:lvl5pPr>
            <a:lvl6pPr>
              <a:defRPr sz="1350" b="0">
                <a:solidFill>
                  <a:srgbClr val="60735E"/>
                </a:solidFill>
                <a:latin typeface="Arial"/>
                <a:ea typeface="Arial"/>
                <a:cs typeface="Arial"/>
              </a:defRPr>
            </a:lvl6pPr>
            <a:lvl7pPr>
              <a:defRPr sz="1350" b="0">
                <a:solidFill>
                  <a:srgbClr val="60735E"/>
                </a:solidFill>
                <a:latin typeface="Arial"/>
                <a:ea typeface="Arial"/>
                <a:cs typeface="Arial"/>
              </a:defRPr>
            </a:lvl7pPr>
            <a:lvl8pPr>
              <a:defRPr sz="1350" b="0">
                <a:solidFill>
                  <a:srgbClr val="60735E"/>
                </a:solidFill>
                <a:latin typeface="Arial"/>
                <a:ea typeface="Arial"/>
                <a:cs typeface="Arial"/>
              </a:defRPr>
            </a:lvl8pPr>
            <a:lvl9pPr>
              <a:defRPr sz="1350" b="0">
                <a:solidFill>
                  <a:srgbClr val="60735E"/>
                </a:solidFill>
                <a:latin typeface="Arial"/>
                <a:ea typeface="Arial"/>
                <a:cs typeface="Arial"/>
              </a:defRPr>
            </a:lvl9pPr>
          </a:lstStyle>
          <a:p xmlns:a="http://schemas.openxmlformats.org/drawingml/2006/main">
            <a:pPr>
              <a:defRPr sz="1350" b="0">
                <a:solidFill>
                  <a:srgbClr val="60735E"/>
                </a:solidFill>
                <a:latin typeface="Arial"/>
                <a:ea typeface="Arial"/>
                <a:cs typeface="Arial"/>
              </a:defRPr>
            </a:pPr>
            <a:r>
              <a:rPr sz="1350" b="0">
                <a:solidFill>
                  <a:srgbClr val="60735E"/>
                </a:solidFill>
                <a:latin typeface="Arial"/>
                <a:ea typeface="Arial"/>
                <a:cs typeface="Arial"/>
              </a:rPr>
              <a:t>d = disjoint. Single superclass line = partial.</a:t>
            </a:r>
          </a:p>
        </p:txBody>
      </p:sp>
      <p:sp>
        <p:nvSpPr>
          <p:cNvPr id="34" name="text">
            <a:extLst xmlns:a="http://schemas.openxmlformats.org/drawingml/2006/main">
              <a:ext uri="{FF2B5EF4-FFF2-40B4-BE49-F238E27FC236}">
                <a16:creationId xmlns:a16="http://schemas.microsoft.com/office/drawing/2014/main" id="{B22202C9-92EA-47F8-A2B7-637638694F2B}"/>
              </a:ext>
            </a:extLst>
          </p:cNvPr>
          <p:cNvSpPr>
            <a:spLocks xmlns:a="http://schemas.openxmlformats.org/drawingml/2006/main" noGrp="1"/>
          </p:cNvSpPr>
          <p:nvPr/>
        </p:nvSpPr>
        <p:spPr>
          <a:xfrm xmlns:a="http://schemas.openxmlformats.org/drawingml/2006/main">
            <a:off x="619125" y="5857875"/>
            <a:ext cx="10953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60735E"/>
                </a:solidFill>
                <a:latin typeface="Arial"/>
                <a:ea typeface="Arial"/>
                <a:cs typeface="Arial"/>
              </a:defRPr>
            </a:defPPr>
            <a:lvl1pPr>
              <a:defRPr sz="1500" b="0">
                <a:solidFill>
                  <a:srgbClr val="60735E"/>
                </a:solidFill>
                <a:latin typeface="Arial"/>
                <a:ea typeface="Arial"/>
                <a:cs typeface="Arial"/>
              </a:defRPr>
            </a:lvl1pPr>
            <a:lvl2pPr>
              <a:defRPr sz="1500" b="0">
                <a:solidFill>
                  <a:srgbClr val="60735E"/>
                </a:solidFill>
                <a:latin typeface="Arial"/>
                <a:ea typeface="Arial"/>
                <a:cs typeface="Arial"/>
              </a:defRPr>
            </a:lvl2pPr>
            <a:lvl3pPr>
              <a:defRPr sz="1500" b="0">
                <a:solidFill>
                  <a:srgbClr val="60735E"/>
                </a:solidFill>
                <a:latin typeface="Arial"/>
                <a:ea typeface="Arial"/>
                <a:cs typeface="Arial"/>
              </a:defRPr>
            </a:lvl3pPr>
            <a:lvl4pPr>
              <a:defRPr sz="1500" b="0">
                <a:solidFill>
                  <a:srgbClr val="60735E"/>
                </a:solidFill>
                <a:latin typeface="Arial"/>
                <a:ea typeface="Arial"/>
                <a:cs typeface="Arial"/>
              </a:defRPr>
            </a:lvl4pPr>
            <a:lvl5pPr>
              <a:defRPr sz="1500" b="0">
                <a:solidFill>
                  <a:srgbClr val="60735E"/>
                </a:solidFill>
                <a:latin typeface="Arial"/>
                <a:ea typeface="Arial"/>
                <a:cs typeface="Arial"/>
              </a:defRPr>
            </a:lvl5pPr>
            <a:lvl6pPr>
              <a:defRPr sz="1500" b="0">
                <a:solidFill>
                  <a:srgbClr val="60735E"/>
                </a:solidFill>
                <a:latin typeface="Arial"/>
                <a:ea typeface="Arial"/>
                <a:cs typeface="Arial"/>
              </a:defRPr>
            </a:lvl6pPr>
            <a:lvl7pPr>
              <a:defRPr sz="1500" b="0">
                <a:solidFill>
                  <a:srgbClr val="60735E"/>
                </a:solidFill>
                <a:latin typeface="Arial"/>
                <a:ea typeface="Arial"/>
                <a:cs typeface="Arial"/>
              </a:defRPr>
            </a:lvl7pPr>
            <a:lvl8pPr>
              <a:defRPr sz="1500" b="0">
                <a:solidFill>
                  <a:srgbClr val="60735E"/>
                </a:solidFill>
                <a:latin typeface="Arial"/>
                <a:ea typeface="Arial"/>
                <a:cs typeface="Arial"/>
              </a:defRPr>
            </a:lvl8pPr>
            <a:lvl9pPr>
              <a:defRPr sz="1500" b="0">
                <a:solidFill>
                  <a:srgbClr val="60735E"/>
                </a:solidFill>
                <a:latin typeface="Arial"/>
                <a:ea typeface="Arial"/>
                <a:cs typeface="Arial"/>
              </a:defRPr>
            </a:lvl9pPr>
          </a:lstStyle>
          <a:p xmlns:a="http://schemas.openxmlformats.org/drawingml/2006/main">
            <a:pPr>
              <a:defRPr sz="1500" b="0">
                <a:solidFill>
                  <a:srgbClr val="60735E"/>
                </a:solidFill>
                <a:latin typeface="Arial"/>
                <a:ea typeface="Arial"/>
                <a:cs typeface="Arial"/>
              </a:defRPr>
            </a:pPr>
            <a:r>
              <a:rPr sz="1500" b="0">
                <a:solidFill>
                  <a:srgbClr val="60735E"/>
                </a:solidFill>
                <a:latin typeface="Arial"/>
                <a:ea typeface="Arial"/>
                <a:cs typeface="Arial"/>
              </a:rPr>
              <a:t>ADMIN stays in USERS. The API enforces matching roles and subtype creation.</a:t>
            </a:r>
          </a:p>
        </p:txBody>
      </p:sp>
      <p:sp>
        <p:nvSpPr>
          <p:cNvPr id="35" name="slide-subtitle">
            <a:extLst xmlns:a="http://schemas.openxmlformats.org/drawingml/2006/main">
              <a:ext uri="{FF2B5EF4-FFF2-40B4-BE49-F238E27FC236}">
                <a16:creationId xmlns:a16="http://schemas.microsoft.com/office/drawing/2014/main" id="{62C1F351-2D6A-4ED2-94E8-440251708B8B}"/>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Identity and specialization. Shared USERS data with student, warden and staff subtypes.</a:t>
            </a:r>
          </a:p>
        </p:txBody>
      </p:sp>
    </p:spTree>
    <p:extLst>
      <p:ext uri="{BB962C8B-B14F-4D97-AF65-F5344CB8AC3E}">
        <p14:creationId xmlns:p14="http://schemas.microsoft.com/office/powerpoint/2010/main" val="664394040"/>
      </p:ext>
    </p:extLst>
  </p:cSld>
</p:sld>
</file>

<file path=ppt/slides/slide3.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76AFB110-2121-42BA-8464-A3C5854E22CC}"/>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Construction of ER/EER Diagram</a:t>
            </a:r>
          </a:p>
        </p:txBody>
      </p:sp>
      <p:sp>
        <p:nvSpPr>
          <p:cNvPr id="3" name="footer">
            <a:extLst xmlns:a="http://schemas.openxmlformats.org/drawingml/2006/main">
              <a:ext uri="{FF2B5EF4-FFF2-40B4-BE49-F238E27FC236}">
                <a16:creationId xmlns:a16="http://schemas.microsoft.com/office/drawing/2014/main" id="{AAEA73A9-0FB9-4CD1-8EA5-9A0A15A33C0B}"/>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63802E32-E86D-497A-8030-D2D0526F1956}"/>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03 / 36</a:t>
            </a:r>
          </a:p>
        </p:txBody>
      </p:sp>
      <p:sp>
        <p:nvSpPr>
          <p:cNvPr id="5" name="entity-WARDEN">
            <a:extLst xmlns:a="http://schemas.openxmlformats.org/drawingml/2006/main">
              <a:ext uri="{FF2B5EF4-FFF2-40B4-BE49-F238E27FC236}">
                <a16:creationId xmlns:a16="http://schemas.microsoft.com/office/drawing/2014/main" id="{D0192D47-6857-4421-828E-CE9C67D08C09}"/>
              </a:ext>
            </a:extLst>
          </p:cNvPr>
          <p:cNvSpPr>
            <a:spLocks xmlns:a="http://schemas.openxmlformats.org/drawingml/2006/main" noGrp="1"/>
          </p:cNvSpPr>
          <p:nvPr/>
        </p:nvSpPr>
        <p:spPr>
          <a:xfrm xmlns:a="http://schemas.openxmlformats.org/drawingml/2006/main">
            <a:off x="619125" y="1952625"/>
            <a:ext cx="2428875" cy="1000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6" name="entity-name-WARDEN">
            <a:extLst xmlns:a="http://schemas.openxmlformats.org/drawingml/2006/main">
              <a:ext uri="{FF2B5EF4-FFF2-40B4-BE49-F238E27FC236}">
                <a16:creationId xmlns:a16="http://schemas.microsoft.com/office/drawing/2014/main" id="{2C4C9552-867F-4696-A166-384E90638825}"/>
              </a:ext>
            </a:extLst>
          </p:cNvPr>
          <p:cNvSpPr>
            <a:spLocks xmlns:a="http://schemas.openxmlformats.org/drawingml/2006/main" noGrp="1"/>
          </p:cNvSpPr>
          <p:nvPr/>
        </p:nvSpPr>
        <p:spPr>
          <a:xfrm xmlns:a="http://schemas.openxmlformats.org/drawingml/2006/main">
            <a:off x="742950" y="2047875"/>
            <a:ext cx="2181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WARDEN</a:t>
            </a:r>
          </a:p>
        </p:txBody>
      </p:sp>
      <p:sp>
        <p:nvSpPr>
          <p:cNvPr id="7" name="entity-fields-WARDEN">
            <a:extLst xmlns:a="http://schemas.openxmlformats.org/drawingml/2006/main">
              <a:ext uri="{FF2B5EF4-FFF2-40B4-BE49-F238E27FC236}">
                <a16:creationId xmlns:a16="http://schemas.microsoft.com/office/drawing/2014/main" id="{44A50702-83CB-4A11-A67E-2B852A23704A}"/>
              </a:ext>
            </a:extLst>
          </p:cNvPr>
          <p:cNvSpPr>
            <a:spLocks xmlns:a="http://schemas.openxmlformats.org/drawingml/2006/main" noGrp="1"/>
          </p:cNvSpPr>
          <p:nvPr/>
        </p:nvSpPr>
        <p:spPr>
          <a:xfrm xmlns:a="http://schemas.openxmlformats.org/drawingml/2006/main">
            <a:off x="742950" y="2409825"/>
            <a:ext cx="2181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warden_id</a:t>
            </a:r>
          </a:p>
        </p:txBody>
      </p:sp>
      <p:sp>
        <p:nvSpPr>
          <p:cNvPr id="8" name="entity-HOSTEL_BLOCK">
            <a:extLst xmlns:a="http://schemas.openxmlformats.org/drawingml/2006/main">
              <a:ext uri="{FF2B5EF4-FFF2-40B4-BE49-F238E27FC236}">
                <a16:creationId xmlns:a16="http://schemas.microsoft.com/office/drawing/2014/main" id="{DF3EE5DF-F74B-4553-B49B-3A2D9A5CF824}"/>
              </a:ext>
            </a:extLst>
          </p:cNvPr>
          <p:cNvSpPr>
            <a:spLocks xmlns:a="http://schemas.openxmlformats.org/drawingml/2006/main" noGrp="1"/>
          </p:cNvSpPr>
          <p:nvPr/>
        </p:nvSpPr>
        <p:spPr>
          <a:xfrm xmlns:a="http://schemas.openxmlformats.org/drawingml/2006/main">
            <a:off x="4143375" y="1762125"/>
            <a:ext cx="3048000" cy="1476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9" name="entity-name-HOSTEL_BLOCK">
            <a:extLst xmlns:a="http://schemas.openxmlformats.org/drawingml/2006/main">
              <a:ext uri="{FF2B5EF4-FFF2-40B4-BE49-F238E27FC236}">
                <a16:creationId xmlns:a16="http://schemas.microsoft.com/office/drawing/2014/main" id="{3E7885FA-F37F-4FCD-8C5F-E7190D939FBA}"/>
              </a:ext>
            </a:extLst>
          </p:cNvPr>
          <p:cNvSpPr>
            <a:spLocks xmlns:a="http://schemas.openxmlformats.org/drawingml/2006/main" noGrp="1"/>
          </p:cNvSpPr>
          <p:nvPr/>
        </p:nvSpPr>
        <p:spPr>
          <a:xfrm xmlns:a="http://schemas.openxmlformats.org/drawingml/2006/main">
            <a:off x="4267200" y="1857375"/>
            <a:ext cx="2800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HOSTEL_BLOCK</a:t>
            </a:r>
          </a:p>
        </p:txBody>
      </p:sp>
      <p:sp>
        <p:nvSpPr>
          <p:cNvPr id="10" name="entity-fields-HOSTEL_BLOCK">
            <a:extLst xmlns:a="http://schemas.openxmlformats.org/drawingml/2006/main">
              <a:ext uri="{FF2B5EF4-FFF2-40B4-BE49-F238E27FC236}">
                <a16:creationId xmlns:a16="http://schemas.microsoft.com/office/drawing/2014/main" id="{BF8B8384-8E04-433F-A64E-09852F55C055}"/>
              </a:ext>
            </a:extLst>
          </p:cNvPr>
          <p:cNvSpPr>
            <a:spLocks xmlns:a="http://schemas.openxmlformats.org/drawingml/2006/main" noGrp="1"/>
          </p:cNvSpPr>
          <p:nvPr/>
        </p:nvSpPr>
        <p:spPr>
          <a:xfrm xmlns:a="http://schemas.openxmlformats.org/drawingml/2006/main">
            <a:off x="4267200" y="2219325"/>
            <a:ext cx="28003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block_id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FK/UQ warden_id (nullable)</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UQ block_name, gender_type</a:t>
            </a:r>
          </a:p>
        </p:txBody>
      </p:sp>
      <p:sp>
        <p:nvSpPr>
          <p:cNvPr id="11" name="entity-ROOM">
            <a:extLst xmlns:a="http://schemas.openxmlformats.org/drawingml/2006/main">
              <a:ext uri="{FF2B5EF4-FFF2-40B4-BE49-F238E27FC236}">
                <a16:creationId xmlns:a16="http://schemas.microsoft.com/office/drawing/2014/main" id="{C708ACF3-C6DE-4548-A300-3B807C75D3DA}"/>
              </a:ext>
            </a:extLst>
          </p:cNvPr>
          <p:cNvSpPr>
            <a:spLocks xmlns:a="http://schemas.openxmlformats.org/drawingml/2006/main" noGrp="1"/>
          </p:cNvSpPr>
          <p:nvPr/>
        </p:nvSpPr>
        <p:spPr>
          <a:xfrm xmlns:a="http://schemas.openxmlformats.org/drawingml/2006/main">
            <a:off x="8667750" y="1762125"/>
            <a:ext cx="2905125" cy="1476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2" name="entity-name-ROOM">
            <a:extLst xmlns:a="http://schemas.openxmlformats.org/drawingml/2006/main">
              <a:ext uri="{FF2B5EF4-FFF2-40B4-BE49-F238E27FC236}">
                <a16:creationId xmlns:a16="http://schemas.microsoft.com/office/drawing/2014/main" id="{6607D634-F86B-4FBB-8F3E-DA1E4EE34A46}"/>
              </a:ext>
            </a:extLst>
          </p:cNvPr>
          <p:cNvSpPr>
            <a:spLocks xmlns:a="http://schemas.openxmlformats.org/drawingml/2006/main" noGrp="1"/>
          </p:cNvSpPr>
          <p:nvPr/>
        </p:nvSpPr>
        <p:spPr>
          <a:xfrm xmlns:a="http://schemas.openxmlformats.org/drawingml/2006/main">
            <a:off x="8791575" y="1857375"/>
            <a:ext cx="26574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ROOM</a:t>
            </a:r>
          </a:p>
        </p:txBody>
      </p:sp>
      <p:sp>
        <p:nvSpPr>
          <p:cNvPr id="13" name="entity-fields-ROOM">
            <a:extLst xmlns:a="http://schemas.openxmlformats.org/drawingml/2006/main">
              <a:ext uri="{FF2B5EF4-FFF2-40B4-BE49-F238E27FC236}">
                <a16:creationId xmlns:a16="http://schemas.microsoft.com/office/drawing/2014/main" id="{76E58BC0-9511-47F5-9C68-BFA3FE6BF8C3}"/>
              </a:ext>
            </a:extLst>
          </p:cNvPr>
          <p:cNvSpPr>
            <a:spLocks xmlns:a="http://schemas.openxmlformats.org/drawingml/2006/main" noGrp="1"/>
          </p:cNvSpPr>
          <p:nvPr/>
        </p:nvSpPr>
        <p:spPr>
          <a:xfrm xmlns:a="http://schemas.openxmlformats.org/drawingml/2006/main">
            <a:off x="8791575" y="2219325"/>
            <a:ext cx="26574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room_id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block_id, type_code</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UQ (block_id, room_number)</a:t>
            </a:r>
          </a:p>
        </p:txBody>
      </p:sp>
      <p:sp>
        <p:nvSpPr>
          <p:cNvPr id="14" name="entity-STUDENT">
            <a:extLst xmlns:a="http://schemas.openxmlformats.org/drawingml/2006/main">
              <a:ext uri="{FF2B5EF4-FFF2-40B4-BE49-F238E27FC236}">
                <a16:creationId xmlns:a16="http://schemas.microsoft.com/office/drawing/2014/main" id="{99433979-454C-4882-A2A3-8B42E60349FD}"/>
              </a:ext>
            </a:extLst>
          </p:cNvPr>
          <p:cNvSpPr>
            <a:spLocks xmlns:a="http://schemas.openxmlformats.org/drawingml/2006/main" noGrp="1"/>
          </p:cNvSpPr>
          <p:nvPr/>
        </p:nvSpPr>
        <p:spPr>
          <a:xfrm xmlns:a="http://schemas.openxmlformats.org/drawingml/2006/main">
            <a:off x="619125" y="4762500"/>
            <a:ext cx="2428875"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5" name="entity-name-STUDENT">
            <a:extLst xmlns:a="http://schemas.openxmlformats.org/drawingml/2006/main">
              <a:ext uri="{FF2B5EF4-FFF2-40B4-BE49-F238E27FC236}">
                <a16:creationId xmlns:a16="http://schemas.microsoft.com/office/drawing/2014/main" id="{C4A2F235-FEBA-4211-8277-9A88E8A733BA}"/>
              </a:ext>
            </a:extLst>
          </p:cNvPr>
          <p:cNvSpPr>
            <a:spLocks xmlns:a="http://schemas.openxmlformats.org/drawingml/2006/main" noGrp="1"/>
          </p:cNvSpPr>
          <p:nvPr/>
        </p:nvSpPr>
        <p:spPr>
          <a:xfrm xmlns:a="http://schemas.openxmlformats.org/drawingml/2006/main">
            <a:off x="742950" y="4857750"/>
            <a:ext cx="2181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STUDENT</a:t>
            </a:r>
          </a:p>
        </p:txBody>
      </p:sp>
      <p:sp>
        <p:nvSpPr>
          <p:cNvPr id="16" name="entity-fields-STUDENT">
            <a:extLst xmlns:a="http://schemas.openxmlformats.org/drawingml/2006/main">
              <a:ext uri="{FF2B5EF4-FFF2-40B4-BE49-F238E27FC236}">
                <a16:creationId xmlns:a16="http://schemas.microsoft.com/office/drawing/2014/main" id="{529756C1-5593-4C5E-968B-D1F62D254318}"/>
              </a:ext>
            </a:extLst>
          </p:cNvPr>
          <p:cNvSpPr>
            <a:spLocks xmlns:a="http://schemas.openxmlformats.org/drawingml/2006/main" noGrp="1"/>
          </p:cNvSpPr>
          <p:nvPr/>
        </p:nvSpPr>
        <p:spPr>
          <a:xfrm xmlns:a="http://schemas.openxmlformats.org/drawingml/2006/main">
            <a:off x="742950" y="5219700"/>
            <a:ext cx="21812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student_id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UQ reg_no</a:t>
            </a:r>
          </a:p>
        </p:txBody>
      </p:sp>
      <p:sp>
        <p:nvSpPr>
          <p:cNvPr id="17" name="entity-ROOM_ALLOCATION">
            <a:extLst xmlns:a="http://schemas.openxmlformats.org/drawingml/2006/main">
              <a:ext uri="{FF2B5EF4-FFF2-40B4-BE49-F238E27FC236}">
                <a16:creationId xmlns:a16="http://schemas.microsoft.com/office/drawing/2014/main" id="{92A06081-3927-4B33-A3CD-2A2DB2810B13}"/>
              </a:ext>
            </a:extLst>
          </p:cNvPr>
          <p:cNvSpPr>
            <a:spLocks xmlns:a="http://schemas.openxmlformats.org/drawingml/2006/main" noGrp="1"/>
          </p:cNvSpPr>
          <p:nvPr/>
        </p:nvSpPr>
        <p:spPr>
          <a:xfrm xmlns:a="http://schemas.openxmlformats.org/drawingml/2006/main">
            <a:off x="4143375" y="4572000"/>
            <a:ext cx="3048000" cy="1476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8" name="entity-name-ROOM_ALLOCATION">
            <a:extLst xmlns:a="http://schemas.openxmlformats.org/drawingml/2006/main">
              <a:ext uri="{FF2B5EF4-FFF2-40B4-BE49-F238E27FC236}">
                <a16:creationId xmlns:a16="http://schemas.microsoft.com/office/drawing/2014/main" id="{EF651545-FBAD-46FC-B1F1-0115365CDE50}"/>
              </a:ext>
            </a:extLst>
          </p:cNvPr>
          <p:cNvSpPr>
            <a:spLocks xmlns:a="http://schemas.openxmlformats.org/drawingml/2006/main" noGrp="1"/>
          </p:cNvSpPr>
          <p:nvPr/>
        </p:nvSpPr>
        <p:spPr>
          <a:xfrm xmlns:a="http://schemas.openxmlformats.org/drawingml/2006/main">
            <a:off x="4267200" y="4667250"/>
            <a:ext cx="2800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ROOM_ALLOCATION</a:t>
            </a:r>
          </a:p>
        </p:txBody>
      </p:sp>
      <p:sp>
        <p:nvSpPr>
          <p:cNvPr id="19" name="entity-fields-ROOM_ALLOCATION">
            <a:extLst xmlns:a="http://schemas.openxmlformats.org/drawingml/2006/main">
              <a:ext uri="{FF2B5EF4-FFF2-40B4-BE49-F238E27FC236}">
                <a16:creationId xmlns:a16="http://schemas.microsoft.com/office/drawing/2014/main" id="{D2D552C5-3799-4D47-95E3-F67544F13905}"/>
              </a:ext>
            </a:extLst>
          </p:cNvPr>
          <p:cNvSpPr>
            <a:spLocks xmlns:a="http://schemas.openxmlformats.org/drawingml/2006/main" noGrp="1"/>
          </p:cNvSpPr>
          <p:nvPr/>
        </p:nvSpPr>
        <p:spPr>
          <a:xfrm xmlns:a="http://schemas.openxmlformats.org/drawingml/2006/main">
            <a:off x="4267200" y="5029200"/>
            <a:ext cx="28003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allocation_id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student_id, room_id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academic_year, status</a:t>
            </a:r>
          </a:p>
        </p:txBody>
      </p:sp>
      <p:sp>
        <p:nvSpPr>
          <p:cNvPr id="20" name="entity-ROOM_TYPE">
            <a:extLst xmlns:a="http://schemas.openxmlformats.org/drawingml/2006/main">
              <a:ext uri="{FF2B5EF4-FFF2-40B4-BE49-F238E27FC236}">
                <a16:creationId xmlns:a16="http://schemas.microsoft.com/office/drawing/2014/main" id="{E8284E3B-EDC4-4EDD-B614-DF3E887C3ADB}"/>
              </a:ext>
            </a:extLst>
          </p:cNvPr>
          <p:cNvSpPr>
            <a:spLocks xmlns:a="http://schemas.openxmlformats.org/drawingml/2006/main" noGrp="1"/>
          </p:cNvSpPr>
          <p:nvPr/>
        </p:nvSpPr>
        <p:spPr>
          <a:xfrm xmlns:a="http://schemas.openxmlformats.org/drawingml/2006/main">
            <a:off x="8667750" y="4762500"/>
            <a:ext cx="2905125"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1" name="entity-name-ROOM_TYPE">
            <a:extLst xmlns:a="http://schemas.openxmlformats.org/drawingml/2006/main">
              <a:ext uri="{FF2B5EF4-FFF2-40B4-BE49-F238E27FC236}">
                <a16:creationId xmlns:a16="http://schemas.microsoft.com/office/drawing/2014/main" id="{6BA84AD7-6F80-4770-8D2C-A1678B0E9CC6}"/>
              </a:ext>
            </a:extLst>
          </p:cNvPr>
          <p:cNvSpPr>
            <a:spLocks xmlns:a="http://schemas.openxmlformats.org/drawingml/2006/main" noGrp="1"/>
          </p:cNvSpPr>
          <p:nvPr/>
        </p:nvSpPr>
        <p:spPr>
          <a:xfrm xmlns:a="http://schemas.openxmlformats.org/drawingml/2006/main">
            <a:off x="8791575" y="4857750"/>
            <a:ext cx="26574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ROOM_TYPE</a:t>
            </a:r>
          </a:p>
        </p:txBody>
      </p:sp>
      <p:sp>
        <p:nvSpPr>
          <p:cNvPr id="22" name="entity-fields-ROOM_TYPE">
            <a:extLst xmlns:a="http://schemas.openxmlformats.org/drawingml/2006/main">
              <a:ext uri="{FF2B5EF4-FFF2-40B4-BE49-F238E27FC236}">
                <a16:creationId xmlns:a16="http://schemas.microsoft.com/office/drawing/2014/main" id="{FCF197AE-EBF9-47D9-B0B7-78B76216C798}"/>
              </a:ext>
            </a:extLst>
          </p:cNvPr>
          <p:cNvSpPr>
            <a:spLocks xmlns:a="http://schemas.openxmlformats.org/drawingml/2006/main" noGrp="1"/>
          </p:cNvSpPr>
          <p:nvPr/>
        </p:nvSpPr>
        <p:spPr>
          <a:xfrm xmlns:a="http://schemas.openxmlformats.org/drawingml/2006/main">
            <a:off x="8791575" y="5219700"/>
            <a:ext cx="26574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type_code</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capacity, annual_fee</a:t>
            </a:r>
          </a:p>
        </p:txBody>
      </p:sp>
      <p:cxnSp>
        <p:nvCxnSpPr>
          <p:cNvPr id="23" name="">
            <a:extLst xmlns:a="http://schemas.openxmlformats.org/drawingml/2006/main">
              <a:ext uri="{FF2B5EF4-FFF2-40B4-BE49-F238E27FC236}">
                <a16:creationId xmlns:a16="http://schemas.microsoft.com/office/drawing/2014/main" id="{902A3683-C0A5-485B-B7D4-43568E5C8FC0}"/>
              </a:ext>
            </a:extLst>
          </p:cNvPr>
          <p:cNvCxnSpPr/>
          <p:nvPr/>
        </p:nvCxnSpPr>
        <p:spPr>
          <a:xfrm xmlns:a="http://schemas.openxmlformats.org/drawingml/2006/main" flipH="0" flipV="0">
            <a:off x="3048000" y="2428875"/>
            <a:ext cx="1095375" cy="0"/>
          </a:xfrm>
          <a:prstGeom xmlns:a="http://schemas.openxmlformats.org/drawingml/2006/main" prst="straightConnector1">
            <a:avLst/>
          </a:prstGeom>
          <a:ln xmlns:a="http://schemas.openxmlformats.org/drawingml/2006/main" w="19050">
            <a:solidFill>
              <a:srgbClr val="789272"/>
            </a:solidFill>
          </a:ln>
        </p:spPr>
      </p:cxnSp>
      <p:sp>
        <p:nvSpPr>
          <p:cNvPr id="24" name="cardinality-0..1">
            <a:extLst xmlns:a="http://schemas.openxmlformats.org/drawingml/2006/main">
              <a:ext uri="{FF2B5EF4-FFF2-40B4-BE49-F238E27FC236}">
                <a16:creationId xmlns:a16="http://schemas.microsoft.com/office/drawing/2014/main" id="{2EE1F6FC-F1A1-421F-9D2B-12F3BEB3CBB2}"/>
              </a:ext>
            </a:extLst>
          </p:cNvPr>
          <p:cNvSpPr>
            <a:spLocks xmlns:a="http://schemas.openxmlformats.org/drawingml/2006/main" noGrp="1"/>
          </p:cNvSpPr>
          <p:nvPr/>
        </p:nvSpPr>
        <p:spPr>
          <a:xfrm xmlns:a="http://schemas.openxmlformats.org/drawingml/2006/main">
            <a:off x="3086100" y="212407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0..1</a:t>
            </a:r>
          </a:p>
        </p:txBody>
      </p:sp>
      <p:sp>
        <p:nvSpPr>
          <p:cNvPr id="25" name="cardinality-0..1">
            <a:extLst xmlns:a="http://schemas.openxmlformats.org/drawingml/2006/main">
              <a:ext uri="{FF2B5EF4-FFF2-40B4-BE49-F238E27FC236}">
                <a16:creationId xmlns:a16="http://schemas.microsoft.com/office/drawing/2014/main" id="{93722837-903B-45C8-92CE-1D54751B4C08}"/>
              </a:ext>
            </a:extLst>
          </p:cNvPr>
          <p:cNvSpPr>
            <a:spLocks xmlns:a="http://schemas.openxmlformats.org/drawingml/2006/main" noGrp="1"/>
          </p:cNvSpPr>
          <p:nvPr/>
        </p:nvSpPr>
        <p:spPr>
          <a:xfrm xmlns:a="http://schemas.openxmlformats.org/drawingml/2006/main">
            <a:off x="3648075" y="25336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0..1</a:t>
            </a:r>
          </a:p>
        </p:txBody>
      </p:sp>
      <p:cxnSp>
        <p:nvCxnSpPr>
          <p:cNvPr id="26" name="">
            <a:extLst xmlns:a="http://schemas.openxmlformats.org/drawingml/2006/main">
              <a:ext uri="{FF2B5EF4-FFF2-40B4-BE49-F238E27FC236}">
                <a16:creationId xmlns:a16="http://schemas.microsoft.com/office/drawing/2014/main" id="{9A2416B6-F368-4020-BEB9-EA1FCA5C83A5}"/>
              </a:ext>
            </a:extLst>
          </p:cNvPr>
          <p:cNvCxnSpPr/>
          <p:nvPr/>
        </p:nvCxnSpPr>
        <p:spPr>
          <a:xfrm xmlns:a="http://schemas.openxmlformats.org/drawingml/2006/main" flipH="0" flipV="0">
            <a:off x="7191375" y="2476500"/>
            <a:ext cx="1476375" cy="0"/>
          </a:xfrm>
          <a:prstGeom xmlns:a="http://schemas.openxmlformats.org/drawingml/2006/main" prst="straightConnector1">
            <a:avLst/>
          </a:prstGeom>
          <a:ln xmlns:a="http://schemas.openxmlformats.org/drawingml/2006/main" w="19050">
            <a:solidFill>
              <a:srgbClr val="789272"/>
            </a:solidFill>
          </a:ln>
        </p:spPr>
      </p:cxnSp>
      <p:sp>
        <p:nvSpPr>
          <p:cNvPr id="27" name="cardinality-1">
            <a:extLst xmlns:a="http://schemas.openxmlformats.org/drawingml/2006/main">
              <a:ext uri="{FF2B5EF4-FFF2-40B4-BE49-F238E27FC236}">
                <a16:creationId xmlns:a16="http://schemas.microsoft.com/office/drawing/2014/main" id="{47F8F81F-FA60-4E32-8216-E24BAC2F6B17}"/>
              </a:ext>
            </a:extLst>
          </p:cNvPr>
          <p:cNvSpPr>
            <a:spLocks xmlns:a="http://schemas.openxmlformats.org/drawingml/2006/main" noGrp="1"/>
          </p:cNvSpPr>
          <p:nvPr/>
        </p:nvSpPr>
        <p:spPr>
          <a:xfrm xmlns:a="http://schemas.openxmlformats.org/drawingml/2006/main">
            <a:off x="7286625" y="214312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28" name="cardinality-0..*">
            <a:extLst xmlns:a="http://schemas.openxmlformats.org/drawingml/2006/main">
              <a:ext uri="{FF2B5EF4-FFF2-40B4-BE49-F238E27FC236}">
                <a16:creationId xmlns:a16="http://schemas.microsoft.com/office/drawing/2014/main" id="{744F3756-D3F3-423A-BACC-B10A9AC39080}"/>
              </a:ext>
            </a:extLst>
          </p:cNvPr>
          <p:cNvSpPr>
            <a:spLocks xmlns:a="http://schemas.openxmlformats.org/drawingml/2006/main" noGrp="1"/>
          </p:cNvSpPr>
          <p:nvPr/>
        </p:nvSpPr>
        <p:spPr>
          <a:xfrm xmlns:a="http://schemas.openxmlformats.org/drawingml/2006/main">
            <a:off x="8105775" y="214312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29" name="">
            <a:extLst xmlns:a="http://schemas.openxmlformats.org/drawingml/2006/main">
              <a:ext uri="{FF2B5EF4-FFF2-40B4-BE49-F238E27FC236}">
                <a16:creationId xmlns:a16="http://schemas.microsoft.com/office/drawing/2014/main" id="{0ABD0978-D620-40C2-86EF-02EE63E2D646}"/>
              </a:ext>
            </a:extLst>
          </p:cNvPr>
          <p:cNvCxnSpPr/>
          <p:nvPr/>
        </p:nvCxnSpPr>
        <p:spPr>
          <a:xfrm xmlns:a="http://schemas.openxmlformats.org/drawingml/2006/main" flipH="0" flipV="0">
            <a:off x="3048000" y="5286375"/>
            <a:ext cx="1095375" cy="0"/>
          </a:xfrm>
          <a:prstGeom xmlns:a="http://schemas.openxmlformats.org/drawingml/2006/main" prst="straightConnector1">
            <a:avLst/>
          </a:prstGeom>
          <a:ln xmlns:a="http://schemas.openxmlformats.org/drawingml/2006/main" w="19050">
            <a:solidFill>
              <a:srgbClr val="789272"/>
            </a:solidFill>
          </a:ln>
        </p:spPr>
      </p:cxnSp>
      <p:sp>
        <p:nvSpPr>
          <p:cNvPr id="30" name="cardinality-1">
            <a:extLst xmlns:a="http://schemas.openxmlformats.org/drawingml/2006/main">
              <a:ext uri="{FF2B5EF4-FFF2-40B4-BE49-F238E27FC236}">
                <a16:creationId xmlns:a16="http://schemas.microsoft.com/office/drawing/2014/main" id="{B939AC51-1F23-4B42-B665-242BD35F5EFA}"/>
              </a:ext>
            </a:extLst>
          </p:cNvPr>
          <p:cNvSpPr>
            <a:spLocks xmlns:a="http://schemas.openxmlformats.org/drawingml/2006/main" noGrp="1"/>
          </p:cNvSpPr>
          <p:nvPr/>
        </p:nvSpPr>
        <p:spPr>
          <a:xfrm xmlns:a="http://schemas.openxmlformats.org/drawingml/2006/main">
            <a:off x="3114675" y="49530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31" name="cardinality-0..*">
            <a:extLst xmlns:a="http://schemas.openxmlformats.org/drawingml/2006/main">
              <a:ext uri="{FF2B5EF4-FFF2-40B4-BE49-F238E27FC236}">
                <a16:creationId xmlns:a16="http://schemas.microsoft.com/office/drawing/2014/main" id="{4F63D7A0-C553-4D17-BDCF-A71ECC33BC6C}"/>
              </a:ext>
            </a:extLst>
          </p:cNvPr>
          <p:cNvSpPr>
            <a:spLocks xmlns:a="http://schemas.openxmlformats.org/drawingml/2006/main" noGrp="1"/>
          </p:cNvSpPr>
          <p:nvPr/>
        </p:nvSpPr>
        <p:spPr>
          <a:xfrm xmlns:a="http://schemas.openxmlformats.org/drawingml/2006/main">
            <a:off x="3648075" y="538162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32" name="">
            <a:extLst xmlns:a="http://schemas.openxmlformats.org/drawingml/2006/main">
              <a:ext uri="{FF2B5EF4-FFF2-40B4-BE49-F238E27FC236}">
                <a16:creationId xmlns:a16="http://schemas.microsoft.com/office/drawing/2014/main" id="{291EE1D2-77F6-420A-B3FF-EE30DA9E3108}"/>
              </a:ext>
            </a:extLst>
          </p:cNvPr>
          <p:cNvCxnSpPr/>
          <p:nvPr/>
        </p:nvCxnSpPr>
        <p:spPr>
          <a:xfrm xmlns:a="http://schemas.openxmlformats.org/drawingml/2006/main" flipH="1" flipV="0">
            <a:off x="7953375" y="3000375"/>
            <a:ext cx="714375" cy="0"/>
          </a:xfrm>
          <a:prstGeom xmlns:a="http://schemas.openxmlformats.org/drawingml/2006/main" prst="straightConnector1">
            <a:avLst/>
          </a:prstGeom>
          <a:ln xmlns:a="http://schemas.openxmlformats.org/drawingml/2006/main" w="19050">
            <a:solidFill>
              <a:srgbClr val="789272"/>
            </a:solidFill>
          </a:ln>
        </p:spPr>
      </p:cxnSp>
      <p:cxnSp>
        <p:nvCxnSpPr>
          <p:cNvPr id="33" name="">
            <a:extLst xmlns:a="http://schemas.openxmlformats.org/drawingml/2006/main">
              <a:ext uri="{FF2B5EF4-FFF2-40B4-BE49-F238E27FC236}">
                <a16:creationId xmlns:a16="http://schemas.microsoft.com/office/drawing/2014/main" id="{EDEE3A9C-075F-4522-B973-57AF64EDE36E}"/>
              </a:ext>
            </a:extLst>
          </p:cNvPr>
          <p:cNvCxnSpPr/>
          <p:nvPr/>
        </p:nvCxnSpPr>
        <p:spPr>
          <a:xfrm xmlns:a="http://schemas.openxmlformats.org/drawingml/2006/main" flipH="0" flipV="0">
            <a:off x="7953375" y="3000375"/>
            <a:ext cx="0" cy="904875"/>
          </a:xfrm>
          <a:prstGeom xmlns:a="http://schemas.openxmlformats.org/drawingml/2006/main" prst="straightConnector1">
            <a:avLst/>
          </a:prstGeom>
          <a:ln xmlns:a="http://schemas.openxmlformats.org/drawingml/2006/main" w="19050">
            <a:solidFill>
              <a:srgbClr val="789272"/>
            </a:solidFill>
          </a:ln>
        </p:spPr>
      </p:cxnSp>
      <p:cxnSp>
        <p:nvCxnSpPr>
          <p:cNvPr id="34" name="">
            <a:extLst xmlns:a="http://schemas.openxmlformats.org/drawingml/2006/main">
              <a:ext uri="{FF2B5EF4-FFF2-40B4-BE49-F238E27FC236}">
                <a16:creationId xmlns:a16="http://schemas.microsoft.com/office/drawing/2014/main" id="{15FEECB3-0968-43EB-B056-AE101037B686}"/>
              </a:ext>
            </a:extLst>
          </p:cNvPr>
          <p:cNvCxnSpPr/>
          <p:nvPr/>
        </p:nvCxnSpPr>
        <p:spPr>
          <a:xfrm xmlns:a="http://schemas.openxmlformats.org/drawingml/2006/main" flipH="1" flipV="0">
            <a:off x="5667375" y="3905250"/>
            <a:ext cx="2286000" cy="0"/>
          </a:xfrm>
          <a:prstGeom xmlns:a="http://schemas.openxmlformats.org/drawingml/2006/main" prst="straightConnector1">
            <a:avLst/>
          </a:prstGeom>
          <a:ln xmlns:a="http://schemas.openxmlformats.org/drawingml/2006/main" w="19050">
            <a:solidFill>
              <a:srgbClr val="789272"/>
            </a:solidFill>
          </a:ln>
        </p:spPr>
      </p:cxnSp>
      <p:cxnSp>
        <p:nvCxnSpPr>
          <p:cNvPr id="35" name="">
            <a:extLst xmlns:a="http://schemas.openxmlformats.org/drawingml/2006/main">
              <a:ext uri="{FF2B5EF4-FFF2-40B4-BE49-F238E27FC236}">
                <a16:creationId xmlns:a16="http://schemas.microsoft.com/office/drawing/2014/main" id="{85B6C16E-B8B9-46E5-A169-2D95375B8078}"/>
              </a:ext>
            </a:extLst>
          </p:cNvPr>
          <p:cNvCxnSpPr/>
          <p:nvPr/>
        </p:nvCxnSpPr>
        <p:spPr>
          <a:xfrm xmlns:a="http://schemas.openxmlformats.org/drawingml/2006/main" flipH="0" flipV="0">
            <a:off x="5667375" y="3905250"/>
            <a:ext cx="0" cy="666750"/>
          </a:xfrm>
          <a:prstGeom xmlns:a="http://schemas.openxmlformats.org/drawingml/2006/main" prst="straightConnector1">
            <a:avLst/>
          </a:prstGeom>
          <a:ln xmlns:a="http://schemas.openxmlformats.org/drawingml/2006/main" w="19050">
            <a:solidFill>
              <a:srgbClr val="789272"/>
            </a:solidFill>
          </a:ln>
        </p:spPr>
      </p:cxnSp>
      <p:sp>
        <p:nvSpPr>
          <p:cNvPr id="36" name="cardinality-1">
            <a:extLst xmlns:a="http://schemas.openxmlformats.org/drawingml/2006/main">
              <a:ext uri="{FF2B5EF4-FFF2-40B4-BE49-F238E27FC236}">
                <a16:creationId xmlns:a16="http://schemas.microsoft.com/office/drawing/2014/main" id="{4351EBA6-6888-43D2-8B01-FE3B860AEF8E}"/>
              </a:ext>
            </a:extLst>
          </p:cNvPr>
          <p:cNvSpPr>
            <a:spLocks xmlns:a="http://schemas.openxmlformats.org/drawingml/2006/main" noGrp="1"/>
          </p:cNvSpPr>
          <p:nvPr/>
        </p:nvSpPr>
        <p:spPr>
          <a:xfrm xmlns:a="http://schemas.openxmlformats.org/drawingml/2006/main">
            <a:off x="8315325" y="267652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37" name="cardinality-0..*">
            <a:extLst xmlns:a="http://schemas.openxmlformats.org/drawingml/2006/main">
              <a:ext uri="{FF2B5EF4-FFF2-40B4-BE49-F238E27FC236}">
                <a16:creationId xmlns:a16="http://schemas.microsoft.com/office/drawing/2014/main" id="{7117387A-3961-43A9-8ED7-3FEA52D74685}"/>
              </a:ext>
            </a:extLst>
          </p:cNvPr>
          <p:cNvSpPr>
            <a:spLocks xmlns:a="http://schemas.openxmlformats.org/drawingml/2006/main" noGrp="1"/>
          </p:cNvSpPr>
          <p:nvPr/>
        </p:nvSpPr>
        <p:spPr>
          <a:xfrm xmlns:a="http://schemas.openxmlformats.org/drawingml/2006/main">
            <a:off x="5781675" y="42672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38" name="">
            <a:extLst xmlns:a="http://schemas.openxmlformats.org/drawingml/2006/main">
              <a:ext uri="{FF2B5EF4-FFF2-40B4-BE49-F238E27FC236}">
                <a16:creationId xmlns:a16="http://schemas.microsoft.com/office/drawing/2014/main" id="{57CD33F2-8B31-4D85-9F76-27E6565E8FE6}"/>
              </a:ext>
            </a:extLst>
          </p:cNvPr>
          <p:cNvCxnSpPr/>
          <p:nvPr/>
        </p:nvCxnSpPr>
        <p:spPr>
          <a:xfrm xmlns:a="http://schemas.openxmlformats.org/drawingml/2006/main" flipH="0" flipV="1">
            <a:off x="10096500" y="3238500"/>
            <a:ext cx="0" cy="1524000"/>
          </a:xfrm>
          <a:prstGeom xmlns:a="http://schemas.openxmlformats.org/drawingml/2006/main" prst="straightConnector1">
            <a:avLst/>
          </a:prstGeom>
          <a:ln xmlns:a="http://schemas.openxmlformats.org/drawingml/2006/main" w="19050">
            <a:solidFill>
              <a:srgbClr val="789272"/>
            </a:solidFill>
          </a:ln>
        </p:spPr>
      </p:cxnSp>
      <p:sp>
        <p:nvSpPr>
          <p:cNvPr id="39" name="cardinality-1">
            <a:extLst xmlns:a="http://schemas.openxmlformats.org/drawingml/2006/main">
              <a:ext uri="{FF2B5EF4-FFF2-40B4-BE49-F238E27FC236}">
                <a16:creationId xmlns:a16="http://schemas.microsoft.com/office/drawing/2014/main" id="{2DAAE8A0-CCB4-44A7-8AA3-0BC9DCB0AD45}"/>
              </a:ext>
            </a:extLst>
          </p:cNvPr>
          <p:cNvSpPr>
            <a:spLocks xmlns:a="http://schemas.openxmlformats.org/drawingml/2006/main" noGrp="1"/>
          </p:cNvSpPr>
          <p:nvPr/>
        </p:nvSpPr>
        <p:spPr>
          <a:xfrm xmlns:a="http://schemas.openxmlformats.org/drawingml/2006/main">
            <a:off x="10258425" y="44386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40" name="cardinality-0..*">
            <a:extLst xmlns:a="http://schemas.openxmlformats.org/drawingml/2006/main">
              <a:ext uri="{FF2B5EF4-FFF2-40B4-BE49-F238E27FC236}">
                <a16:creationId xmlns:a16="http://schemas.microsoft.com/office/drawing/2014/main" id="{1F1163CE-D08D-4F61-A96D-8C98F78EEE85}"/>
              </a:ext>
            </a:extLst>
          </p:cNvPr>
          <p:cNvSpPr>
            <a:spLocks xmlns:a="http://schemas.openxmlformats.org/drawingml/2006/main" noGrp="1"/>
          </p:cNvSpPr>
          <p:nvPr/>
        </p:nvSpPr>
        <p:spPr>
          <a:xfrm xmlns:a="http://schemas.openxmlformats.org/drawingml/2006/main">
            <a:off x="10258425" y="33337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sp>
        <p:nvSpPr>
          <p:cNvPr id="41" name="text">
            <a:extLst xmlns:a="http://schemas.openxmlformats.org/drawingml/2006/main">
              <a:ext uri="{FF2B5EF4-FFF2-40B4-BE49-F238E27FC236}">
                <a16:creationId xmlns:a16="http://schemas.microsoft.com/office/drawing/2014/main" id="{04C85D1D-1460-4869-8BF8-06D46BFF2BF6}"/>
              </a:ext>
            </a:extLst>
          </p:cNvPr>
          <p:cNvSpPr>
            <a:spLocks xmlns:a="http://schemas.openxmlformats.org/drawingml/2006/main" noGrp="1"/>
          </p:cNvSpPr>
          <p:nvPr/>
        </p:nvSpPr>
        <p:spPr>
          <a:xfrm xmlns:a="http://schemas.openxmlformats.org/drawingml/2006/main">
            <a:off x="619125" y="3524250"/>
            <a:ext cx="7000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1">
                <a:solidFill>
                  <a:srgbClr val="1F4D3B"/>
                </a:solidFill>
                <a:latin typeface="Arial"/>
                <a:ea typeface="Arial"/>
                <a:cs typeface="Arial"/>
              </a:defRPr>
            </a:defPPr>
            <a:lvl1pPr>
              <a:defRPr sz="1500" b="1">
                <a:solidFill>
                  <a:srgbClr val="1F4D3B"/>
                </a:solidFill>
                <a:latin typeface="Arial"/>
                <a:ea typeface="Arial"/>
                <a:cs typeface="Arial"/>
              </a:defRPr>
            </a:lvl1pPr>
            <a:lvl2pPr>
              <a:defRPr sz="1500" b="1">
                <a:solidFill>
                  <a:srgbClr val="1F4D3B"/>
                </a:solidFill>
                <a:latin typeface="Arial"/>
                <a:ea typeface="Arial"/>
                <a:cs typeface="Arial"/>
              </a:defRPr>
            </a:lvl2pPr>
            <a:lvl3pPr>
              <a:defRPr sz="1500" b="1">
                <a:solidFill>
                  <a:srgbClr val="1F4D3B"/>
                </a:solidFill>
                <a:latin typeface="Arial"/>
                <a:ea typeface="Arial"/>
                <a:cs typeface="Arial"/>
              </a:defRPr>
            </a:lvl3pPr>
            <a:lvl4pPr>
              <a:defRPr sz="1500" b="1">
                <a:solidFill>
                  <a:srgbClr val="1F4D3B"/>
                </a:solidFill>
                <a:latin typeface="Arial"/>
                <a:ea typeface="Arial"/>
                <a:cs typeface="Arial"/>
              </a:defRPr>
            </a:lvl4pPr>
            <a:lvl5pPr>
              <a:defRPr sz="1500" b="1">
                <a:solidFill>
                  <a:srgbClr val="1F4D3B"/>
                </a:solidFill>
                <a:latin typeface="Arial"/>
                <a:ea typeface="Arial"/>
                <a:cs typeface="Arial"/>
              </a:defRPr>
            </a:lvl5pPr>
            <a:lvl6pPr>
              <a:defRPr sz="1500" b="1">
                <a:solidFill>
                  <a:srgbClr val="1F4D3B"/>
                </a:solidFill>
                <a:latin typeface="Arial"/>
                <a:ea typeface="Arial"/>
                <a:cs typeface="Arial"/>
              </a:defRPr>
            </a:lvl6pPr>
            <a:lvl7pPr>
              <a:defRPr sz="1500" b="1">
                <a:solidFill>
                  <a:srgbClr val="1F4D3B"/>
                </a:solidFill>
                <a:latin typeface="Arial"/>
                <a:ea typeface="Arial"/>
                <a:cs typeface="Arial"/>
              </a:defRPr>
            </a:lvl7pPr>
            <a:lvl8pPr>
              <a:defRPr sz="1500" b="1">
                <a:solidFill>
                  <a:srgbClr val="1F4D3B"/>
                </a:solidFill>
                <a:latin typeface="Arial"/>
                <a:ea typeface="Arial"/>
                <a:cs typeface="Arial"/>
              </a:defRPr>
            </a:lvl8pPr>
            <a:lvl9pPr>
              <a:defRPr sz="1500" b="1">
                <a:solidFill>
                  <a:srgbClr val="1F4D3B"/>
                </a:solidFill>
                <a:latin typeface="Arial"/>
                <a:ea typeface="Arial"/>
                <a:cs typeface="Arial"/>
              </a:defRPr>
            </a:lvl9pPr>
          </a:lstStyle>
          <a:p xmlns:a="http://schemas.openxmlformats.org/drawingml/2006/main">
            <a:pPr>
              <a:defRPr sz="1500" b="1">
                <a:solidFill>
                  <a:srgbClr val="1F4D3B"/>
                </a:solidFill>
                <a:latin typeface="Arial"/>
                <a:ea typeface="Arial"/>
                <a:cs typeface="Arial"/>
              </a:defRPr>
            </a:pPr>
            <a:r>
              <a:rPr sz="1500" b="1">
                <a:solidFill>
                  <a:srgbClr val="1F4D3B"/>
                </a:solidFill>
                <a:latin typeface="Arial"/>
                <a:ea typeface="Arial"/>
                <a:cs typeface="Arial"/>
              </a:rPr>
              <a:t>Allocation cardinalities include history. Active capacity is enforced by rules.</a:t>
            </a:r>
          </a:p>
        </p:txBody>
      </p:sp>
      <p:sp>
        <p:nvSpPr>
          <p:cNvPr id="42" name="er-legend">
            <a:extLst xmlns:a="http://schemas.openxmlformats.org/drawingml/2006/main">
              <a:ext uri="{FF2B5EF4-FFF2-40B4-BE49-F238E27FC236}">
                <a16:creationId xmlns:a16="http://schemas.microsoft.com/office/drawing/2014/main" id="{2966803C-FD5C-4571-AE46-40B4B0DECCDF}"/>
              </a:ext>
            </a:extLst>
          </p:cNvPr>
          <p:cNvSpPr>
            <a:spLocks xmlns:a="http://schemas.openxmlformats.org/drawingml/2006/main" noGrp="1"/>
          </p:cNvSpPr>
          <p:nvPr/>
        </p:nvSpPr>
        <p:spPr>
          <a:xfrm xmlns:a="http://schemas.openxmlformats.org/drawingml/2006/main">
            <a:off x="619125" y="6096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60735E"/>
                </a:solidFill>
                <a:latin typeface="Arial"/>
                <a:ea typeface="Arial"/>
                <a:cs typeface="Arial"/>
              </a:defRPr>
            </a:defPPr>
            <a:lvl1pPr>
              <a:defRPr sz="1350" b="0">
                <a:solidFill>
                  <a:srgbClr val="60735E"/>
                </a:solidFill>
                <a:latin typeface="Arial"/>
                <a:ea typeface="Arial"/>
                <a:cs typeface="Arial"/>
              </a:defRPr>
            </a:lvl1pPr>
            <a:lvl2pPr>
              <a:defRPr sz="1350" b="0">
                <a:solidFill>
                  <a:srgbClr val="60735E"/>
                </a:solidFill>
                <a:latin typeface="Arial"/>
                <a:ea typeface="Arial"/>
                <a:cs typeface="Arial"/>
              </a:defRPr>
            </a:lvl2pPr>
            <a:lvl3pPr>
              <a:defRPr sz="1350" b="0">
                <a:solidFill>
                  <a:srgbClr val="60735E"/>
                </a:solidFill>
                <a:latin typeface="Arial"/>
                <a:ea typeface="Arial"/>
                <a:cs typeface="Arial"/>
              </a:defRPr>
            </a:lvl3pPr>
            <a:lvl4pPr>
              <a:defRPr sz="1350" b="0">
                <a:solidFill>
                  <a:srgbClr val="60735E"/>
                </a:solidFill>
                <a:latin typeface="Arial"/>
                <a:ea typeface="Arial"/>
                <a:cs typeface="Arial"/>
              </a:defRPr>
            </a:lvl4pPr>
            <a:lvl5pPr>
              <a:defRPr sz="1350" b="0">
                <a:solidFill>
                  <a:srgbClr val="60735E"/>
                </a:solidFill>
                <a:latin typeface="Arial"/>
                <a:ea typeface="Arial"/>
                <a:cs typeface="Arial"/>
              </a:defRPr>
            </a:lvl5pPr>
            <a:lvl6pPr>
              <a:defRPr sz="1350" b="0">
                <a:solidFill>
                  <a:srgbClr val="60735E"/>
                </a:solidFill>
                <a:latin typeface="Arial"/>
                <a:ea typeface="Arial"/>
                <a:cs typeface="Arial"/>
              </a:defRPr>
            </a:lvl6pPr>
            <a:lvl7pPr>
              <a:defRPr sz="1350" b="0">
                <a:solidFill>
                  <a:srgbClr val="60735E"/>
                </a:solidFill>
                <a:latin typeface="Arial"/>
                <a:ea typeface="Arial"/>
                <a:cs typeface="Arial"/>
              </a:defRPr>
            </a:lvl7pPr>
            <a:lvl8pPr>
              <a:defRPr sz="1350" b="0">
                <a:solidFill>
                  <a:srgbClr val="60735E"/>
                </a:solidFill>
                <a:latin typeface="Arial"/>
                <a:ea typeface="Arial"/>
                <a:cs typeface="Arial"/>
              </a:defRPr>
            </a:lvl8pPr>
            <a:lvl9pPr>
              <a:defRPr sz="1350" b="0">
                <a:solidFill>
                  <a:srgbClr val="60735E"/>
                </a:solidFill>
                <a:latin typeface="Arial"/>
                <a:ea typeface="Arial"/>
                <a:cs typeface="Arial"/>
              </a:defRPr>
            </a:lvl9pPr>
          </a:lstStyle>
          <a:p xmlns:a="http://schemas.openxmlformats.org/drawingml/2006/main">
            <a:pPr>
              <a:defRPr sz="1350" b="0">
                <a:solidFill>
                  <a:srgbClr val="60735E"/>
                </a:solidFill>
                <a:latin typeface="Arial"/>
                <a:ea typeface="Arial"/>
                <a:cs typeface="Arial"/>
              </a:defRPr>
            </a:pPr>
            <a:r>
              <a:rPr sz="1350" b="0">
                <a:solidFill>
                  <a:srgbClr val="60735E"/>
                </a:solidFill>
                <a:latin typeface="Arial"/>
                <a:ea typeface="Arial"/>
                <a:cs typeface="Arial"/>
              </a:rPr>
              <a:t>End labels = instances per opposite entity.  0..* = zero or many.  Selected attributes shown.</a:t>
            </a:r>
          </a:p>
        </p:txBody>
      </p:sp>
      <p:sp>
        <p:nvSpPr>
          <p:cNvPr id="43" name="slide-subtitle">
            <a:extLst xmlns:a="http://schemas.openxmlformats.org/drawingml/2006/main">
              <a:ext uri="{FF2B5EF4-FFF2-40B4-BE49-F238E27FC236}">
                <a16:creationId xmlns:a16="http://schemas.microsoft.com/office/drawing/2014/main" id="{CD5691DF-1B82-4FC7-BD9E-2764447F6491}"/>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Accommodation model. PK = primary key, FK = foreign key, UQ = unique key.</a:t>
            </a:r>
          </a:p>
        </p:txBody>
      </p:sp>
    </p:spTree>
    <p:extLst>
      <p:ext uri="{BB962C8B-B14F-4D97-AF65-F5344CB8AC3E}">
        <p14:creationId xmlns:p14="http://schemas.microsoft.com/office/powerpoint/2010/main" val="302744211"/>
      </p:ext>
    </p:extLst>
  </p:cSld>
</p:sld>
</file>

<file path=ppt/slides/slide4.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3D53B7F5-0B48-400E-AC5B-5D604F2ECC4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Construction of ER/EER Diagram</a:t>
            </a:r>
          </a:p>
        </p:txBody>
      </p:sp>
      <p:sp>
        <p:nvSpPr>
          <p:cNvPr id="3" name="footer">
            <a:extLst xmlns:a="http://schemas.openxmlformats.org/drawingml/2006/main">
              <a:ext uri="{FF2B5EF4-FFF2-40B4-BE49-F238E27FC236}">
                <a16:creationId xmlns:a16="http://schemas.microsoft.com/office/drawing/2014/main" id="{8BC461EC-0D88-452D-B75A-261F89BB5DD5}"/>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F82A242F-1383-47DB-9E6A-A2FCC3245559}"/>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04 / 36</a:t>
            </a:r>
          </a:p>
        </p:txBody>
      </p:sp>
      <p:sp>
        <p:nvSpPr>
          <p:cNvPr id="5" name="entity-STUDENT">
            <a:extLst xmlns:a="http://schemas.openxmlformats.org/drawingml/2006/main">
              <a:ext uri="{FF2B5EF4-FFF2-40B4-BE49-F238E27FC236}">
                <a16:creationId xmlns:a16="http://schemas.microsoft.com/office/drawing/2014/main" id="{8376E776-FD12-42D2-9A93-5D6E3354B682}"/>
              </a:ext>
            </a:extLst>
          </p:cNvPr>
          <p:cNvSpPr>
            <a:spLocks xmlns:a="http://schemas.openxmlformats.org/drawingml/2006/main" noGrp="1"/>
          </p:cNvSpPr>
          <p:nvPr/>
        </p:nvSpPr>
        <p:spPr>
          <a:xfrm xmlns:a="http://schemas.openxmlformats.org/drawingml/2006/main">
            <a:off x="619125" y="1857375"/>
            <a:ext cx="2333625" cy="9048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6" name="entity-name-STUDENT">
            <a:extLst xmlns:a="http://schemas.openxmlformats.org/drawingml/2006/main">
              <a:ext uri="{FF2B5EF4-FFF2-40B4-BE49-F238E27FC236}">
                <a16:creationId xmlns:a16="http://schemas.microsoft.com/office/drawing/2014/main" id="{A64C3528-568B-489B-8687-07AADAB7E00A}"/>
              </a:ext>
            </a:extLst>
          </p:cNvPr>
          <p:cNvSpPr>
            <a:spLocks xmlns:a="http://schemas.openxmlformats.org/drawingml/2006/main" noGrp="1"/>
          </p:cNvSpPr>
          <p:nvPr/>
        </p:nvSpPr>
        <p:spPr>
          <a:xfrm xmlns:a="http://schemas.openxmlformats.org/drawingml/2006/main">
            <a:off x="742950" y="1952625"/>
            <a:ext cx="20859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STUDENT</a:t>
            </a:r>
          </a:p>
        </p:txBody>
      </p:sp>
      <p:sp>
        <p:nvSpPr>
          <p:cNvPr id="7" name="entity-fields-STUDENT">
            <a:extLst xmlns:a="http://schemas.openxmlformats.org/drawingml/2006/main">
              <a:ext uri="{FF2B5EF4-FFF2-40B4-BE49-F238E27FC236}">
                <a16:creationId xmlns:a16="http://schemas.microsoft.com/office/drawing/2014/main" id="{2C86801C-B6C4-4669-889A-64403499ACFA}"/>
              </a:ext>
            </a:extLst>
          </p:cNvPr>
          <p:cNvSpPr>
            <a:spLocks xmlns:a="http://schemas.openxmlformats.org/drawingml/2006/main" noGrp="1"/>
          </p:cNvSpPr>
          <p:nvPr/>
        </p:nvSpPr>
        <p:spPr>
          <a:xfrm xmlns:a="http://schemas.openxmlformats.org/drawingml/2006/main">
            <a:off x="742950" y="2314575"/>
            <a:ext cx="2085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student_id</a:t>
            </a:r>
          </a:p>
        </p:txBody>
      </p:sp>
      <p:sp>
        <p:nvSpPr>
          <p:cNvPr id="8" name="entity-ROOM">
            <a:extLst xmlns:a="http://schemas.openxmlformats.org/drawingml/2006/main">
              <a:ext uri="{FF2B5EF4-FFF2-40B4-BE49-F238E27FC236}">
                <a16:creationId xmlns:a16="http://schemas.microsoft.com/office/drawing/2014/main" id="{632617C3-1807-4485-A4ED-411C5592C8AB}"/>
              </a:ext>
            </a:extLst>
          </p:cNvPr>
          <p:cNvSpPr>
            <a:spLocks xmlns:a="http://schemas.openxmlformats.org/drawingml/2006/main" noGrp="1"/>
          </p:cNvSpPr>
          <p:nvPr/>
        </p:nvSpPr>
        <p:spPr>
          <a:xfrm xmlns:a="http://schemas.openxmlformats.org/drawingml/2006/main">
            <a:off x="619125" y="3476625"/>
            <a:ext cx="2333625" cy="9048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9" name="entity-name-ROOM">
            <a:extLst xmlns:a="http://schemas.openxmlformats.org/drawingml/2006/main">
              <a:ext uri="{FF2B5EF4-FFF2-40B4-BE49-F238E27FC236}">
                <a16:creationId xmlns:a16="http://schemas.microsoft.com/office/drawing/2014/main" id="{0A5CBB38-0712-48CC-8D13-BB4BD8EA78DF}"/>
              </a:ext>
            </a:extLst>
          </p:cNvPr>
          <p:cNvSpPr>
            <a:spLocks xmlns:a="http://schemas.openxmlformats.org/drawingml/2006/main" noGrp="1"/>
          </p:cNvSpPr>
          <p:nvPr/>
        </p:nvSpPr>
        <p:spPr>
          <a:xfrm xmlns:a="http://schemas.openxmlformats.org/drawingml/2006/main">
            <a:off x="742950" y="3571875"/>
            <a:ext cx="20859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ROOM</a:t>
            </a:r>
          </a:p>
        </p:txBody>
      </p:sp>
      <p:sp>
        <p:nvSpPr>
          <p:cNvPr id="10" name="entity-fields-ROOM">
            <a:extLst xmlns:a="http://schemas.openxmlformats.org/drawingml/2006/main">
              <a:ext uri="{FF2B5EF4-FFF2-40B4-BE49-F238E27FC236}">
                <a16:creationId xmlns:a16="http://schemas.microsoft.com/office/drawing/2014/main" id="{5D9F1B19-CC25-4908-8520-3D680C456AEF}"/>
              </a:ext>
            </a:extLst>
          </p:cNvPr>
          <p:cNvSpPr>
            <a:spLocks xmlns:a="http://schemas.openxmlformats.org/drawingml/2006/main" noGrp="1"/>
          </p:cNvSpPr>
          <p:nvPr/>
        </p:nvSpPr>
        <p:spPr>
          <a:xfrm xmlns:a="http://schemas.openxmlformats.org/drawingml/2006/main">
            <a:off x="742950" y="3933825"/>
            <a:ext cx="2085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room_id</a:t>
            </a:r>
          </a:p>
        </p:txBody>
      </p:sp>
      <p:sp>
        <p:nvSpPr>
          <p:cNvPr id="11" name="entity-COMPLAINT_CATEGORY">
            <a:extLst xmlns:a="http://schemas.openxmlformats.org/drawingml/2006/main">
              <a:ext uri="{FF2B5EF4-FFF2-40B4-BE49-F238E27FC236}">
                <a16:creationId xmlns:a16="http://schemas.microsoft.com/office/drawing/2014/main" id="{35F765ED-FF46-46CF-B471-CA007DEBBF98}"/>
              </a:ext>
            </a:extLst>
          </p:cNvPr>
          <p:cNvSpPr>
            <a:spLocks xmlns:a="http://schemas.openxmlformats.org/drawingml/2006/main" noGrp="1"/>
          </p:cNvSpPr>
          <p:nvPr/>
        </p:nvSpPr>
        <p:spPr>
          <a:xfrm xmlns:a="http://schemas.openxmlformats.org/drawingml/2006/main">
            <a:off x="619125" y="4905375"/>
            <a:ext cx="2333625"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2" name="entity-name-COMPLAINT_CATEGORY">
            <a:extLst xmlns:a="http://schemas.openxmlformats.org/drawingml/2006/main">
              <a:ext uri="{FF2B5EF4-FFF2-40B4-BE49-F238E27FC236}">
                <a16:creationId xmlns:a16="http://schemas.microsoft.com/office/drawing/2014/main" id="{43CCF8FD-3E51-4293-B6FF-5857009E3B7E}"/>
              </a:ext>
            </a:extLst>
          </p:cNvPr>
          <p:cNvSpPr>
            <a:spLocks xmlns:a="http://schemas.openxmlformats.org/drawingml/2006/main" noGrp="1"/>
          </p:cNvSpPr>
          <p:nvPr/>
        </p:nvSpPr>
        <p:spPr>
          <a:xfrm xmlns:a="http://schemas.openxmlformats.org/drawingml/2006/main">
            <a:off x="742950" y="5000625"/>
            <a:ext cx="20859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COMPLAINT_CATEGORY</a:t>
            </a:r>
          </a:p>
        </p:txBody>
      </p:sp>
      <p:sp>
        <p:nvSpPr>
          <p:cNvPr id="13" name="entity-fields-COMPLAINT_CATEGORY">
            <a:extLst xmlns:a="http://schemas.openxmlformats.org/drawingml/2006/main">
              <a:ext uri="{FF2B5EF4-FFF2-40B4-BE49-F238E27FC236}">
                <a16:creationId xmlns:a16="http://schemas.microsoft.com/office/drawing/2014/main" id="{C5ADF29F-77BE-42C6-A386-695D1276D413}"/>
              </a:ext>
            </a:extLst>
          </p:cNvPr>
          <p:cNvSpPr>
            <a:spLocks xmlns:a="http://schemas.openxmlformats.org/drawingml/2006/main" noGrp="1"/>
          </p:cNvSpPr>
          <p:nvPr/>
        </p:nvSpPr>
        <p:spPr>
          <a:xfrm xmlns:a="http://schemas.openxmlformats.org/drawingml/2006/main">
            <a:off x="742950" y="5362575"/>
            <a:ext cx="2085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category_id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sla_hours</a:t>
            </a:r>
          </a:p>
        </p:txBody>
      </p:sp>
      <p:sp>
        <p:nvSpPr>
          <p:cNvPr id="14" name="entity-COMPLAINT">
            <a:extLst xmlns:a="http://schemas.openxmlformats.org/drawingml/2006/main">
              <a:ext uri="{FF2B5EF4-FFF2-40B4-BE49-F238E27FC236}">
                <a16:creationId xmlns:a16="http://schemas.microsoft.com/office/drawing/2014/main" id="{65625BB1-47BB-4FDB-A58F-485D4A79F9BC}"/>
              </a:ext>
            </a:extLst>
          </p:cNvPr>
          <p:cNvSpPr>
            <a:spLocks xmlns:a="http://schemas.openxmlformats.org/drawingml/2006/main" noGrp="1"/>
          </p:cNvSpPr>
          <p:nvPr/>
        </p:nvSpPr>
        <p:spPr>
          <a:xfrm xmlns:a="http://schemas.openxmlformats.org/drawingml/2006/main">
            <a:off x="4476750" y="2286000"/>
            <a:ext cx="3381375" cy="2905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5" name="entity-name-COMPLAINT">
            <a:extLst xmlns:a="http://schemas.openxmlformats.org/drawingml/2006/main">
              <a:ext uri="{FF2B5EF4-FFF2-40B4-BE49-F238E27FC236}">
                <a16:creationId xmlns:a16="http://schemas.microsoft.com/office/drawing/2014/main" id="{ABD82FB7-BA52-440A-A1DA-B75612447141}"/>
              </a:ext>
            </a:extLst>
          </p:cNvPr>
          <p:cNvSpPr>
            <a:spLocks xmlns:a="http://schemas.openxmlformats.org/drawingml/2006/main" noGrp="1"/>
          </p:cNvSpPr>
          <p:nvPr/>
        </p:nvSpPr>
        <p:spPr>
          <a:xfrm xmlns:a="http://schemas.openxmlformats.org/drawingml/2006/main">
            <a:off x="4600575" y="2381250"/>
            <a:ext cx="3133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COMPLAINT</a:t>
            </a:r>
          </a:p>
        </p:txBody>
      </p:sp>
      <p:sp>
        <p:nvSpPr>
          <p:cNvPr id="16" name="entity-fields-COMPLAINT">
            <a:extLst xmlns:a="http://schemas.openxmlformats.org/drawingml/2006/main">
              <a:ext uri="{FF2B5EF4-FFF2-40B4-BE49-F238E27FC236}">
                <a16:creationId xmlns:a16="http://schemas.microsoft.com/office/drawing/2014/main" id="{3C0E1A62-059A-438B-B8F3-56A3E3B58CCD}"/>
              </a:ext>
            </a:extLst>
          </p:cNvPr>
          <p:cNvSpPr>
            <a:spLocks xmlns:a="http://schemas.openxmlformats.org/drawingml/2006/main" noGrp="1"/>
          </p:cNvSpPr>
          <p:nvPr/>
        </p:nvSpPr>
        <p:spPr>
          <a:xfrm xmlns:a="http://schemas.openxmlformats.org/drawingml/2006/main">
            <a:off x="4600575" y="2743200"/>
            <a:ext cx="3133725"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complaint_id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student_id, room_id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category_id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assigned_staff_id (nullable)</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title, priority, status</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created_at, resolved_at</a:t>
            </a:r>
          </a:p>
        </p:txBody>
      </p:sp>
      <p:sp>
        <p:nvSpPr>
          <p:cNvPr id="17" name="entity-MAINTENANCE_STAFF">
            <a:extLst xmlns:a="http://schemas.openxmlformats.org/drawingml/2006/main">
              <a:ext uri="{FF2B5EF4-FFF2-40B4-BE49-F238E27FC236}">
                <a16:creationId xmlns:a16="http://schemas.microsoft.com/office/drawing/2014/main" id="{4222B529-0411-49A0-BC6B-B38B3FC345C2}"/>
              </a:ext>
            </a:extLst>
          </p:cNvPr>
          <p:cNvSpPr>
            <a:spLocks xmlns:a="http://schemas.openxmlformats.org/drawingml/2006/main" noGrp="1"/>
          </p:cNvSpPr>
          <p:nvPr/>
        </p:nvSpPr>
        <p:spPr>
          <a:xfrm xmlns:a="http://schemas.openxmlformats.org/drawingml/2006/main">
            <a:off x="9334500" y="1857375"/>
            <a:ext cx="2238375" cy="9048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8" name="entity-name-MAINTENANCE_STAFF">
            <a:extLst xmlns:a="http://schemas.openxmlformats.org/drawingml/2006/main">
              <a:ext uri="{FF2B5EF4-FFF2-40B4-BE49-F238E27FC236}">
                <a16:creationId xmlns:a16="http://schemas.microsoft.com/office/drawing/2014/main" id="{EDDB2439-88F3-4204-B5E7-93E0AE6A4591}"/>
              </a:ext>
            </a:extLst>
          </p:cNvPr>
          <p:cNvSpPr>
            <a:spLocks xmlns:a="http://schemas.openxmlformats.org/drawingml/2006/main" noGrp="1"/>
          </p:cNvSpPr>
          <p:nvPr/>
        </p:nvSpPr>
        <p:spPr>
          <a:xfrm xmlns:a="http://schemas.openxmlformats.org/drawingml/2006/main">
            <a:off x="9458325" y="1952625"/>
            <a:ext cx="1990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MAINTENANCE_STAFF</a:t>
            </a:r>
          </a:p>
        </p:txBody>
      </p:sp>
      <p:sp>
        <p:nvSpPr>
          <p:cNvPr id="19" name="entity-fields-MAINTENANCE_STAFF">
            <a:extLst xmlns:a="http://schemas.openxmlformats.org/drawingml/2006/main">
              <a:ext uri="{FF2B5EF4-FFF2-40B4-BE49-F238E27FC236}">
                <a16:creationId xmlns:a16="http://schemas.microsoft.com/office/drawing/2014/main" id="{DADA1098-36C9-4E24-9925-AF81BA75FFC4}"/>
              </a:ext>
            </a:extLst>
          </p:cNvPr>
          <p:cNvSpPr>
            <a:spLocks xmlns:a="http://schemas.openxmlformats.org/drawingml/2006/main" noGrp="1"/>
          </p:cNvSpPr>
          <p:nvPr/>
        </p:nvSpPr>
        <p:spPr>
          <a:xfrm xmlns:a="http://schemas.openxmlformats.org/drawingml/2006/main">
            <a:off x="9458325" y="2314575"/>
            <a:ext cx="1990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staff_id</a:t>
            </a:r>
          </a:p>
        </p:txBody>
      </p:sp>
      <p:sp>
        <p:nvSpPr>
          <p:cNvPr id="20" name="entity-COMPLAINT_LOG">
            <a:extLst xmlns:a="http://schemas.openxmlformats.org/drawingml/2006/main">
              <a:ext uri="{FF2B5EF4-FFF2-40B4-BE49-F238E27FC236}">
                <a16:creationId xmlns:a16="http://schemas.microsoft.com/office/drawing/2014/main" id="{A6D711B1-AAB2-4E63-8AA6-F78A7CAA19E2}"/>
              </a:ext>
            </a:extLst>
          </p:cNvPr>
          <p:cNvSpPr>
            <a:spLocks xmlns:a="http://schemas.openxmlformats.org/drawingml/2006/main" noGrp="1"/>
          </p:cNvSpPr>
          <p:nvPr/>
        </p:nvSpPr>
        <p:spPr>
          <a:xfrm xmlns:a="http://schemas.openxmlformats.org/drawingml/2006/main">
            <a:off x="9334500" y="3476625"/>
            <a:ext cx="2238375"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1" name="entity-name-COMPLAINT_LOG">
            <a:extLst xmlns:a="http://schemas.openxmlformats.org/drawingml/2006/main">
              <a:ext uri="{FF2B5EF4-FFF2-40B4-BE49-F238E27FC236}">
                <a16:creationId xmlns:a16="http://schemas.microsoft.com/office/drawing/2014/main" id="{86CEE9C7-B338-4A26-AF98-E353815F086B}"/>
              </a:ext>
            </a:extLst>
          </p:cNvPr>
          <p:cNvSpPr>
            <a:spLocks xmlns:a="http://schemas.openxmlformats.org/drawingml/2006/main" noGrp="1"/>
          </p:cNvSpPr>
          <p:nvPr/>
        </p:nvSpPr>
        <p:spPr>
          <a:xfrm xmlns:a="http://schemas.openxmlformats.org/drawingml/2006/main">
            <a:off x="9458325" y="3571875"/>
            <a:ext cx="1990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COMPLAINT_LOG</a:t>
            </a:r>
          </a:p>
        </p:txBody>
      </p:sp>
      <p:sp>
        <p:nvSpPr>
          <p:cNvPr id="22" name="entity-fields-COMPLAINT_LOG">
            <a:extLst xmlns:a="http://schemas.openxmlformats.org/drawingml/2006/main">
              <a:ext uri="{FF2B5EF4-FFF2-40B4-BE49-F238E27FC236}">
                <a16:creationId xmlns:a16="http://schemas.microsoft.com/office/drawing/2014/main" id="{8A0286B7-BBFD-4858-B2CD-BEE6AA1B5628}"/>
              </a:ext>
            </a:extLst>
          </p:cNvPr>
          <p:cNvSpPr>
            <a:spLocks xmlns:a="http://schemas.openxmlformats.org/drawingml/2006/main" noGrp="1"/>
          </p:cNvSpPr>
          <p:nvPr/>
        </p:nvSpPr>
        <p:spPr>
          <a:xfrm xmlns:a="http://schemas.openxmlformats.org/drawingml/2006/main">
            <a:off x="9458325" y="3933825"/>
            <a:ext cx="1990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log_id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complaint_id</a:t>
            </a:r>
          </a:p>
        </p:txBody>
      </p:sp>
      <p:sp>
        <p:nvSpPr>
          <p:cNvPr id="23" name="entity-FEEDBACK">
            <a:extLst xmlns:a="http://schemas.openxmlformats.org/drawingml/2006/main">
              <a:ext uri="{FF2B5EF4-FFF2-40B4-BE49-F238E27FC236}">
                <a16:creationId xmlns:a16="http://schemas.microsoft.com/office/drawing/2014/main" id="{3ED531C7-0002-4CC3-B1C0-C42E258B7AAA}"/>
              </a:ext>
            </a:extLst>
          </p:cNvPr>
          <p:cNvSpPr>
            <a:spLocks xmlns:a="http://schemas.openxmlformats.org/drawingml/2006/main" noGrp="1"/>
          </p:cNvSpPr>
          <p:nvPr/>
        </p:nvSpPr>
        <p:spPr>
          <a:xfrm xmlns:a="http://schemas.openxmlformats.org/drawingml/2006/main">
            <a:off x="9334500" y="4953000"/>
            <a:ext cx="2238375"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4" name="entity-name-FEEDBACK">
            <a:extLst xmlns:a="http://schemas.openxmlformats.org/drawingml/2006/main">
              <a:ext uri="{FF2B5EF4-FFF2-40B4-BE49-F238E27FC236}">
                <a16:creationId xmlns:a16="http://schemas.microsoft.com/office/drawing/2014/main" id="{2E77D98A-7130-4C71-A0F1-5897793F7C88}"/>
              </a:ext>
            </a:extLst>
          </p:cNvPr>
          <p:cNvSpPr>
            <a:spLocks xmlns:a="http://schemas.openxmlformats.org/drawingml/2006/main" noGrp="1"/>
          </p:cNvSpPr>
          <p:nvPr/>
        </p:nvSpPr>
        <p:spPr>
          <a:xfrm xmlns:a="http://schemas.openxmlformats.org/drawingml/2006/main">
            <a:off x="9458325" y="5048250"/>
            <a:ext cx="1990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FEEDBACK</a:t>
            </a:r>
          </a:p>
        </p:txBody>
      </p:sp>
      <p:sp>
        <p:nvSpPr>
          <p:cNvPr id="25" name="entity-fields-FEEDBACK">
            <a:extLst xmlns:a="http://schemas.openxmlformats.org/drawingml/2006/main">
              <a:ext uri="{FF2B5EF4-FFF2-40B4-BE49-F238E27FC236}">
                <a16:creationId xmlns:a16="http://schemas.microsoft.com/office/drawing/2014/main" id="{27D74572-237C-4645-B00B-32ACF54F440F}"/>
              </a:ext>
            </a:extLst>
          </p:cNvPr>
          <p:cNvSpPr>
            <a:spLocks xmlns:a="http://schemas.openxmlformats.org/drawingml/2006/main" noGrp="1"/>
          </p:cNvSpPr>
          <p:nvPr/>
        </p:nvSpPr>
        <p:spPr>
          <a:xfrm xmlns:a="http://schemas.openxmlformats.org/drawingml/2006/main">
            <a:off x="9458325" y="5410200"/>
            <a:ext cx="1990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complaint_id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rating, comments</a:t>
            </a:r>
          </a:p>
        </p:txBody>
      </p:sp>
      <p:cxnSp>
        <p:nvCxnSpPr>
          <p:cNvPr id="26" name="">
            <a:extLst xmlns:a="http://schemas.openxmlformats.org/drawingml/2006/main">
              <a:ext uri="{FF2B5EF4-FFF2-40B4-BE49-F238E27FC236}">
                <a16:creationId xmlns:a16="http://schemas.microsoft.com/office/drawing/2014/main" id="{97525BDE-B13A-4631-9998-D726233004A8}"/>
              </a:ext>
            </a:extLst>
          </p:cNvPr>
          <p:cNvCxnSpPr/>
          <p:nvPr/>
        </p:nvCxnSpPr>
        <p:spPr>
          <a:xfrm xmlns:a="http://schemas.openxmlformats.org/drawingml/2006/main" flipH="0" flipV="0">
            <a:off x="2952750" y="2305050"/>
            <a:ext cx="762000" cy="0"/>
          </a:xfrm>
          <a:prstGeom xmlns:a="http://schemas.openxmlformats.org/drawingml/2006/main" prst="straightConnector1">
            <a:avLst/>
          </a:prstGeom>
          <a:ln xmlns:a="http://schemas.openxmlformats.org/drawingml/2006/main" w="19050">
            <a:solidFill>
              <a:srgbClr val="789272"/>
            </a:solidFill>
          </a:ln>
        </p:spPr>
      </p:cxnSp>
      <p:cxnSp>
        <p:nvCxnSpPr>
          <p:cNvPr id="27" name="">
            <a:extLst xmlns:a="http://schemas.openxmlformats.org/drawingml/2006/main">
              <a:ext uri="{FF2B5EF4-FFF2-40B4-BE49-F238E27FC236}">
                <a16:creationId xmlns:a16="http://schemas.microsoft.com/office/drawing/2014/main" id="{7A1086BE-8FE6-40D9-9253-2F10B16C859F}"/>
              </a:ext>
            </a:extLst>
          </p:cNvPr>
          <p:cNvCxnSpPr/>
          <p:nvPr/>
        </p:nvCxnSpPr>
        <p:spPr>
          <a:xfrm xmlns:a="http://schemas.openxmlformats.org/drawingml/2006/main" flipH="0" flipV="0">
            <a:off x="3714750" y="2305050"/>
            <a:ext cx="0" cy="409575"/>
          </a:xfrm>
          <a:prstGeom xmlns:a="http://schemas.openxmlformats.org/drawingml/2006/main" prst="straightConnector1">
            <a:avLst/>
          </a:prstGeom>
          <a:ln xmlns:a="http://schemas.openxmlformats.org/drawingml/2006/main" w="19050">
            <a:solidFill>
              <a:srgbClr val="789272"/>
            </a:solidFill>
          </a:ln>
        </p:spPr>
      </p:cxnSp>
      <p:cxnSp>
        <p:nvCxnSpPr>
          <p:cNvPr id="28" name="">
            <a:extLst xmlns:a="http://schemas.openxmlformats.org/drawingml/2006/main">
              <a:ext uri="{FF2B5EF4-FFF2-40B4-BE49-F238E27FC236}">
                <a16:creationId xmlns:a16="http://schemas.microsoft.com/office/drawing/2014/main" id="{40492636-632A-4D25-8F79-EEC479B0DCFE}"/>
              </a:ext>
            </a:extLst>
          </p:cNvPr>
          <p:cNvCxnSpPr/>
          <p:nvPr/>
        </p:nvCxnSpPr>
        <p:spPr>
          <a:xfrm xmlns:a="http://schemas.openxmlformats.org/drawingml/2006/main" flipH="0" flipV="0">
            <a:off x="3714750" y="2714625"/>
            <a:ext cx="762000" cy="0"/>
          </a:xfrm>
          <a:prstGeom xmlns:a="http://schemas.openxmlformats.org/drawingml/2006/main" prst="straightConnector1">
            <a:avLst/>
          </a:prstGeom>
          <a:ln xmlns:a="http://schemas.openxmlformats.org/drawingml/2006/main" w="19050">
            <a:solidFill>
              <a:srgbClr val="789272"/>
            </a:solidFill>
          </a:ln>
        </p:spPr>
      </p:cxnSp>
      <p:sp>
        <p:nvSpPr>
          <p:cNvPr id="29" name="cardinality-1">
            <a:extLst xmlns:a="http://schemas.openxmlformats.org/drawingml/2006/main">
              <a:ext uri="{FF2B5EF4-FFF2-40B4-BE49-F238E27FC236}">
                <a16:creationId xmlns:a16="http://schemas.microsoft.com/office/drawing/2014/main" id="{C259B0ED-70AD-4B27-A756-BB917D711F84}"/>
              </a:ext>
            </a:extLst>
          </p:cNvPr>
          <p:cNvSpPr>
            <a:spLocks xmlns:a="http://schemas.openxmlformats.org/drawingml/2006/main" noGrp="1"/>
          </p:cNvSpPr>
          <p:nvPr/>
        </p:nvSpPr>
        <p:spPr>
          <a:xfrm xmlns:a="http://schemas.openxmlformats.org/drawingml/2006/main">
            <a:off x="3105150" y="19812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30" name="cardinality-0..*">
            <a:extLst xmlns:a="http://schemas.openxmlformats.org/drawingml/2006/main">
              <a:ext uri="{FF2B5EF4-FFF2-40B4-BE49-F238E27FC236}">
                <a16:creationId xmlns:a16="http://schemas.microsoft.com/office/drawing/2014/main" id="{9B08FC8E-4BAC-4EF0-8A1A-78E4DA98ADC1}"/>
              </a:ext>
            </a:extLst>
          </p:cNvPr>
          <p:cNvSpPr>
            <a:spLocks xmlns:a="http://schemas.openxmlformats.org/drawingml/2006/main" noGrp="1"/>
          </p:cNvSpPr>
          <p:nvPr/>
        </p:nvSpPr>
        <p:spPr>
          <a:xfrm xmlns:a="http://schemas.openxmlformats.org/drawingml/2006/main">
            <a:off x="3924300" y="24003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31" name="">
            <a:extLst xmlns:a="http://schemas.openxmlformats.org/drawingml/2006/main">
              <a:ext uri="{FF2B5EF4-FFF2-40B4-BE49-F238E27FC236}">
                <a16:creationId xmlns:a16="http://schemas.microsoft.com/office/drawing/2014/main" id="{5AB7253B-6DEB-4EC7-A8E2-7BF999D32DF1}"/>
              </a:ext>
            </a:extLst>
          </p:cNvPr>
          <p:cNvCxnSpPr/>
          <p:nvPr/>
        </p:nvCxnSpPr>
        <p:spPr>
          <a:xfrm xmlns:a="http://schemas.openxmlformats.org/drawingml/2006/main" flipH="0" flipV="0">
            <a:off x="2952750" y="3924300"/>
            <a:ext cx="1524000" cy="0"/>
          </a:xfrm>
          <a:prstGeom xmlns:a="http://schemas.openxmlformats.org/drawingml/2006/main" prst="straightConnector1">
            <a:avLst/>
          </a:prstGeom>
          <a:ln xmlns:a="http://schemas.openxmlformats.org/drawingml/2006/main" w="19050">
            <a:solidFill>
              <a:srgbClr val="789272"/>
            </a:solidFill>
          </a:ln>
        </p:spPr>
      </p:cxnSp>
      <p:sp>
        <p:nvSpPr>
          <p:cNvPr id="32" name="cardinality-1">
            <a:extLst xmlns:a="http://schemas.openxmlformats.org/drawingml/2006/main">
              <a:ext uri="{FF2B5EF4-FFF2-40B4-BE49-F238E27FC236}">
                <a16:creationId xmlns:a16="http://schemas.microsoft.com/office/drawing/2014/main" id="{EFD0BEA1-2A24-4AE0-BEF9-37BB7887BF7B}"/>
              </a:ext>
            </a:extLst>
          </p:cNvPr>
          <p:cNvSpPr>
            <a:spLocks xmlns:a="http://schemas.openxmlformats.org/drawingml/2006/main" noGrp="1"/>
          </p:cNvSpPr>
          <p:nvPr/>
        </p:nvSpPr>
        <p:spPr>
          <a:xfrm xmlns:a="http://schemas.openxmlformats.org/drawingml/2006/main">
            <a:off x="3105150" y="36004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33" name="cardinality-0..*">
            <a:extLst xmlns:a="http://schemas.openxmlformats.org/drawingml/2006/main">
              <a:ext uri="{FF2B5EF4-FFF2-40B4-BE49-F238E27FC236}">
                <a16:creationId xmlns:a16="http://schemas.microsoft.com/office/drawing/2014/main" id="{08165C90-F77B-46B9-9185-EB3A3497139E}"/>
              </a:ext>
            </a:extLst>
          </p:cNvPr>
          <p:cNvSpPr>
            <a:spLocks xmlns:a="http://schemas.openxmlformats.org/drawingml/2006/main" noGrp="1"/>
          </p:cNvSpPr>
          <p:nvPr/>
        </p:nvSpPr>
        <p:spPr>
          <a:xfrm xmlns:a="http://schemas.openxmlformats.org/drawingml/2006/main">
            <a:off x="3924300" y="36004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34" name="">
            <a:extLst xmlns:a="http://schemas.openxmlformats.org/drawingml/2006/main">
              <a:ext uri="{FF2B5EF4-FFF2-40B4-BE49-F238E27FC236}">
                <a16:creationId xmlns:a16="http://schemas.microsoft.com/office/drawing/2014/main" id="{C02B0996-B8A3-41F0-A302-268FA5C928D9}"/>
              </a:ext>
            </a:extLst>
          </p:cNvPr>
          <p:cNvCxnSpPr/>
          <p:nvPr/>
        </p:nvCxnSpPr>
        <p:spPr>
          <a:xfrm xmlns:a="http://schemas.openxmlformats.org/drawingml/2006/main" flipH="0" flipV="0">
            <a:off x="2952750" y="5429250"/>
            <a:ext cx="809625" cy="0"/>
          </a:xfrm>
          <a:prstGeom xmlns:a="http://schemas.openxmlformats.org/drawingml/2006/main" prst="straightConnector1">
            <a:avLst/>
          </a:prstGeom>
          <a:ln xmlns:a="http://schemas.openxmlformats.org/drawingml/2006/main" w="19050">
            <a:solidFill>
              <a:srgbClr val="789272"/>
            </a:solidFill>
          </a:ln>
        </p:spPr>
      </p:cxnSp>
      <p:cxnSp>
        <p:nvCxnSpPr>
          <p:cNvPr id="35" name="">
            <a:extLst xmlns:a="http://schemas.openxmlformats.org/drawingml/2006/main">
              <a:ext uri="{FF2B5EF4-FFF2-40B4-BE49-F238E27FC236}">
                <a16:creationId xmlns:a16="http://schemas.microsoft.com/office/drawing/2014/main" id="{9A75F8D4-23C7-4306-B653-AE021CBD979F}"/>
              </a:ext>
            </a:extLst>
          </p:cNvPr>
          <p:cNvCxnSpPr/>
          <p:nvPr/>
        </p:nvCxnSpPr>
        <p:spPr>
          <a:xfrm xmlns:a="http://schemas.openxmlformats.org/drawingml/2006/main" flipH="0" flipV="1">
            <a:off x="3762375" y="4810125"/>
            <a:ext cx="0" cy="619125"/>
          </a:xfrm>
          <a:prstGeom xmlns:a="http://schemas.openxmlformats.org/drawingml/2006/main" prst="straightConnector1">
            <a:avLst/>
          </a:prstGeom>
          <a:ln xmlns:a="http://schemas.openxmlformats.org/drawingml/2006/main" w="19050">
            <a:solidFill>
              <a:srgbClr val="789272"/>
            </a:solidFill>
          </a:ln>
        </p:spPr>
      </p:cxnSp>
      <p:cxnSp>
        <p:nvCxnSpPr>
          <p:cNvPr id="36" name="">
            <a:extLst xmlns:a="http://schemas.openxmlformats.org/drawingml/2006/main">
              <a:ext uri="{FF2B5EF4-FFF2-40B4-BE49-F238E27FC236}">
                <a16:creationId xmlns:a16="http://schemas.microsoft.com/office/drawing/2014/main" id="{A55C6823-FED2-4BFC-8B44-82B1FB69DA8E}"/>
              </a:ext>
            </a:extLst>
          </p:cNvPr>
          <p:cNvCxnSpPr/>
          <p:nvPr/>
        </p:nvCxnSpPr>
        <p:spPr>
          <a:xfrm xmlns:a="http://schemas.openxmlformats.org/drawingml/2006/main" flipH="0" flipV="0">
            <a:off x="3762375" y="4810125"/>
            <a:ext cx="714375" cy="0"/>
          </a:xfrm>
          <a:prstGeom xmlns:a="http://schemas.openxmlformats.org/drawingml/2006/main" prst="straightConnector1">
            <a:avLst/>
          </a:prstGeom>
          <a:ln xmlns:a="http://schemas.openxmlformats.org/drawingml/2006/main" w="19050">
            <a:solidFill>
              <a:srgbClr val="789272"/>
            </a:solidFill>
          </a:ln>
        </p:spPr>
      </p:cxnSp>
      <p:sp>
        <p:nvSpPr>
          <p:cNvPr id="37" name="cardinality-1">
            <a:extLst xmlns:a="http://schemas.openxmlformats.org/drawingml/2006/main">
              <a:ext uri="{FF2B5EF4-FFF2-40B4-BE49-F238E27FC236}">
                <a16:creationId xmlns:a16="http://schemas.microsoft.com/office/drawing/2014/main" id="{E1641C79-AE7E-4C5D-BD71-E021044630C8}"/>
              </a:ext>
            </a:extLst>
          </p:cNvPr>
          <p:cNvSpPr>
            <a:spLocks xmlns:a="http://schemas.openxmlformats.org/drawingml/2006/main" noGrp="1"/>
          </p:cNvSpPr>
          <p:nvPr/>
        </p:nvSpPr>
        <p:spPr>
          <a:xfrm xmlns:a="http://schemas.openxmlformats.org/drawingml/2006/main">
            <a:off x="3114675" y="55054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38" name="cardinality-0..*">
            <a:extLst xmlns:a="http://schemas.openxmlformats.org/drawingml/2006/main">
              <a:ext uri="{FF2B5EF4-FFF2-40B4-BE49-F238E27FC236}">
                <a16:creationId xmlns:a16="http://schemas.microsoft.com/office/drawing/2014/main" id="{558B8F70-2EF2-414F-94D6-F655E96CF5D6}"/>
              </a:ext>
            </a:extLst>
          </p:cNvPr>
          <p:cNvSpPr>
            <a:spLocks xmlns:a="http://schemas.openxmlformats.org/drawingml/2006/main" noGrp="1"/>
          </p:cNvSpPr>
          <p:nvPr/>
        </p:nvSpPr>
        <p:spPr>
          <a:xfrm xmlns:a="http://schemas.openxmlformats.org/drawingml/2006/main">
            <a:off x="3924300" y="446722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39" name="">
            <a:extLst xmlns:a="http://schemas.openxmlformats.org/drawingml/2006/main">
              <a:ext uri="{FF2B5EF4-FFF2-40B4-BE49-F238E27FC236}">
                <a16:creationId xmlns:a16="http://schemas.microsoft.com/office/drawing/2014/main" id="{6A0E2DD3-B8BC-4735-9B14-6B8416F730B9}"/>
              </a:ext>
            </a:extLst>
          </p:cNvPr>
          <p:cNvCxnSpPr/>
          <p:nvPr/>
        </p:nvCxnSpPr>
        <p:spPr>
          <a:xfrm xmlns:a="http://schemas.openxmlformats.org/drawingml/2006/main" flipH="1" flipV="0">
            <a:off x="8572500" y="2305050"/>
            <a:ext cx="762000" cy="0"/>
          </a:xfrm>
          <a:prstGeom xmlns:a="http://schemas.openxmlformats.org/drawingml/2006/main" prst="straightConnector1">
            <a:avLst/>
          </a:prstGeom>
          <a:ln xmlns:a="http://schemas.openxmlformats.org/drawingml/2006/main" w="19050">
            <a:solidFill>
              <a:srgbClr val="789272"/>
            </a:solidFill>
          </a:ln>
        </p:spPr>
      </p:cxnSp>
      <p:cxnSp>
        <p:nvCxnSpPr>
          <p:cNvPr id="40" name="">
            <a:extLst xmlns:a="http://schemas.openxmlformats.org/drawingml/2006/main">
              <a:ext uri="{FF2B5EF4-FFF2-40B4-BE49-F238E27FC236}">
                <a16:creationId xmlns:a16="http://schemas.microsoft.com/office/drawing/2014/main" id="{476FC629-59FE-4691-9333-F2E0804FEF62}"/>
              </a:ext>
            </a:extLst>
          </p:cNvPr>
          <p:cNvCxnSpPr/>
          <p:nvPr/>
        </p:nvCxnSpPr>
        <p:spPr>
          <a:xfrm xmlns:a="http://schemas.openxmlformats.org/drawingml/2006/main" flipH="0" flipV="0">
            <a:off x="8572500" y="2305050"/>
            <a:ext cx="0" cy="409575"/>
          </a:xfrm>
          <a:prstGeom xmlns:a="http://schemas.openxmlformats.org/drawingml/2006/main" prst="straightConnector1">
            <a:avLst/>
          </a:prstGeom>
          <a:ln xmlns:a="http://schemas.openxmlformats.org/drawingml/2006/main" w="19050">
            <a:solidFill>
              <a:srgbClr val="789272"/>
            </a:solidFill>
          </a:ln>
        </p:spPr>
      </p:cxnSp>
      <p:cxnSp>
        <p:nvCxnSpPr>
          <p:cNvPr id="41" name="">
            <a:extLst xmlns:a="http://schemas.openxmlformats.org/drawingml/2006/main">
              <a:ext uri="{FF2B5EF4-FFF2-40B4-BE49-F238E27FC236}">
                <a16:creationId xmlns:a16="http://schemas.microsoft.com/office/drawing/2014/main" id="{E165FE9C-F754-4308-99F3-D4A67D4F545E}"/>
              </a:ext>
            </a:extLst>
          </p:cNvPr>
          <p:cNvCxnSpPr/>
          <p:nvPr/>
        </p:nvCxnSpPr>
        <p:spPr>
          <a:xfrm xmlns:a="http://schemas.openxmlformats.org/drawingml/2006/main" flipH="1" flipV="0">
            <a:off x="7858125" y="2714625"/>
            <a:ext cx="714375" cy="0"/>
          </a:xfrm>
          <a:prstGeom xmlns:a="http://schemas.openxmlformats.org/drawingml/2006/main" prst="straightConnector1">
            <a:avLst/>
          </a:prstGeom>
          <a:ln xmlns:a="http://schemas.openxmlformats.org/drawingml/2006/main" w="19050">
            <a:solidFill>
              <a:srgbClr val="789272"/>
            </a:solidFill>
          </a:ln>
        </p:spPr>
      </p:cxnSp>
      <p:sp>
        <p:nvSpPr>
          <p:cNvPr id="42" name="cardinality-0..1">
            <a:extLst xmlns:a="http://schemas.openxmlformats.org/drawingml/2006/main">
              <a:ext uri="{FF2B5EF4-FFF2-40B4-BE49-F238E27FC236}">
                <a16:creationId xmlns:a16="http://schemas.microsoft.com/office/drawing/2014/main" id="{1F392186-ABD0-4A4B-91A4-C637A0FB87D5}"/>
              </a:ext>
            </a:extLst>
          </p:cNvPr>
          <p:cNvSpPr>
            <a:spLocks xmlns:a="http://schemas.openxmlformats.org/drawingml/2006/main" noGrp="1"/>
          </p:cNvSpPr>
          <p:nvPr/>
        </p:nvSpPr>
        <p:spPr>
          <a:xfrm xmlns:a="http://schemas.openxmlformats.org/drawingml/2006/main">
            <a:off x="8715375" y="19812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0..1</a:t>
            </a:r>
          </a:p>
        </p:txBody>
      </p:sp>
      <p:sp>
        <p:nvSpPr>
          <p:cNvPr id="43" name="cardinality-0..*">
            <a:extLst xmlns:a="http://schemas.openxmlformats.org/drawingml/2006/main">
              <a:ext uri="{FF2B5EF4-FFF2-40B4-BE49-F238E27FC236}">
                <a16:creationId xmlns:a16="http://schemas.microsoft.com/office/drawing/2014/main" id="{F849FDD6-F51B-49F6-9C25-5507A2799FA3}"/>
              </a:ext>
            </a:extLst>
          </p:cNvPr>
          <p:cNvSpPr>
            <a:spLocks xmlns:a="http://schemas.openxmlformats.org/drawingml/2006/main" noGrp="1"/>
          </p:cNvSpPr>
          <p:nvPr/>
        </p:nvSpPr>
        <p:spPr>
          <a:xfrm xmlns:a="http://schemas.openxmlformats.org/drawingml/2006/main">
            <a:off x="7943850" y="24003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44" name="">
            <a:extLst xmlns:a="http://schemas.openxmlformats.org/drawingml/2006/main">
              <a:ext uri="{FF2B5EF4-FFF2-40B4-BE49-F238E27FC236}">
                <a16:creationId xmlns:a16="http://schemas.microsoft.com/office/drawing/2014/main" id="{DE3749C8-B70C-47AF-A5C9-182686E50760}"/>
              </a:ext>
            </a:extLst>
          </p:cNvPr>
          <p:cNvCxnSpPr/>
          <p:nvPr/>
        </p:nvCxnSpPr>
        <p:spPr>
          <a:xfrm xmlns:a="http://schemas.openxmlformats.org/drawingml/2006/main" flipH="0" flipV="0">
            <a:off x="7858125" y="3924300"/>
            <a:ext cx="1476375" cy="0"/>
          </a:xfrm>
          <a:prstGeom xmlns:a="http://schemas.openxmlformats.org/drawingml/2006/main" prst="straightConnector1">
            <a:avLst/>
          </a:prstGeom>
          <a:ln xmlns:a="http://schemas.openxmlformats.org/drawingml/2006/main" w="19050">
            <a:solidFill>
              <a:srgbClr val="789272"/>
            </a:solidFill>
          </a:ln>
        </p:spPr>
      </p:cxnSp>
      <p:sp>
        <p:nvSpPr>
          <p:cNvPr id="45" name="cardinality-1">
            <a:extLst xmlns:a="http://schemas.openxmlformats.org/drawingml/2006/main">
              <a:ext uri="{FF2B5EF4-FFF2-40B4-BE49-F238E27FC236}">
                <a16:creationId xmlns:a16="http://schemas.microsoft.com/office/drawing/2014/main" id="{AAA1B611-9AB1-4FB9-8609-5BB517473D3A}"/>
              </a:ext>
            </a:extLst>
          </p:cNvPr>
          <p:cNvSpPr>
            <a:spLocks xmlns:a="http://schemas.openxmlformats.org/drawingml/2006/main" noGrp="1"/>
          </p:cNvSpPr>
          <p:nvPr/>
        </p:nvSpPr>
        <p:spPr>
          <a:xfrm xmlns:a="http://schemas.openxmlformats.org/drawingml/2006/main">
            <a:off x="7981950" y="36004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46" name="cardinality-0..*">
            <a:extLst xmlns:a="http://schemas.openxmlformats.org/drawingml/2006/main">
              <a:ext uri="{FF2B5EF4-FFF2-40B4-BE49-F238E27FC236}">
                <a16:creationId xmlns:a16="http://schemas.microsoft.com/office/drawing/2014/main" id="{A534BA61-F28F-4CEE-91AD-50AE191C277F}"/>
              </a:ext>
            </a:extLst>
          </p:cNvPr>
          <p:cNvSpPr>
            <a:spLocks xmlns:a="http://schemas.openxmlformats.org/drawingml/2006/main" noGrp="1"/>
          </p:cNvSpPr>
          <p:nvPr/>
        </p:nvSpPr>
        <p:spPr>
          <a:xfrm xmlns:a="http://schemas.openxmlformats.org/drawingml/2006/main">
            <a:off x="8743950" y="36004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47" name="">
            <a:extLst xmlns:a="http://schemas.openxmlformats.org/drawingml/2006/main">
              <a:ext uri="{FF2B5EF4-FFF2-40B4-BE49-F238E27FC236}">
                <a16:creationId xmlns:a16="http://schemas.microsoft.com/office/drawing/2014/main" id="{DBF3852E-DF78-4340-915C-4275FD304C2F}"/>
              </a:ext>
            </a:extLst>
          </p:cNvPr>
          <p:cNvCxnSpPr/>
          <p:nvPr/>
        </p:nvCxnSpPr>
        <p:spPr>
          <a:xfrm xmlns:a="http://schemas.openxmlformats.org/drawingml/2006/main" flipH="0" flipV="0">
            <a:off x="7858125" y="4810125"/>
            <a:ext cx="714375" cy="0"/>
          </a:xfrm>
          <a:prstGeom xmlns:a="http://schemas.openxmlformats.org/drawingml/2006/main" prst="straightConnector1">
            <a:avLst/>
          </a:prstGeom>
          <a:ln xmlns:a="http://schemas.openxmlformats.org/drawingml/2006/main" w="19050">
            <a:solidFill>
              <a:srgbClr val="789272"/>
            </a:solidFill>
          </a:ln>
        </p:spPr>
      </p:cxnSp>
      <p:cxnSp>
        <p:nvCxnSpPr>
          <p:cNvPr id="48" name="">
            <a:extLst xmlns:a="http://schemas.openxmlformats.org/drawingml/2006/main">
              <a:ext uri="{FF2B5EF4-FFF2-40B4-BE49-F238E27FC236}">
                <a16:creationId xmlns:a16="http://schemas.microsoft.com/office/drawing/2014/main" id="{980538AC-9B9C-4FD0-804D-344DB8C36A18}"/>
              </a:ext>
            </a:extLst>
          </p:cNvPr>
          <p:cNvCxnSpPr/>
          <p:nvPr/>
        </p:nvCxnSpPr>
        <p:spPr>
          <a:xfrm xmlns:a="http://schemas.openxmlformats.org/drawingml/2006/main" flipH="0" flipV="0">
            <a:off x="8572500" y="4810125"/>
            <a:ext cx="0" cy="762000"/>
          </a:xfrm>
          <a:prstGeom xmlns:a="http://schemas.openxmlformats.org/drawingml/2006/main" prst="straightConnector1">
            <a:avLst/>
          </a:prstGeom>
          <a:ln xmlns:a="http://schemas.openxmlformats.org/drawingml/2006/main" w="19050">
            <a:solidFill>
              <a:srgbClr val="789272"/>
            </a:solidFill>
          </a:ln>
        </p:spPr>
      </p:cxnSp>
      <p:cxnSp>
        <p:nvCxnSpPr>
          <p:cNvPr id="49" name="">
            <a:extLst xmlns:a="http://schemas.openxmlformats.org/drawingml/2006/main">
              <a:ext uri="{FF2B5EF4-FFF2-40B4-BE49-F238E27FC236}">
                <a16:creationId xmlns:a16="http://schemas.microsoft.com/office/drawing/2014/main" id="{2D623122-23AA-4ECB-B7B1-9B28A911B3A3}"/>
              </a:ext>
            </a:extLst>
          </p:cNvPr>
          <p:cNvCxnSpPr/>
          <p:nvPr/>
        </p:nvCxnSpPr>
        <p:spPr>
          <a:xfrm xmlns:a="http://schemas.openxmlformats.org/drawingml/2006/main" flipH="0" flipV="0">
            <a:off x="8572500" y="5572125"/>
            <a:ext cx="762000" cy="0"/>
          </a:xfrm>
          <a:prstGeom xmlns:a="http://schemas.openxmlformats.org/drawingml/2006/main" prst="straightConnector1">
            <a:avLst/>
          </a:prstGeom>
          <a:ln xmlns:a="http://schemas.openxmlformats.org/drawingml/2006/main" w="19050">
            <a:solidFill>
              <a:srgbClr val="789272"/>
            </a:solidFill>
          </a:ln>
        </p:spPr>
      </p:cxnSp>
      <p:sp>
        <p:nvSpPr>
          <p:cNvPr id="50" name="cardinality-1">
            <a:extLst xmlns:a="http://schemas.openxmlformats.org/drawingml/2006/main">
              <a:ext uri="{FF2B5EF4-FFF2-40B4-BE49-F238E27FC236}">
                <a16:creationId xmlns:a16="http://schemas.microsoft.com/office/drawing/2014/main" id="{02F4B47D-F456-4C8B-83F2-6EFB529ECC94}"/>
              </a:ext>
            </a:extLst>
          </p:cNvPr>
          <p:cNvSpPr>
            <a:spLocks xmlns:a="http://schemas.openxmlformats.org/drawingml/2006/main" noGrp="1"/>
          </p:cNvSpPr>
          <p:nvPr/>
        </p:nvSpPr>
        <p:spPr>
          <a:xfrm xmlns:a="http://schemas.openxmlformats.org/drawingml/2006/main">
            <a:off x="7972425" y="44577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51" name="cardinality-0..1">
            <a:extLst xmlns:a="http://schemas.openxmlformats.org/drawingml/2006/main">
              <a:ext uri="{FF2B5EF4-FFF2-40B4-BE49-F238E27FC236}">
                <a16:creationId xmlns:a16="http://schemas.microsoft.com/office/drawing/2014/main" id="{F283A031-2F4A-49D0-A97E-119B9158DB31}"/>
              </a:ext>
            </a:extLst>
          </p:cNvPr>
          <p:cNvSpPr>
            <a:spLocks xmlns:a="http://schemas.openxmlformats.org/drawingml/2006/main" noGrp="1"/>
          </p:cNvSpPr>
          <p:nvPr/>
        </p:nvSpPr>
        <p:spPr>
          <a:xfrm xmlns:a="http://schemas.openxmlformats.org/drawingml/2006/main">
            <a:off x="8743950" y="52387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0..1</a:t>
            </a:r>
          </a:p>
        </p:txBody>
      </p:sp>
      <p:sp>
        <p:nvSpPr>
          <p:cNvPr id="52" name="er-legend">
            <a:extLst xmlns:a="http://schemas.openxmlformats.org/drawingml/2006/main">
              <a:ext uri="{FF2B5EF4-FFF2-40B4-BE49-F238E27FC236}">
                <a16:creationId xmlns:a16="http://schemas.microsoft.com/office/drawing/2014/main" id="{6A34147A-9A89-4337-9FD1-11E3BF5072D0}"/>
              </a:ext>
            </a:extLst>
          </p:cNvPr>
          <p:cNvSpPr>
            <a:spLocks xmlns:a="http://schemas.openxmlformats.org/drawingml/2006/main" noGrp="1"/>
          </p:cNvSpPr>
          <p:nvPr/>
        </p:nvSpPr>
        <p:spPr>
          <a:xfrm xmlns:a="http://schemas.openxmlformats.org/drawingml/2006/main">
            <a:off x="619125" y="6096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60735E"/>
                </a:solidFill>
                <a:latin typeface="Arial"/>
                <a:ea typeface="Arial"/>
                <a:cs typeface="Arial"/>
              </a:defRPr>
            </a:defPPr>
            <a:lvl1pPr>
              <a:defRPr sz="1350" b="0">
                <a:solidFill>
                  <a:srgbClr val="60735E"/>
                </a:solidFill>
                <a:latin typeface="Arial"/>
                <a:ea typeface="Arial"/>
                <a:cs typeface="Arial"/>
              </a:defRPr>
            </a:lvl1pPr>
            <a:lvl2pPr>
              <a:defRPr sz="1350" b="0">
                <a:solidFill>
                  <a:srgbClr val="60735E"/>
                </a:solidFill>
                <a:latin typeface="Arial"/>
                <a:ea typeface="Arial"/>
                <a:cs typeface="Arial"/>
              </a:defRPr>
            </a:lvl2pPr>
            <a:lvl3pPr>
              <a:defRPr sz="1350" b="0">
                <a:solidFill>
                  <a:srgbClr val="60735E"/>
                </a:solidFill>
                <a:latin typeface="Arial"/>
                <a:ea typeface="Arial"/>
                <a:cs typeface="Arial"/>
              </a:defRPr>
            </a:lvl3pPr>
            <a:lvl4pPr>
              <a:defRPr sz="1350" b="0">
                <a:solidFill>
                  <a:srgbClr val="60735E"/>
                </a:solidFill>
                <a:latin typeface="Arial"/>
                <a:ea typeface="Arial"/>
                <a:cs typeface="Arial"/>
              </a:defRPr>
            </a:lvl4pPr>
            <a:lvl5pPr>
              <a:defRPr sz="1350" b="0">
                <a:solidFill>
                  <a:srgbClr val="60735E"/>
                </a:solidFill>
                <a:latin typeface="Arial"/>
                <a:ea typeface="Arial"/>
                <a:cs typeface="Arial"/>
              </a:defRPr>
            </a:lvl5pPr>
            <a:lvl6pPr>
              <a:defRPr sz="1350" b="0">
                <a:solidFill>
                  <a:srgbClr val="60735E"/>
                </a:solidFill>
                <a:latin typeface="Arial"/>
                <a:ea typeface="Arial"/>
                <a:cs typeface="Arial"/>
              </a:defRPr>
            </a:lvl6pPr>
            <a:lvl7pPr>
              <a:defRPr sz="1350" b="0">
                <a:solidFill>
                  <a:srgbClr val="60735E"/>
                </a:solidFill>
                <a:latin typeface="Arial"/>
                <a:ea typeface="Arial"/>
                <a:cs typeface="Arial"/>
              </a:defRPr>
            </a:lvl7pPr>
            <a:lvl8pPr>
              <a:defRPr sz="1350" b="0">
                <a:solidFill>
                  <a:srgbClr val="60735E"/>
                </a:solidFill>
                <a:latin typeface="Arial"/>
                <a:ea typeface="Arial"/>
                <a:cs typeface="Arial"/>
              </a:defRPr>
            </a:lvl8pPr>
            <a:lvl9pPr>
              <a:defRPr sz="1350" b="0">
                <a:solidFill>
                  <a:srgbClr val="60735E"/>
                </a:solidFill>
                <a:latin typeface="Arial"/>
                <a:ea typeface="Arial"/>
                <a:cs typeface="Arial"/>
              </a:defRPr>
            </a:lvl9pPr>
          </a:lstStyle>
          <a:p xmlns:a="http://schemas.openxmlformats.org/drawingml/2006/main">
            <a:pPr>
              <a:defRPr sz="1350" b="0">
                <a:solidFill>
                  <a:srgbClr val="60735E"/>
                </a:solidFill>
                <a:latin typeface="Arial"/>
                <a:ea typeface="Arial"/>
                <a:cs typeface="Arial"/>
              </a:defRPr>
            </a:pPr>
            <a:r>
              <a:rPr sz="1350" b="0">
                <a:solidFill>
                  <a:srgbClr val="60735E"/>
                </a:solidFill>
                <a:latin typeface="Arial"/>
                <a:ea typeface="Arial"/>
                <a:cs typeface="Arial"/>
              </a:rPr>
              <a:t>End labels = instances per opposite entity.  0..* = zero or many.  Selected attributes shown.</a:t>
            </a:r>
          </a:p>
        </p:txBody>
      </p:sp>
      <p:sp>
        <p:nvSpPr>
          <p:cNvPr id="53" name="slide-subtitle">
            <a:extLst xmlns:a="http://schemas.openxmlformats.org/drawingml/2006/main">
              <a:ext uri="{FF2B5EF4-FFF2-40B4-BE49-F238E27FC236}">
                <a16:creationId xmlns:a16="http://schemas.microsoft.com/office/drawing/2014/main" id="{F91B12C1-E786-4993-94CA-1401B3114872}"/>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Complaint model. Student, room, category, staff, history and feedback.</a:t>
            </a:r>
          </a:p>
        </p:txBody>
      </p:sp>
    </p:spTree>
    <p:extLst>
      <p:ext uri="{BB962C8B-B14F-4D97-AF65-F5344CB8AC3E}">
        <p14:creationId xmlns:p14="http://schemas.microsoft.com/office/powerpoint/2010/main" val="1222344186"/>
      </p:ext>
    </p:extLst>
  </p:cSld>
</p:sld>
</file>

<file path=ppt/slides/slide5.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B688FE3A-74F9-4EB8-8071-7CE25F7A7B0A}"/>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Construction of ER/EER Diagram</a:t>
            </a:r>
          </a:p>
        </p:txBody>
      </p:sp>
      <p:sp>
        <p:nvSpPr>
          <p:cNvPr id="3" name="footer">
            <a:extLst xmlns:a="http://schemas.openxmlformats.org/drawingml/2006/main">
              <a:ext uri="{FF2B5EF4-FFF2-40B4-BE49-F238E27FC236}">
                <a16:creationId xmlns:a16="http://schemas.microsoft.com/office/drawing/2014/main" id="{618A1879-23C3-4028-AD78-353B0C4D6AD6}"/>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1FBDE000-04AF-4528-89A3-D137DD5E95AF}"/>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05 / 36</a:t>
            </a:r>
          </a:p>
        </p:txBody>
      </p:sp>
      <p:sp>
        <p:nvSpPr>
          <p:cNvPr id="5" name="entity-HOSTEL_BLOCK">
            <a:extLst xmlns:a="http://schemas.openxmlformats.org/drawingml/2006/main">
              <a:ext uri="{FF2B5EF4-FFF2-40B4-BE49-F238E27FC236}">
                <a16:creationId xmlns:a16="http://schemas.microsoft.com/office/drawing/2014/main" id="{D9500232-AE62-40BC-BC6D-9C7BCF740C47}"/>
              </a:ext>
            </a:extLst>
          </p:cNvPr>
          <p:cNvSpPr>
            <a:spLocks xmlns:a="http://schemas.openxmlformats.org/drawingml/2006/main" noGrp="1"/>
          </p:cNvSpPr>
          <p:nvPr/>
        </p:nvSpPr>
        <p:spPr>
          <a:xfrm xmlns:a="http://schemas.openxmlformats.org/drawingml/2006/main">
            <a:off x="619125" y="2047875"/>
            <a:ext cx="295275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6" name="entity-name-HOSTEL_BLOCK">
            <a:extLst xmlns:a="http://schemas.openxmlformats.org/drawingml/2006/main">
              <a:ext uri="{FF2B5EF4-FFF2-40B4-BE49-F238E27FC236}">
                <a16:creationId xmlns:a16="http://schemas.microsoft.com/office/drawing/2014/main" id="{E5AA570F-9373-4D31-B94C-9166A331078E}"/>
              </a:ext>
            </a:extLst>
          </p:cNvPr>
          <p:cNvSpPr>
            <a:spLocks xmlns:a="http://schemas.openxmlformats.org/drawingml/2006/main" noGrp="1"/>
          </p:cNvSpPr>
          <p:nvPr/>
        </p:nvSpPr>
        <p:spPr>
          <a:xfrm xmlns:a="http://schemas.openxmlformats.org/drawingml/2006/main">
            <a:off x="742950" y="21431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HOSTEL_BLOCK</a:t>
            </a:r>
          </a:p>
        </p:txBody>
      </p:sp>
      <p:sp>
        <p:nvSpPr>
          <p:cNvPr id="7" name="entity-fields-HOSTEL_BLOCK">
            <a:extLst xmlns:a="http://schemas.openxmlformats.org/drawingml/2006/main">
              <a:ext uri="{FF2B5EF4-FFF2-40B4-BE49-F238E27FC236}">
                <a16:creationId xmlns:a16="http://schemas.microsoft.com/office/drawing/2014/main" id="{31C4F1E6-FF8C-4879-A8E4-5385D055656D}"/>
              </a:ext>
            </a:extLst>
          </p:cNvPr>
          <p:cNvSpPr>
            <a:spLocks xmlns:a="http://schemas.openxmlformats.org/drawingml/2006/main" noGrp="1"/>
          </p:cNvSpPr>
          <p:nvPr/>
        </p:nvSpPr>
        <p:spPr>
          <a:xfrm xmlns:a="http://schemas.openxmlformats.org/drawingml/2006/main">
            <a:off x="742950" y="2505075"/>
            <a:ext cx="27051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block_id</a:t>
            </a:r>
          </a:p>
        </p:txBody>
      </p:sp>
      <p:sp>
        <p:nvSpPr>
          <p:cNvPr id="8" name="entity-MAINTENANCE_STAFF">
            <a:extLst xmlns:a="http://schemas.openxmlformats.org/drawingml/2006/main">
              <a:ext uri="{FF2B5EF4-FFF2-40B4-BE49-F238E27FC236}">
                <a16:creationId xmlns:a16="http://schemas.microsoft.com/office/drawing/2014/main" id="{54D70DC0-2335-4134-A1DE-5D987B925C96}"/>
              </a:ext>
            </a:extLst>
          </p:cNvPr>
          <p:cNvSpPr>
            <a:spLocks xmlns:a="http://schemas.openxmlformats.org/drawingml/2006/main" noGrp="1"/>
          </p:cNvSpPr>
          <p:nvPr/>
        </p:nvSpPr>
        <p:spPr>
          <a:xfrm xmlns:a="http://schemas.openxmlformats.org/drawingml/2006/main">
            <a:off x="4619625" y="1809750"/>
            <a:ext cx="2952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9" name="entity-name-MAINTENANCE_STAFF">
            <a:extLst xmlns:a="http://schemas.openxmlformats.org/drawingml/2006/main">
              <a:ext uri="{FF2B5EF4-FFF2-40B4-BE49-F238E27FC236}">
                <a16:creationId xmlns:a16="http://schemas.microsoft.com/office/drawing/2014/main" id="{E11B9686-CD50-4975-8297-D62EB2A66225}"/>
              </a:ext>
            </a:extLst>
          </p:cNvPr>
          <p:cNvSpPr>
            <a:spLocks xmlns:a="http://schemas.openxmlformats.org/drawingml/2006/main" noGrp="1"/>
          </p:cNvSpPr>
          <p:nvPr/>
        </p:nvSpPr>
        <p:spPr>
          <a:xfrm xmlns:a="http://schemas.openxmlformats.org/drawingml/2006/main">
            <a:off x="4743450" y="1905000"/>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MAINTENANCE_STAFF</a:t>
            </a:r>
          </a:p>
        </p:txBody>
      </p:sp>
      <p:sp>
        <p:nvSpPr>
          <p:cNvPr id="10" name="entity-fields-MAINTENANCE_STAFF">
            <a:extLst xmlns:a="http://schemas.openxmlformats.org/drawingml/2006/main">
              <a:ext uri="{FF2B5EF4-FFF2-40B4-BE49-F238E27FC236}">
                <a16:creationId xmlns:a16="http://schemas.microsoft.com/office/drawing/2014/main" id="{65696236-906F-439B-A9A2-31A55CB97AA3}"/>
              </a:ext>
            </a:extLst>
          </p:cNvPr>
          <p:cNvSpPr>
            <a:spLocks xmlns:a="http://schemas.openxmlformats.org/drawingml/2006/main" noGrp="1"/>
          </p:cNvSpPr>
          <p:nvPr/>
        </p:nvSpPr>
        <p:spPr>
          <a:xfrm xmlns:a="http://schemas.openxmlformats.org/drawingml/2006/main">
            <a:off x="4743450" y="2266950"/>
            <a:ext cx="2705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staff_id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block_id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category_id</a:t>
            </a:r>
          </a:p>
        </p:txBody>
      </p:sp>
      <p:sp>
        <p:nvSpPr>
          <p:cNvPr id="11" name="entity-COMPLAINT_CATEGORY">
            <a:extLst xmlns:a="http://schemas.openxmlformats.org/drawingml/2006/main">
              <a:ext uri="{FF2B5EF4-FFF2-40B4-BE49-F238E27FC236}">
                <a16:creationId xmlns:a16="http://schemas.microsoft.com/office/drawing/2014/main" id="{7F89201B-94D8-43D7-A5B0-79BDC015FED4}"/>
              </a:ext>
            </a:extLst>
          </p:cNvPr>
          <p:cNvSpPr>
            <a:spLocks xmlns:a="http://schemas.openxmlformats.org/drawingml/2006/main" noGrp="1"/>
          </p:cNvSpPr>
          <p:nvPr/>
        </p:nvSpPr>
        <p:spPr>
          <a:xfrm xmlns:a="http://schemas.openxmlformats.org/drawingml/2006/main">
            <a:off x="8620125" y="2047875"/>
            <a:ext cx="295275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2" name="entity-name-COMPLAINT_CATEGORY">
            <a:extLst xmlns:a="http://schemas.openxmlformats.org/drawingml/2006/main">
              <a:ext uri="{FF2B5EF4-FFF2-40B4-BE49-F238E27FC236}">
                <a16:creationId xmlns:a16="http://schemas.microsoft.com/office/drawing/2014/main" id="{3ABEC58C-388B-48B7-9E18-818515D8C7BE}"/>
              </a:ext>
            </a:extLst>
          </p:cNvPr>
          <p:cNvSpPr>
            <a:spLocks xmlns:a="http://schemas.openxmlformats.org/drawingml/2006/main" noGrp="1"/>
          </p:cNvSpPr>
          <p:nvPr/>
        </p:nvSpPr>
        <p:spPr>
          <a:xfrm xmlns:a="http://schemas.openxmlformats.org/drawingml/2006/main">
            <a:off x="8743950" y="21431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COMPLAINT_CATEGORY</a:t>
            </a:r>
          </a:p>
        </p:txBody>
      </p:sp>
      <p:sp>
        <p:nvSpPr>
          <p:cNvPr id="13" name="entity-fields-COMPLAINT_CATEGORY">
            <a:extLst xmlns:a="http://schemas.openxmlformats.org/drawingml/2006/main">
              <a:ext uri="{FF2B5EF4-FFF2-40B4-BE49-F238E27FC236}">
                <a16:creationId xmlns:a16="http://schemas.microsoft.com/office/drawing/2014/main" id="{DEA98F17-8B35-4908-92B3-3C933C7D849D}"/>
              </a:ext>
            </a:extLst>
          </p:cNvPr>
          <p:cNvSpPr>
            <a:spLocks xmlns:a="http://schemas.openxmlformats.org/drawingml/2006/main" noGrp="1"/>
          </p:cNvSpPr>
          <p:nvPr/>
        </p:nvSpPr>
        <p:spPr>
          <a:xfrm xmlns:a="http://schemas.openxmlformats.org/drawingml/2006/main">
            <a:off x="8743950" y="2505075"/>
            <a:ext cx="27051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category_id</a:t>
            </a:r>
          </a:p>
        </p:txBody>
      </p:sp>
      <p:cxnSp>
        <p:nvCxnSpPr>
          <p:cNvPr id="14" name="">
            <a:extLst xmlns:a="http://schemas.openxmlformats.org/drawingml/2006/main">
              <a:ext uri="{FF2B5EF4-FFF2-40B4-BE49-F238E27FC236}">
                <a16:creationId xmlns:a16="http://schemas.microsoft.com/office/drawing/2014/main" id="{5F2DA21F-8E05-408B-9DA3-5861063D4A27}"/>
              </a:ext>
            </a:extLst>
          </p:cNvPr>
          <p:cNvCxnSpPr/>
          <p:nvPr/>
        </p:nvCxnSpPr>
        <p:spPr>
          <a:xfrm xmlns:a="http://schemas.openxmlformats.org/drawingml/2006/main" flipH="0" flipV="0">
            <a:off x="3571875" y="2571750"/>
            <a:ext cx="1047750" cy="0"/>
          </a:xfrm>
          <a:prstGeom xmlns:a="http://schemas.openxmlformats.org/drawingml/2006/main" prst="straightConnector1">
            <a:avLst/>
          </a:prstGeom>
          <a:ln xmlns:a="http://schemas.openxmlformats.org/drawingml/2006/main" w="19050">
            <a:solidFill>
              <a:srgbClr val="789272"/>
            </a:solidFill>
          </a:ln>
        </p:spPr>
      </p:cxnSp>
      <p:sp>
        <p:nvSpPr>
          <p:cNvPr id="15" name="cardinality-1">
            <a:extLst xmlns:a="http://schemas.openxmlformats.org/drawingml/2006/main">
              <a:ext uri="{FF2B5EF4-FFF2-40B4-BE49-F238E27FC236}">
                <a16:creationId xmlns:a16="http://schemas.microsoft.com/office/drawing/2014/main" id="{AF7D44FC-1C96-4D33-866B-2EFF807D2915}"/>
              </a:ext>
            </a:extLst>
          </p:cNvPr>
          <p:cNvSpPr>
            <a:spLocks xmlns:a="http://schemas.openxmlformats.org/drawingml/2006/main" noGrp="1"/>
          </p:cNvSpPr>
          <p:nvPr/>
        </p:nvSpPr>
        <p:spPr>
          <a:xfrm xmlns:a="http://schemas.openxmlformats.org/drawingml/2006/main">
            <a:off x="3667125" y="223837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16" name="cardinality-0..*">
            <a:extLst xmlns:a="http://schemas.openxmlformats.org/drawingml/2006/main">
              <a:ext uri="{FF2B5EF4-FFF2-40B4-BE49-F238E27FC236}">
                <a16:creationId xmlns:a16="http://schemas.microsoft.com/office/drawing/2014/main" id="{ABA07E56-FD4C-4310-94EA-F3F2F151D405}"/>
              </a:ext>
            </a:extLst>
          </p:cNvPr>
          <p:cNvSpPr>
            <a:spLocks xmlns:a="http://schemas.openxmlformats.org/drawingml/2006/main" noGrp="1"/>
          </p:cNvSpPr>
          <p:nvPr/>
        </p:nvSpPr>
        <p:spPr>
          <a:xfrm xmlns:a="http://schemas.openxmlformats.org/drawingml/2006/main">
            <a:off x="4086225" y="26860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17" name="">
            <a:extLst xmlns:a="http://schemas.openxmlformats.org/drawingml/2006/main">
              <a:ext uri="{FF2B5EF4-FFF2-40B4-BE49-F238E27FC236}">
                <a16:creationId xmlns:a16="http://schemas.microsoft.com/office/drawing/2014/main" id="{92D3C2CD-C349-45C4-8A6E-F6FB036EFC41}"/>
              </a:ext>
            </a:extLst>
          </p:cNvPr>
          <p:cNvCxnSpPr/>
          <p:nvPr/>
        </p:nvCxnSpPr>
        <p:spPr>
          <a:xfrm xmlns:a="http://schemas.openxmlformats.org/drawingml/2006/main" flipH="0" flipV="0">
            <a:off x="7572375" y="2571750"/>
            <a:ext cx="1047750" cy="0"/>
          </a:xfrm>
          <a:prstGeom xmlns:a="http://schemas.openxmlformats.org/drawingml/2006/main" prst="straightConnector1">
            <a:avLst/>
          </a:prstGeom>
          <a:ln xmlns:a="http://schemas.openxmlformats.org/drawingml/2006/main" w="19050">
            <a:solidFill>
              <a:srgbClr val="789272"/>
            </a:solidFill>
          </a:ln>
        </p:spPr>
      </p:cxnSp>
      <p:sp>
        <p:nvSpPr>
          <p:cNvPr id="18" name="cardinality-0..*">
            <a:extLst xmlns:a="http://schemas.openxmlformats.org/drawingml/2006/main">
              <a:ext uri="{FF2B5EF4-FFF2-40B4-BE49-F238E27FC236}">
                <a16:creationId xmlns:a16="http://schemas.microsoft.com/office/drawing/2014/main" id="{C5FE31AA-3918-4A1C-8435-A2A786E8FE18}"/>
              </a:ext>
            </a:extLst>
          </p:cNvPr>
          <p:cNvSpPr>
            <a:spLocks xmlns:a="http://schemas.openxmlformats.org/drawingml/2006/main" noGrp="1"/>
          </p:cNvSpPr>
          <p:nvPr/>
        </p:nvSpPr>
        <p:spPr>
          <a:xfrm xmlns:a="http://schemas.openxmlformats.org/drawingml/2006/main">
            <a:off x="7629525" y="26860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sp>
        <p:nvSpPr>
          <p:cNvPr id="19" name="cardinality-1">
            <a:extLst xmlns:a="http://schemas.openxmlformats.org/drawingml/2006/main">
              <a:ext uri="{FF2B5EF4-FFF2-40B4-BE49-F238E27FC236}">
                <a16:creationId xmlns:a16="http://schemas.microsoft.com/office/drawing/2014/main" id="{E904A55E-5956-44F5-833A-0DCCD2594D8C}"/>
              </a:ext>
            </a:extLst>
          </p:cNvPr>
          <p:cNvSpPr>
            <a:spLocks xmlns:a="http://schemas.openxmlformats.org/drawingml/2006/main" noGrp="1"/>
          </p:cNvSpPr>
          <p:nvPr/>
        </p:nvSpPr>
        <p:spPr>
          <a:xfrm xmlns:a="http://schemas.openxmlformats.org/drawingml/2006/main">
            <a:off x="8286750" y="223837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20" name="entity-USERS">
            <a:extLst xmlns:a="http://schemas.openxmlformats.org/drawingml/2006/main">
              <a:ext uri="{FF2B5EF4-FFF2-40B4-BE49-F238E27FC236}">
                <a16:creationId xmlns:a16="http://schemas.microsoft.com/office/drawing/2014/main" id="{D938543B-5313-4A90-BF15-9D09CF5120A6}"/>
              </a:ext>
            </a:extLst>
          </p:cNvPr>
          <p:cNvSpPr>
            <a:spLocks xmlns:a="http://schemas.openxmlformats.org/drawingml/2006/main" noGrp="1"/>
          </p:cNvSpPr>
          <p:nvPr/>
        </p:nvSpPr>
        <p:spPr>
          <a:xfrm xmlns:a="http://schemas.openxmlformats.org/drawingml/2006/main">
            <a:off x="2190750" y="4572000"/>
            <a:ext cx="3143250" cy="11906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1" name="entity-name-USERS">
            <a:extLst xmlns:a="http://schemas.openxmlformats.org/drawingml/2006/main">
              <a:ext uri="{FF2B5EF4-FFF2-40B4-BE49-F238E27FC236}">
                <a16:creationId xmlns:a16="http://schemas.microsoft.com/office/drawing/2014/main" id="{80456CC1-C1C6-4ACA-9E37-C8F0D8C67EBA}"/>
              </a:ext>
            </a:extLst>
          </p:cNvPr>
          <p:cNvSpPr>
            <a:spLocks xmlns:a="http://schemas.openxmlformats.org/drawingml/2006/main" noGrp="1"/>
          </p:cNvSpPr>
          <p:nvPr/>
        </p:nvSpPr>
        <p:spPr>
          <a:xfrm xmlns:a="http://schemas.openxmlformats.org/drawingml/2006/main">
            <a:off x="2314575" y="4667250"/>
            <a:ext cx="2895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USERS</a:t>
            </a:r>
          </a:p>
        </p:txBody>
      </p:sp>
      <p:sp>
        <p:nvSpPr>
          <p:cNvPr id="22" name="entity-fields-USERS">
            <a:extLst xmlns:a="http://schemas.openxmlformats.org/drawingml/2006/main">
              <a:ext uri="{FF2B5EF4-FFF2-40B4-BE49-F238E27FC236}">
                <a16:creationId xmlns:a16="http://schemas.microsoft.com/office/drawing/2014/main" id="{3B916740-62A5-4809-91C5-D824E6C15ADE}"/>
              </a:ext>
            </a:extLst>
          </p:cNvPr>
          <p:cNvSpPr>
            <a:spLocks xmlns:a="http://schemas.openxmlformats.org/drawingml/2006/main" noGrp="1"/>
          </p:cNvSpPr>
          <p:nvPr/>
        </p:nvSpPr>
        <p:spPr>
          <a:xfrm xmlns:a="http://schemas.openxmlformats.org/drawingml/2006/main">
            <a:off x="2314575" y="5029200"/>
            <a:ext cx="2895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user_id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full_name, role</a:t>
            </a:r>
          </a:p>
        </p:txBody>
      </p:sp>
      <p:sp>
        <p:nvSpPr>
          <p:cNvPr id="23" name="entity-COMPLAINT_LOG">
            <a:extLst xmlns:a="http://schemas.openxmlformats.org/drawingml/2006/main">
              <a:ext uri="{FF2B5EF4-FFF2-40B4-BE49-F238E27FC236}">
                <a16:creationId xmlns:a16="http://schemas.microsoft.com/office/drawing/2014/main" id="{D957E916-A02C-42E6-801B-DA38E86CB11A}"/>
              </a:ext>
            </a:extLst>
          </p:cNvPr>
          <p:cNvSpPr>
            <a:spLocks xmlns:a="http://schemas.openxmlformats.org/drawingml/2006/main" noGrp="1"/>
          </p:cNvSpPr>
          <p:nvPr/>
        </p:nvSpPr>
        <p:spPr>
          <a:xfrm xmlns:a="http://schemas.openxmlformats.org/drawingml/2006/main">
            <a:off x="7334250" y="4333875"/>
            <a:ext cx="323850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4" name="entity-name-COMPLAINT_LOG">
            <a:extLst xmlns:a="http://schemas.openxmlformats.org/drawingml/2006/main">
              <a:ext uri="{FF2B5EF4-FFF2-40B4-BE49-F238E27FC236}">
                <a16:creationId xmlns:a16="http://schemas.microsoft.com/office/drawing/2014/main" id="{64FAF49A-1A53-41A8-972C-7FA17C637519}"/>
              </a:ext>
            </a:extLst>
          </p:cNvPr>
          <p:cNvSpPr>
            <a:spLocks xmlns:a="http://schemas.openxmlformats.org/drawingml/2006/main" noGrp="1"/>
          </p:cNvSpPr>
          <p:nvPr/>
        </p:nvSpPr>
        <p:spPr>
          <a:xfrm xmlns:a="http://schemas.openxmlformats.org/drawingml/2006/main">
            <a:off x="7458075" y="4429125"/>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COMPLAINT_LOG</a:t>
            </a:r>
          </a:p>
        </p:txBody>
      </p:sp>
      <p:sp>
        <p:nvSpPr>
          <p:cNvPr id="25" name="entity-fields-COMPLAINT_LOG">
            <a:extLst xmlns:a="http://schemas.openxmlformats.org/drawingml/2006/main">
              <a:ext uri="{FF2B5EF4-FFF2-40B4-BE49-F238E27FC236}">
                <a16:creationId xmlns:a16="http://schemas.microsoft.com/office/drawing/2014/main" id="{E385977E-0419-4D03-A4DE-B3C7589BF9BF}"/>
              </a:ext>
            </a:extLst>
          </p:cNvPr>
          <p:cNvSpPr>
            <a:spLocks xmlns:a="http://schemas.openxmlformats.org/drawingml/2006/main" noGrp="1"/>
          </p:cNvSpPr>
          <p:nvPr/>
        </p:nvSpPr>
        <p:spPr>
          <a:xfrm xmlns:a="http://schemas.openxmlformats.org/drawingml/2006/main">
            <a:off x="7458075" y="4791075"/>
            <a:ext cx="299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log_id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changed_by (nullable)</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remark, changed_at</a:t>
            </a:r>
          </a:p>
        </p:txBody>
      </p:sp>
      <p:cxnSp>
        <p:nvCxnSpPr>
          <p:cNvPr id="26" name="">
            <a:extLst xmlns:a="http://schemas.openxmlformats.org/drawingml/2006/main">
              <a:ext uri="{FF2B5EF4-FFF2-40B4-BE49-F238E27FC236}">
                <a16:creationId xmlns:a16="http://schemas.microsoft.com/office/drawing/2014/main" id="{97DC83F2-86EA-4784-B1DE-0194CD95DD0E}"/>
              </a:ext>
            </a:extLst>
          </p:cNvPr>
          <p:cNvCxnSpPr/>
          <p:nvPr/>
        </p:nvCxnSpPr>
        <p:spPr>
          <a:xfrm xmlns:a="http://schemas.openxmlformats.org/drawingml/2006/main" flipH="0" flipV="0">
            <a:off x="5334000" y="5162550"/>
            <a:ext cx="2000250" cy="0"/>
          </a:xfrm>
          <a:prstGeom xmlns:a="http://schemas.openxmlformats.org/drawingml/2006/main" prst="straightConnector1">
            <a:avLst/>
          </a:prstGeom>
          <a:ln xmlns:a="http://schemas.openxmlformats.org/drawingml/2006/main" w="19050">
            <a:solidFill>
              <a:srgbClr val="789272"/>
            </a:solidFill>
          </a:ln>
        </p:spPr>
      </p:cxnSp>
      <p:sp>
        <p:nvSpPr>
          <p:cNvPr id="27" name="cardinality-0..1">
            <a:extLst xmlns:a="http://schemas.openxmlformats.org/drawingml/2006/main">
              <a:ext uri="{FF2B5EF4-FFF2-40B4-BE49-F238E27FC236}">
                <a16:creationId xmlns:a16="http://schemas.microsoft.com/office/drawing/2014/main" id="{FA814609-3034-4614-BD65-F526D15C79B0}"/>
              </a:ext>
            </a:extLst>
          </p:cNvPr>
          <p:cNvSpPr>
            <a:spLocks xmlns:a="http://schemas.openxmlformats.org/drawingml/2006/main" noGrp="1"/>
          </p:cNvSpPr>
          <p:nvPr/>
        </p:nvSpPr>
        <p:spPr>
          <a:xfrm xmlns:a="http://schemas.openxmlformats.org/drawingml/2006/main">
            <a:off x="5495925" y="479107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0..1</a:t>
            </a:r>
          </a:p>
        </p:txBody>
      </p:sp>
      <p:sp>
        <p:nvSpPr>
          <p:cNvPr id="28" name="cardinality-0..*">
            <a:extLst xmlns:a="http://schemas.openxmlformats.org/drawingml/2006/main">
              <a:ext uri="{FF2B5EF4-FFF2-40B4-BE49-F238E27FC236}">
                <a16:creationId xmlns:a16="http://schemas.microsoft.com/office/drawing/2014/main" id="{E4CD5948-8D43-4E04-B5C5-9403713722DB}"/>
              </a:ext>
            </a:extLst>
          </p:cNvPr>
          <p:cNvSpPr>
            <a:spLocks xmlns:a="http://schemas.openxmlformats.org/drawingml/2006/main" noGrp="1"/>
          </p:cNvSpPr>
          <p:nvPr/>
        </p:nvSpPr>
        <p:spPr>
          <a:xfrm xmlns:a="http://schemas.openxmlformats.org/drawingml/2006/main">
            <a:off x="6667500" y="479107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sp>
        <p:nvSpPr>
          <p:cNvPr id="29" name="text">
            <a:extLst xmlns:a="http://schemas.openxmlformats.org/drawingml/2006/main">
              <a:ext uri="{FF2B5EF4-FFF2-40B4-BE49-F238E27FC236}">
                <a16:creationId xmlns:a16="http://schemas.microsoft.com/office/drawing/2014/main" id="{4C3FF58D-BDED-4814-844E-4A147A6B99C2}"/>
              </a:ext>
            </a:extLst>
          </p:cNvPr>
          <p:cNvSpPr>
            <a:spLocks xmlns:a="http://schemas.openxmlformats.org/drawingml/2006/main" noGrp="1"/>
          </p:cNvSpPr>
          <p:nvPr/>
        </p:nvSpPr>
        <p:spPr>
          <a:xfrm xmlns:a="http://schemas.openxmlformats.org/drawingml/2006/main">
            <a:off x="619125" y="3667125"/>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1F4D3B"/>
                </a:solidFill>
                <a:latin typeface="Arial"/>
                <a:ea typeface="Arial"/>
                <a:cs typeface="Arial"/>
              </a:defRPr>
            </a:defPPr>
            <a:lvl1pPr>
              <a:defRPr sz="1800" b="1">
                <a:solidFill>
                  <a:srgbClr val="1F4D3B"/>
                </a:solidFill>
                <a:latin typeface="Arial"/>
                <a:ea typeface="Arial"/>
                <a:cs typeface="Arial"/>
              </a:defRPr>
            </a:lvl1pPr>
            <a:lvl2pPr>
              <a:defRPr sz="1800" b="1">
                <a:solidFill>
                  <a:srgbClr val="1F4D3B"/>
                </a:solidFill>
                <a:latin typeface="Arial"/>
                <a:ea typeface="Arial"/>
                <a:cs typeface="Arial"/>
              </a:defRPr>
            </a:lvl2pPr>
            <a:lvl3pPr>
              <a:defRPr sz="1800" b="1">
                <a:solidFill>
                  <a:srgbClr val="1F4D3B"/>
                </a:solidFill>
                <a:latin typeface="Arial"/>
                <a:ea typeface="Arial"/>
                <a:cs typeface="Arial"/>
              </a:defRPr>
            </a:lvl3pPr>
            <a:lvl4pPr>
              <a:defRPr sz="1800" b="1">
                <a:solidFill>
                  <a:srgbClr val="1F4D3B"/>
                </a:solidFill>
                <a:latin typeface="Arial"/>
                <a:ea typeface="Arial"/>
                <a:cs typeface="Arial"/>
              </a:defRPr>
            </a:lvl4pPr>
            <a:lvl5pPr>
              <a:defRPr sz="1800" b="1">
                <a:solidFill>
                  <a:srgbClr val="1F4D3B"/>
                </a:solidFill>
                <a:latin typeface="Arial"/>
                <a:ea typeface="Arial"/>
                <a:cs typeface="Arial"/>
              </a:defRPr>
            </a:lvl5pPr>
            <a:lvl6pPr>
              <a:defRPr sz="1800" b="1">
                <a:solidFill>
                  <a:srgbClr val="1F4D3B"/>
                </a:solidFill>
                <a:latin typeface="Arial"/>
                <a:ea typeface="Arial"/>
                <a:cs typeface="Arial"/>
              </a:defRPr>
            </a:lvl6pPr>
            <a:lvl7pPr>
              <a:defRPr sz="1800" b="1">
                <a:solidFill>
                  <a:srgbClr val="1F4D3B"/>
                </a:solidFill>
                <a:latin typeface="Arial"/>
                <a:ea typeface="Arial"/>
                <a:cs typeface="Arial"/>
              </a:defRPr>
            </a:lvl7pPr>
            <a:lvl8pPr>
              <a:defRPr sz="1800" b="1">
                <a:solidFill>
                  <a:srgbClr val="1F4D3B"/>
                </a:solidFill>
                <a:latin typeface="Arial"/>
                <a:ea typeface="Arial"/>
                <a:cs typeface="Arial"/>
              </a:defRPr>
            </a:lvl8pPr>
            <a:lvl9pPr>
              <a:defRPr sz="1800" b="1">
                <a:solidFill>
                  <a:srgbClr val="1F4D3B"/>
                </a:solidFill>
                <a:latin typeface="Arial"/>
                <a:ea typeface="Arial"/>
                <a:cs typeface="Arial"/>
              </a:defRPr>
            </a:lvl9pPr>
          </a:lstStyle>
          <a:p xmlns:a="http://schemas.openxmlformats.org/drawingml/2006/main">
            <a:pPr>
              <a:defRPr sz="1800" b="1">
                <a:solidFill>
                  <a:srgbClr val="1F4D3B"/>
                </a:solidFill>
                <a:latin typeface="Arial"/>
                <a:ea typeface="Arial"/>
                <a:cs typeface="Arial"/>
              </a:defRPr>
            </a:pPr>
            <a:r>
              <a:rPr sz="1800" b="1">
                <a:solidFill>
                  <a:srgbClr val="1F4D3B"/>
                </a:solidFill>
                <a:latin typeface="Arial"/>
                <a:ea typeface="Arial"/>
                <a:cs typeface="Arial"/>
              </a:rPr>
              <a:t>Each staff member has one block and one category. Each log may name one actor.</a:t>
            </a:r>
          </a:p>
        </p:txBody>
      </p:sp>
      <p:sp>
        <p:nvSpPr>
          <p:cNvPr id="30" name="er-legend">
            <a:extLst xmlns:a="http://schemas.openxmlformats.org/drawingml/2006/main">
              <a:ext uri="{FF2B5EF4-FFF2-40B4-BE49-F238E27FC236}">
                <a16:creationId xmlns:a16="http://schemas.microsoft.com/office/drawing/2014/main" id="{0F0BE849-6C8B-462A-B597-CEE481454C92}"/>
              </a:ext>
            </a:extLst>
          </p:cNvPr>
          <p:cNvSpPr>
            <a:spLocks xmlns:a="http://schemas.openxmlformats.org/drawingml/2006/main" noGrp="1"/>
          </p:cNvSpPr>
          <p:nvPr/>
        </p:nvSpPr>
        <p:spPr>
          <a:xfrm xmlns:a="http://schemas.openxmlformats.org/drawingml/2006/main">
            <a:off x="619125" y="6096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60735E"/>
                </a:solidFill>
                <a:latin typeface="Arial"/>
                <a:ea typeface="Arial"/>
                <a:cs typeface="Arial"/>
              </a:defRPr>
            </a:defPPr>
            <a:lvl1pPr>
              <a:defRPr sz="1350" b="0">
                <a:solidFill>
                  <a:srgbClr val="60735E"/>
                </a:solidFill>
                <a:latin typeface="Arial"/>
                <a:ea typeface="Arial"/>
                <a:cs typeface="Arial"/>
              </a:defRPr>
            </a:lvl1pPr>
            <a:lvl2pPr>
              <a:defRPr sz="1350" b="0">
                <a:solidFill>
                  <a:srgbClr val="60735E"/>
                </a:solidFill>
                <a:latin typeface="Arial"/>
                <a:ea typeface="Arial"/>
                <a:cs typeface="Arial"/>
              </a:defRPr>
            </a:lvl2pPr>
            <a:lvl3pPr>
              <a:defRPr sz="1350" b="0">
                <a:solidFill>
                  <a:srgbClr val="60735E"/>
                </a:solidFill>
                <a:latin typeface="Arial"/>
                <a:ea typeface="Arial"/>
                <a:cs typeface="Arial"/>
              </a:defRPr>
            </a:lvl3pPr>
            <a:lvl4pPr>
              <a:defRPr sz="1350" b="0">
                <a:solidFill>
                  <a:srgbClr val="60735E"/>
                </a:solidFill>
                <a:latin typeface="Arial"/>
                <a:ea typeface="Arial"/>
                <a:cs typeface="Arial"/>
              </a:defRPr>
            </a:lvl4pPr>
            <a:lvl5pPr>
              <a:defRPr sz="1350" b="0">
                <a:solidFill>
                  <a:srgbClr val="60735E"/>
                </a:solidFill>
                <a:latin typeface="Arial"/>
                <a:ea typeface="Arial"/>
                <a:cs typeface="Arial"/>
              </a:defRPr>
            </a:lvl5pPr>
            <a:lvl6pPr>
              <a:defRPr sz="1350" b="0">
                <a:solidFill>
                  <a:srgbClr val="60735E"/>
                </a:solidFill>
                <a:latin typeface="Arial"/>
                <a:ea typeface="Arial"/>
                <a:cs typeface="Arial"/>
              </a:defRPr>
            </a:lvl6pPr>
            <a:lvl7pPr>
              <a:defRPr sz="1350" b="0">
                <a:solidFill>
                  <a:srgbClr val="60735E"/>
                </a:solidFill>
                <a:latin typeface="Arial"/>
                <a:ea typeface="Arial"/>
                <a:cs typeface="Arial"/>
              </a:defRPr>
            </a:lvl7pPr>
            <a:lvl8pPr>
              <a:defRPr sz="1350" b="0">
                <a:solidFill>
                  <a:srgbClr val="60735E"/>
                </a:solidFill>
                <a:latin typeface="Arial"/>
                <a:ea typeface="Arial"/>
                <a:cs typeface="Arial"/>
              </a:defRPr>
            </a:lvl8pPr>
            <a:lvl9pPr>
              <a:defRPr sz="1350" b="0">
                <a:solidFill>
                  <a:srgbClr val="60735E"/>
                </a:solidFill>
                <a:latin typeface="Arial"/>
                <a:ea typeface="Arial"/>
                <a:cs typeface="Arial"/>
              </a:defRPr>
            </a:lvl9pPr>
          </a:lstStyle>
          <a:p xmlns:a="http://schemas.openxmlformats.org/drawingml/2006/main">
            <a:pPr>
              <a:defRPr sz="1350" b="0">
                <a:solidFill>
                  <a:srgbClr val="60735E"/>
                </a:solidFill>
                <a:latin typeface="Arial"/>
                <a:ea typeface="Arial"/>
                <a:cs typeface="Arial"/>
              </a:defRPr>
            </a:pPr>
            <a:r>
              <a:rPr sz="1350" b="0">
                <a:solidFill>
                  <a:srgbClr val="60735E"/>
                </a:solidFill>
                <a:latin typeface="Arial"/>
                <a:ea typeface="Arial"/>
                <a:cs typeface="Arial"/>
              </a:rPr>
              <a:t>End labels = instances per opposite entity.  0..* = zero or many.  Selected attributes shown.</a:t>
            </a:r>
          </a:p>
        </p:txBody>
      </p:sp>
      <p:sp>
        <p:nvSpPr>
          <p:cNvPr id="31" name="slide-subtitle">
            <a:extLst xmlns:a="http://schemas.openxmlformats.org/drawingml/2006/main">
              <a:ext uri="{FF2B5EF4-FFF2-40B4-BE49-F238E27FC236}">
                <a16:creationId xmlns:a16="http://schemas.microsoft.com/office/drawing/2014/main" id="{7576968A-DFBE-40F4-8B17-CC146743CFC9}"/>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Staff specialization and audit attribution. These links complete all 18 foreign keys.</a:t>
            </a:r>
          </a:p>
        </p:txBody>
      </p:sp>
    </p:spTree>
    <p:extLst>
      <p:ext uri="{BB962C8B-B14F-4D97-AF65-F5344CB8AC3E}">
        <p14:creationId xmlns:p14="http://schemas.microsoft.com/office/powerpoint/2010/main" val="981561024"/>
      </p:ext>
    </p:extLst>
  </p:cSld>
</p:sld>
</file>

<file path=ppt/slides/slide6.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E5FBCAB3-8034-4C05-B921-D55574C6C0C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ER Diagram to Relational Model</a:t>
            </a:r>
          </a:p>
        </p:txBody>
      </p:sp>
      <p:sp>
        <p:nvSpPr>
          <p:cNvPr id="3" name="footer">
            <a:extLst xmlns:a="http://schemas.openxmlformats.org/drawingml/2006/main">
              <a:ext uri="{FF2B5EF4-FFF2-40B4-BE49-F238E27FC236}">
                <a16:creationId xmlns:a16="http://schemas.microsoft.com/office/drawing/2014/main" id="{D333A061-3BC8-48E9-B28C-77DE150EFA70}"/>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857CA1F9-8C41-45B2-9484-FCE0CC8F5BF4}"/>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06 / 36</a:t>
            </a:r>
          </a:p>
        </p:txBody>
      </p:sp>
      <p:graphicFrame>
        <p:nvGraphicFramePr>
          <p:cNvPr id="5" name="">
            <a:extLst xmlns:a="http://schemas.openxmlformats.org/drawingml/2006/main">
              <a:ext uri="{FF2B5EF4-FFF2-40B4-BE49-F238E27FC236}">
                <a16:creationId xmlns:a16="http://schemas.microsoft.com/office/drawing/2014/main" id="{156F5267-A388-4790-A047-8918480F2591}"/>
              </a:ext>
            </a:extLst>
          </p:cNvPr>
          <p:cNvGraphicFramePr/>
          <p:nvPr/>
        </p:nvGraphicFramePr>
        <p:xfrm>
          <a:off xmlns:a="http://schemas.openxmlformats.org/drawingml/2006/main" x="609600" y="1790700"/>
          <a:ext xmlns:a="http://schemas.openxmlformats.org/drawingml/2006/main" cx="10972800" cy="4048125"/>
        </p:xfrm>
        <a:graphic xmlns:a="http://schemas.openxmlformats.org/drawingml/2006/main">
          <a:graphicData uri="http://schemas.openxmlformats.org/drawingml/2006/table">
            <a:tbl>
              <a:tblPr/>
              <a:tblGrid>
                <a:gridCol w="4191000"/>
                <a:gridCol w="6781800"/>
              </a:tblGrid>
              <a:tr h="457200">
                <a:tc>
                  <a:txBody>
                    <a:bodyPr lIns="114300" tIns="114300" rIns="114300" bIns="114300"/>
                    <a:lstStyle/>
                    <a:p>
                      <a:r>
                        <a:rPr sz="1725" b="1">
                          <a:solidFill>
                            <a:srgbClr val="FFFFFF"/>
                          </a:solidFill>
                          <a:latin typeface="Arial"/>
                          <a:ea typeface="Arial"/>
                          <a:cs typeface="Arial"/>
                        </a:rPr>
                        <a:t>ER construct</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725" b="1">
                          <a:solidFill>
                            <a:srgbClr val="FFFFFF"/>
                          </a:solidFill>
                          <a:latin typeface="Arial"/>
                          <a:ea typeface="Arial"/>
                          <a:cs typeface="Arial"/>
                        </a:rPr>
                        <a:t>Relational implementation</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598488">
                <a:tc>
                  <a:txBody>
                    <a:bodyPr lIns="114300" tIns="114300" rIns="114300" bIns="114300"/>
                    <a:lstStyle/>
                    <a:p>
                      <a:r>
                        <a:rPr sz="1800" b="0">
                          <a:solidFill>
                            <a:srgbClr val="243B2D"/>
                          </a:solidFill>
                          <a:latin typeface="Arial"/>
                          <a:ea typeface="Arial"/>
                          <a:cs typeface="Arial"/>
                        </a:rPr>
                        <a:t>Superclass and subtypes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USERS, STUDENT, WARDEN, MAINTENANCE_STAFF</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98488">
                <a:tc>
                  <a:txBody>
                    <a:bodyPr lIns="114300" tIns="114300" rIns="114300" bIns="114300"/>
                    <a:lstStyle/>
                    <a:p>
                      <a:r>
                        <a:rPr sz="1800" b="0">
                          <a:solidFill>
                            <a:srgbClr val="243B2D"/>
                          </a:solidFill>
                          <a:latin typeface="Arial"/>
                          <a:ea typeface="Arial"/>
                          <a:cs typeface="Arial"/>
                        </a:rPr>
                        <a:t>Multivalued phone</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USER_PHONE(user_id, phone_no)</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98488">
                <a:tc>
                  <a:txBody>
                    <a:bodyPr lIns="114300" tIns="114300" rIns="114300" bIns="114300"/>
                    <a:lstStyle/>
                    <a:p>
                      <a:r>
                        <a:rPr sz="1800" b="0">
                          <a:solidFill>
                            <a:srgbClr val="243B2D"/>
                          </a:solidFill>
                          <a:latin typeface="Arial"/>
                          <a:ea typeface="Arial"/>
                          <a:cs typeface="Arial"/>
                        </a:rPr>
                        <a:t>Accommodation entities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HOSTEL_BLOCK, ROOM_TYPE, ROOM</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98488">
                <a:tc>
                  <a:txBody>
                    <a:bodyPr lIns="114300" tIns="114300" rIns="114300" bIns="114300"/>
                    <a:lstStyle/>
                    <a:p>
                      <a:r>
                        <a:rPr sz="1800" b="0">
                          <a:solidFill>
                            <a:srgbClr val="243B2D"/>
                          </a:solidFill>
                          <a:latin typeface="Arial"/>
                          <a:ea typeface="Arial"/>
                          <a:cs typeface="Arial"/>
                        </a:rPr>
                        <a:t>Student–room relationship over time</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ROOM_ALLOCATION with dates and academic year</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98488">
                <a:tc>
                  <a:txBody>
                    <a:bodyPr lIns="114300" tIns="114300" rIns="114300" bIns="114300"/>
                    <a:lstStyle/>
                    <a:p>
                      <a:r>
                        <a:rPr sz="1800" b="0">
                          <a:solidFill>
                            <a:srgbClr val="243B2D"/>
                          </a:solidFill>
                          <a:latin typeface="Arial"/>
                          <a:ea typeface="Arial"/>
                          <a:cs typeface="Arial"/>
                        </a:rPr>
                        <a:t>Complaint entities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COMPLAINT_CATEGORY, COMPLAINT</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98488">
                <a:tc>
                  <a:txBody>
                    <a:bodyPr lIns="114300" tIns="114300" rIns="114300" bIns="114300"/>
                    <a:lstStyle/>
                    <a:p>
                      <a:r>
                        <a:rPr sz="1800" b="0">
                          <a:solidFill>
                            <a:srgbClr val="243B2D"/>
                          </a:solidFill>
                          <a:latin typeface="Arial"/>
                          <a:ea typeface="Arial"/>
                          <a:cs typeface="Arial"/>
                        </a:rPr>
                        <a:t>Dependent records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COMPLAINT_LOG, FEEDBACK</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bl>
          </a:graphicData>
        </a:graphic>
      </p:graphicFrame>
      <p:sp>
        <p:nvSpPr>
          <p:cNvPr id="6" name="text">
            <a:extLst xmlns:a="http://schemas.openxmlformats.org/drawingml/2006/main">
              <a:ext uri="{FF2B5EF4-FFF2-40B4-BE49-F238E27FC236}">
                <a16:creationId xmlns:a16="http://schemas.microsoft.com/office/drawing/2014/main" id="{387CE480-38A3-4BF2-B26D-8A8D1BC5F186}"/>
              </a:ext>
            </a:extLst>
          </p:cNvPr>
          <p:cNvSpPr>
            <a:spLocks xmlns:a="http://schemas.openxmlformats.org/drawingml/2006/main" noGrp="1"/>
          </p:cNvSpPr>
          <p:nvPr/>
        </p:nvSpPr>
        <p:spPr>
          <a:xfrm xmlns:a="http://schemas.openxmlformats.org/drawingml/2006/main">
            <a:off x="628650" y="60769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F4D3B"/>
                </a:solidFill>
                <a:latin typeface="Arial"/>
                <a:ea typeface="Arial"/>
                <a:cs typeface="Arial"/>
              </a:defRPr>
            </a:defPPr>
            <a:lvl1pPr>
              <a:defRPr sz="1725" b="1">
                <a:solidFill>
                  <a:srgbClr val="1F4D3B"/>
                </a:solidFill>
                <a:latin typeface="Arial"/>
                <a:ea typeface="Arial"/>
                <a:cs typeface="Arial"/>
              </a:defRPr>
            </a:lvl1pPr>
            <a:lvl2pPr>
              <a:defRPr sz="1725" b="1">
                <a:solidFill>
                  <a:srgbClr val="1F4D3B"/>
                </a:solidFill>
                <a:latin typeface="Arial"/>
                <a:ea typeface="Arial"/>
                <a:cs typeface="Arial"/>
              </a:defRPr>
            </a:lvl2pPr>
            <a:lvl3pPr>
              <a:defRPr sz="1725" b="1">
                <a:solidFill>
                  <a:srgbClr val="1F4D3B"/>
                </a:solidFill>
                <a:latin typeface="Arial"/>
                <a:ea typeface="Arial"/>
                <a:cs typeface="Arial"/>
              </a:defRPr>
            </a:lvl3pPr>
            <a:lvl4pPr>
              <a:defRPr sz="1725" b="1">
                <a:solidFill>
                  <a:srgbClr val="1F4D3B"/>
                </a:solidFill>
                <a:latin typeface="Arial"/>
                <a:ea typeface="Arial"/>
                <a:cs typeface="Arial"/>
              </a:defRPr>
            </a:lvl4pPr>
            <a:lvl5pPr>
              <a:defRPr sz="1725" b="1">
                <a:solidFill>
                  <a:srgbClr val="1F4D3B"/>
                </a:solidFill>
                <a:latin typeface="Arial"/>
                <a:ea typeface="Arial"/>
                <a:cs typeface="Arial"/>
              </a:defRPr>
            </a:lvl5pPr>
            <a:lvl6pPr>
              <a:defRPr sz="1725" b="1">
                <a:solidFill>
                  <a:srgbClr val="1F4D3B"/>
                </a:solidFill>
                <a:latin typeface="Arial"/>
                <a:ea typeface="Arial"/>
                <a:cs typeface="Arial"/>
              </a:defRPr>
            </a:lvl6pPr>
            <a:lvl7pPr>
              <a:defRPr sz="1725" b="1">
                <a:solidFill>
                  <a:srgbClr val="1F4D3B"/>
                </a:solidFill>
                <a:latin typeface="Arial"/>
                <a:ea typeface="Arial"/>
                <a:cs typeface="Arial"/>
              </a:defRPr>
            </a:lvl7pPr>
            <a:lvl8pPr>
              <a:defRPr sz="1725" b="1">
                <a:solidFill>
                  <a:srgbClr val="1F4D3B"/>
                </a:solidFill>
                <a:latin typeface="Arial"/>
                <a:ea typeface="Arial"/>
                <a:cs typeface="Arial"/>
              </a:defRPr>
            </a:lvl8pPr>
            <a:lvl9pPr>
              <a:defRPr sz="1725" b="1">
                <a:solidFill>
                  <a:srgbClr val="1F4D3B"/>
                </a:solidFill>
                <a:latin typeface="Arial"/>
                <a:ea typeface="Arial"/>
                <a:cs typeface="Arial"/>
              </a:defRPr>
            </a:lvl9pPr>
          </a:lstStyle>
          <a:p xmlns:a="http://schemas.openxmlformats.org/drawingml/2006/main">
            <a:pPr>
              <a:defRPr sz="1725" b="1">
                <a:solidFill>
                  <a:srgbClr val="1F4D3B"/>
                </a:solidFill>
                <a:latin typeface="Arial"/>
                <a:ea typeface="Arial"/>
                <a:cs typeface="Arial"/>
              </a:defRPr>
            </a:pPr>
            <a:r>
              <a:rPr sz="1725" b="1">
                <a:solidFill>
                  <a:srgbClr val="1F4D3B"/>
                </a:solidFill>
                <a:latin typeface="Arial"/>
                <a:ea typeface="Arial"/>
                <a:cs typeface="Arial"/>
              </a:rPr>
              <a:t>13 relations in total. Derived occupancy, vacancies and complaint age stay in views.</a:t>
            </a:r>
          </a:p>
        </p:txBody>
      </p:sp>
    </p:spTree>
    <p:extLst>
      <p:ext uri="{BB962C8B-B14F-4D97-AF65-F5344CB8AC3E}">
        <p14:creationId xmlns:p14="http://schemas.microsoft.com/office/powerpoint/2010/main" val="864343143"/>
      </p:ext>
    </p:extLst>
  </p:cSld>
</p:sld>
</file>

<file path=ppt/slides/slide7.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5CD19690-D31E-44FE-A42F-3BF776B36382}"/>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Normalization (1NF, 2NF, 3NF)</a:t>
            </a:r>
          </a:p>
        </p:txBody>
      </p:sp>
      <p:sp>
        <p:nvSpPr>
          <p:cNvPr id="3" name="footer">
            <a:extLst xmlns:a="http://schemas.openxmlformats.org/drawingml/2006/main">
              <a:ext uri="{FF2B5EF4-FFF2-40B4-BE49-F238E27FC236}">
                <a16:creationId xmlns:a16="http://schemas.microsoft.com/office/drawing/2014/main" id="{544F0B49-582C-4FEB-AC68-D706641C631E}"/>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37B14128-1B39-43E1-A3FC-6AD6A2A13759}"/>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07 / 36</a:t>
            </a:r>
          </a:p>
        </p:txBody>
      </p:sp>
      <p:sp>
        <p:nvSpPr>
          <p:cNvPr id="5" name="text">
            <a:extLst xmlns:a="http://schemas.openxmlformats.org/drawingml/2006/main">
              <a:ext uri="{FF2B5EF4-FFF2-40B4-BE49-F238E27FC236}">
                <a16:creationId xmlns:a16="http://schemas.microsoft.com/office/drawing/2014/main" id="{42AB9EAF-CB98-4300-8900-2CAB5176147C}"/>
              </a:ext>
            </a:extLst>
          </p:cNvPr>
          <p:cNvSpPr>
            <a:spLocks xmlns:a="http://schemas.openxmlformats.org/drawingml/2006/main" noGrp="1"/>
          </p:cNvSpPr>
          <p:nvPr/>
        </p:nvSpPr>
        <p:spPr>
          <a:xfrm xmlns:a="http://schemas.openxmlformats.org/drawingml/2006/main">
            <a:off x="628650" y="1857375"/>
            <a:ext cx="10934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243B2D"/>
                </a:solidFill>
                <a:latin typeface="Arial"/>
                <a:ea typeface="Arial"/>
                <a:cs typeface="Arial"/>
              </a:defRPr>
            </a:defPPr>
            <a:lvl1pPr>
              <a:defRPr sz="1950" b="1">
                <a:solidFill>
                  <a:srgbClr val="243B2D"/>
                </a:solidFill>
                <a:latin typeface="Arial"/>
                <a:ea typeface="Arial"/>
                <a:cs typeface="Arial"/>
              </a:defRPr>
            </a:lvl1pPr>
            <a:lvl2pPr>
              <a:defRPr sz="1950" b="1">
                <a:solidFill>
                  <a:srgbClr val="243B2D"/>
                </a:solidFill>
                <a:latin typeface="Arial"/>
                <a:ea typeface="Arial"/>
                <a:cs typeface="Arial"/>
              </a:defRPr>
            </a:lvl2pPr>
            <a:lvl3pPr>
              <a:defRPr sz="1950" b="1">
                <a:solidFill>
                  <a:srgbClr val="243B2D"/>
                </a:solidFill>
                <a:latin typeface="Arial"/>
                <a:ea typeface="Arial"/>
                <a:cs typeface="Arial"/>
              </a:defRPr>
            </a:lvl3pPr>
            <a:lvl4pPr>
              <a:defRPr sz="1950" b="1">
                <a:solidFill>
                  <a:srgbClr val="243B2D"/>
                </a:solidFill>
                <a:latin typeface="Arial"/>
                <a:ea typeface="Arial"/>
                <a:cs typeface="Arial"/>
              </a:defRPr>
            </a:lvl4pPr>
            <a:lvl5pPr>
              <a:defRPr sz="1950" b="1">
                <a:solidFill>
                  <a:srgbClr val="243B2D"/>
                </a:solidFill>
                <a:latin typeface="Arial"/>
                <a:ea typeface="Arial"/>
                <a:cs typeface="Arial"/>
              </a:defRPr>
            </a:lvl5pPr>
            <a:lvl6pPr>
              <a:defRPr sz="1950" b="1">
                <a:solidFill>
                  <a:srgbClr val="243B2D"/>
                </a:solidFill>
                <a:latin typeface="Arial"/>
                <a:ea typeface="Arial"/>
                <a:cs typeface="Arial"/>
              </a:defRPr>
            </a:lvl6pPr>
            <a:lvl7pPr>
              <a:defRPr sz="1950" b="1">
                <a:solidFill>
                  <a:srgbClr val="243B2D"/>
                </a:solidFill>
                <a:latin typeface="Arial"/>
                <a:ea typeface="Arial"/>
                <a:cs typeface="Arial"/>
              </a:defRPr>
            </a:lvl7pPr>
            <a:lvl8pPr>
              <a:defRPr sz="1950" b="1">
                <a:solidFill>
                  <a:srgbClr val="243B2D"/>
                </a:solidFill>
                <a:latin typeface="Arial"/>
                <a:ea typeface="Arial"/>
                <a:cs typeface="Arial"/>
              </a:defRPr>
            </a:lvl8pPr>
            <a:lvl9pPr>
              <a:defRPr sz="1950" b="1">
                <a:solidFill>
                  <a:srgbClr val="243B2D"/>
                </a:solidFill>
                <a:latin typeface="Arial"/>
                <a:ea typeface="Arial"/>
                <a:cs typeface="Arial"/>
              </a:defRPr>
            </a:lvl9pPr>
          </a:lstStyle>
          <a:p xmlns:a="http://schemas.openxmlformats.org/drawingml/2006/main">
            <a:pPr>
              <a:defRPr sz="1950" b="1">
                <a:solidFill>
                  <a:srgbClr val="243B2D"/>
                </a:solidFill>
                <a:latin typeface="Arial"/>
                <a:ea typeface="Arial"/>
                <a:cs typeface="Arial"/>
              </a:defRPr>
            </a:pPr>
            <a:r>
              <a:rPr sz="1950" b="1">
                <a:solidFill>
                  <a:srgbClr val="243B2D"/>
                </a:solidFill>
                <a:latin typeface="Arial"/>
                <a:ea typeface="Arial"/>
                <a:cs typeface="Arial"/>
              </a:rPr>
              <a:t>Starting register</a:t>
            </a:r>
          </a:p>
        </p:txBody>
      </p:sp>
      <p:sp>
        <p:nvSpPr>
          <p:cNvPr id="6" name="text">
            <a:extLst xmlns:a="http://schemas.openxmlformats.org/drawingml/2006/main">
              <a:ext uri="{FF2B5EF4-FFF2-40B4-BE49-F238E27FC236}">
                <a16:creationId xmlns:a16="http://schemas.microsoft.com/office/drawing/2014/main" id="{9A88987D-9B56-4025-BE73-D5465482D479}"/>
              </a:ext>
            </a:extLst>
          </p:cNvPr>
          <p:cNvSpPr>
            <a:spLocks xmlns:a="http://schemas.openxmlformats.org/drawingml/2006/main" noGrp="1"/>
          </p:cNvSpPr>
          <p:nvPr/>
        </p:nvSpPr>
        <p:spPr>
          <a:xfrm xmlns:a="http://schemas.openxmlformats.org/drawingml/2006/main">
            <a:off x="628650" y="2238375"/>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0735E"/>
                </a:solidFill>
                <a:latin typeface="Arial"/>
                <a:ea typeface="Arial"/>
                <a:cs typeface="Arial"/>
              </a:defRPr>
            </a:defPPr>
            <a:lvl1pPr>
              <a:defRPr sz="1725" b="0">
                <a:solidFill>
                  <a:srgbClr val="60735E"/>
                </a:solidFill>
                <a:latin typeface="Arial"/>
                <a:ea typeface="Arial"/>
                <a:cs typeface="Arial"/>
              </a:defRPr>
            </a:lvl1pPr>
            <a:lvl2pPr>
              <a:defRPr sz="1725" b="0">
                <a:solidFill>
                  <a:srgbClr val="60735E"/>
                </a:solidFill>
                <a:latin typeface="Arial"/>
                <a:ea typeface="Arial"/>
                <a:cs typeface="Arial"/>
              </a:defRPr>
            </a:lvl2pPr>
            <a:lvl3pPr>
              <a:defRPr sz="1725" b="0">
                <a:solidFill>
                  <a:srgbClr val="60735E"/>
                </a:solidFill>
                <a:latin typeface="Arial"/>
                <a:ea typeface="Arial"/>
                <a:cs typeface="Arial"/>
              </a:defRPr>
            </a:lvl3pPr>
            <a:lvl4pPr>
              <a:defRPr sz="1725" b="0">
                <a:solidFill>
                  <a:srgbClr val="60735E"/>
                </a:solidFill>
                <a:latin typeface="Arial"/>
                <a:ea typeface="Arial"/>
                <a:cs typeface="Arial"/>
              </a:defRPr>
            </a:lvl4pPr>
            <a:lvl5pPr>
              <a:defRPr sz="1725" b="0">
                <a:solidFill>
                  <a:srgbClr val="60735E"/>
                </a:solidFill>
                <a:latin typeface="Arial"/>
                <a:ea typeface="Arial"/>
                <a:cs typeface="Arial"/>
              </a:defRPr>
            </a:lvl5pPr>
            <a:lvl6pPr>
              <a:defRPr sz="1725" b="0">
                <a:solidFill>
                  <a:srgbClr val="60735E"/>
                </a:solidFill>
                <a:latin typeface="Arial"/>
                <a:ea typeface="Arial"/>
                <a:cs typeface="Arial"/>
              </a:defRPr>
            </a:lvl6pPr>
            <a:lvl7pPr>
              <a:defRPr sz="1725" b="0">
                <a:solidFill>
                  <a:srgbClr val="60735E"/>
                </a:solidFill>
                <a:latin typeface="Arial"/>
                <a:ea typeface="Arial"/>
                <a:cs typeface="Arial"/>
              </a:defRPr>
            </a:lvl7pPr>
            <a:lvl8pPr>
              <a:defRPr sz="1725" b="0">
                <a:solidFill>
                  <a:srgbClr val="60735E"/>
                </a:solidFill>
                <a:latin typeface="Arial"/>
                <a:ea typeface="Arial"/>
                <a:cs typeface="Arial"/>
              </a:defRPr>
            </a:lvl8pPr>
            <a:lvl9pPr>
              <a:defRPr sz="1725" b="0">
                <a:solidFill>
                  <a:srgbClr val="60735E"/>
                </a:solidFill>
                <a:latin typeface="Arial"/>
                <a:ea typeface="Arial"/>
                <a:cs typeface="Arial"/>
              </a:defRPr>
            </a:lvl9pPr>
          </a:lstStyle>
          <a:p xmlns:a="http://schemas.openxmlformats.org/drawingml/2006/main">
            <a:pPr>
              <a:defRPr sz="1725" b="0">
                <a:solidFill>
                  <a:srgbClr val="60735E"/>
                </a:solidFill>
                <a:latin typeface="Arial"/>
                <a:ea typeface="Arial"/>
                <a:cs typeface="Arial"/>
              </a:defRPr>
            </a:pPr>
            <a:r>
              <a:rPr sz="1725" b="0">
                <a:solidFill>
                  <a:srgbClr val="60735E"/>
                </a:solidFill>
                <a:latin typeface="Arial"/>
                <a:ea typeface="Arial"/>
                <a:cs typeface="Arial"/>
              </a:rPr>
              <a:t>Complaint, student, room, category and staff details repeat in a single register.</a:t>
            </a:r>
          </a:p>
        </p:txBody>
      </p:sp>
      <p:sp>
        <p:nvSpPr>
          <p:cNvPr id="7" name="text">
            <a:extLst xmlns:a="http://schemas.openxmlformats.org/drawingml/2006/main">
              <a:ext uri="{FF2B5EF4-FFF2-40B4-BE49-F238E27FC236}">
                <a16:creationId xmlns:a16="http://schemas.microsoft.com/office/drawing/2014/main" id="{AAD03411-1486-4EA0-AF3C-1A7261FAA9FC}"/>
              </a:ext>
            </a:extLst>
          </p:cNvPr>
          <p:cNvSpPr>
            <a:spLocks xmlns:a="http://schemas.openxmlformats.org/drawingml/2006/main" noGrp="1"/>
          </p:cNvSpPr>
          <p:nvPr/>
        </p:nvSpPr>
        <p:spPr>
          <a:xfrm xmlns:a="http://schemas.openxmlformats.org/drawingml/2006/main">
            <a:off x="628650" y="2876550"/>
            <a:ext cx="10934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243B2D"/>
                </a:solidFill>
                <a:latin typeface="Arial"/>
                <a:ea typeface="Arial"/>
                <a:cs typeface="Arial"/>
              </a:defRPr>
            </a:defPPr>
            <a:lvl1pPr>
              <a:defRPr sz="1950" b="1">
                <a:solidFill>
                  <a:srgbClr val="243B2D"/>
                </a:solidFill>
                <a:latin typeface="Arial"/>
                <a:ea typeface="Arial"/>
                <a:cs typeface="Arial"/>
              </a:defRPr>
            </a:lvl1pPr>
            <a:lvl2pPr>
              <a:defRPr sz="1950" b="1">
                <a:solidFill>
                  <a:srgbClr val="243B2D"/>
                </a:solidFill>
                <a:latin typeface="Arial"/>
                <a:ea typeface="Arial"/>
                <a:cs typeface="Arial"/>
              </a:defRPr>
            </a:lvl2pPr>
            <a:lvl3pPr>
              <a:defRPr sz="1950" b="1">
                <a:solidFill>
                  <a:srgbClr val="243B2D"/>
                </a:solidFill>
                <a:latin typeface="Arial"/>
                <a:ea typeface="Arial"/>
                <a:cs typeface="Arial"/>
              </a:defRPr>
            </a:lvl3pPr>
            <a:lvl4pPr>
              <a:defRPr sz="1950" b="1">
                <a:solidFill>
                  <a:srgbClr val="243B2D"/>
                </a:solidFill>
                <a:latin typeface="Arial"/>
                <a:ea typeface="Arial"/>
                <a:cs typeface="Arial"/>
              </a:defRPr>
            </a:lvl4pPr>
            <a:lvl5pPr>
              <a:defRPr sz="1950" b="1">
                <a:solidFill>
                  <a:srgbClr val="243B2D"/>
                </a:solidFill>
                <a:latin typeface="Arial"/>
                <a:ea typeface="Arial"/>
                <a:cs typeface="Arial"/>
              </a:defRPr>
            </a:lvl5pPr>
            <a:lvl6pPr>
              <a:defRPr sz="1950" b="1">
                <a:solidFill>
                  <a:srgbClr val="243B2D"/>
                </a:solidFill>
                <a:latin typeface="Arial"/>
                <a:ea typeface="Arial"/>
                <a:cs typeface="Arial"/>
              </a:defRPr>
            </a:lvl6pPr>
            <a:lvl7pPr>
              <a:defRPr sz="1950" b="1">
                <a:solidFill>
                  <a:srgbClr val="243B2D"/>
                </a:solidFill>
                <a:latin typeface="Arial"/>
                <a:ea typeface="Arial"/>
                <a:cs typeface="Arial"/>
              </a:defRPr>
            </a:lvl7pPr>
            <a:lvl8pPr>
              <a:defRPr sz="1950" b="1">
                <a:solidFill>
                  <a:srgbClr val="243B2D"/>
                </a:solidFill>
                <a:latin typeface="Arial"/>
                <a:ea typeface="Arial"/>
                <a:cs typeface="Arial"/>
              </a:defRPr>
            </a:lvl8pPr>
            <a:lvl9pPr>
              <a:defRPr sz="1950" b="1">
                <a:solidFill>
                  <a:srgbClr val="243B2D"/>
                </a:solidFill>
                <a:latin typeface="Arial"/>
                <a:ea typeface="Arial"/>
                <a:cs typeface="Arial"/>
              </a:defRPr>
            </a:lvl9pPr>
          </a:lstStyle>
          <a:p xmlns:a="http://schemas.openxmlformats.org/drawingml/2006/main">
            <a:pPr>
              <a:defRPr sz="1950" b="1">
                <a:solidFill>
                  <a:srgbClr val="243B2D"/>
                </a:solidFill>
                <a:latin typeface="Arial"/>
                <a:ea typeface="Arial"/>
                <a:cs typeface="Arial"/>
              </a:defRPr>
            </a:pPr>
            <a:r>
              <a:rPr sz="1950" b="1">
                <a:solidFill>
                  <a:srgbClr val="243B2D"/>
                </a:solidFill>
                <a:latin typeface="Arial"/>
                <a:ea typeface="Arial"/>
                <a:cs typeface="Arial"/>
              </a:rPr>
              <a:t>1NF: atomic values</a:t>
            </a:r>
          </a:p>
        </p:txBody>
      </p:sp>
      <p:sp>
        <p:nvSpPr>
          <p:cNvPr id="8" name="text">
            <a:extLst xmlns:a="http://schemas.openxmlformats.org/drawingml/2006/main">
              <a:ext uri="{FF2B5EF4-FFF2-40B4-BE49-F238E27FC236}">
                <a16:creationId xmlns:a16="http://schemas.microsoft.com/office/drawing/2014/main" id="{A1C8E15A-002E-4539-94BC-45F1554141E8}"/>
              </a:ext>
            </a:extLst>
          </p:cNvPr>
          <p:cNvSpPr>
            <a:spLocks xmlns:a="http://schemas.openxmlformats.org/drawingml/2006/main" noGrp="1"/>
          </p:cNvSpPr>
          <p:nvPr/>
        </p:nvSpPr>
        <p:spPr>
          <a:xfrm xmlns:a="http://schemas.openxmlformats.org/drawingml/2006/main">
            <a:off x="628650" y="3257550"/>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0735E"/>
                </a:solidFill>
                <a:latin typeface="Arial"/>
                <a:ea typeface="Arial"/>
                <a:cs typeface="Arial"/>
              </a:defRPr>
            </a:defPPr>
            <a:lvl1pPr>
              <a:defRPr sz="1725" b="0">
                <a:solidFill>
                  <a:srgbClr val="60735E"/>
                </a:solidFill>
                <a:latin typeface="Arial"/>
                <a:ea typeface="Arial"/>
                <a:cs typeface="Arial"/>
              </a:defRPr>
            </a:lvl1pPr>
            <a:lvl2pPr>
              <a:defRPr sz="1725" b="0">
                <a:solidFill>
                  <a:srgbClr val="60735E"/>
                </a:solidFill>
                <a:latin typeface="Arial"/>
                <a:ea typeface="Arial"/>
                <a:cs typeface="Arial"/>
              </a:defRPr>
            </a:lvl2pPr>
            <a:lvl3pPr>
              <a:defRPr sz="1725" b="0">
                <a:solidFill>
                  <a:srgbClr val="60735E"/>
                </a:solidFill>
                <a:latin typeface="Arial"/>
                <a:ea typeface="Arial"/>
                <a:cs typeface="Arial"/>
              </a:defRPr>
            </a:lvl3pPr>
            <a:lvl4pPr>
              <a:defRPr sz="1725" b="0">
                <a:solidFill>
                  <a:srgbClr val="60735E"/>
                </a:solidFill>
                <a:latin typeface="Arial"/>
                <a:ea typeface="Arial"/>
                <a:cs typeface="Arial"/>
              </a:defRPr>
            </a:lvl4pPr>
            <a:lvl5pPr>
              <a:defRPr sz="1725" b="0">
                <a:solidFill>
                  <a:srgbClr val="60735E"/>
                </a:solidFill>
                <a:latin typeface="Arial"/>
                <a:ea typeface="Arial"/>
                <a:cs typeface="Arial"/>
              </a:defRPr>
            </a:lvl5pPr>
            <a:lvl6pPr>
              <a:defRPr sz="1725" b="0">
                <a:solidFill>
                  <a:srgbClr val="60735E"/>
                </a:solidFill>
                <a:latin typeface="Arial"/>
                <a:ea typeface="Arial"/>
                <a:cs typeface="Arial"/>
              </a:defRPr>
            </a:lvl6pPr>
            <a:lvl7pPr>
              <a:defRPr sz="1725" b="0">
                <a:solidFill>
                  <a:srgbClr val="60735E"/>
                </a:solidFill>
                <a:latin typeface="Arial"/>
                <a:ea typeface="Arial"/>
                <a:cs typeface="Arial"/>
              </a:defRPr>
            </a:lvl7pPr>
            <a:lvl8pPr>
              <a:defRPr sz="1725" b="0">
                <a:solidFill>
                  <a:srgbClr val="60735E"/>
                </a:solidFill>
                <a:latin typeface="Arial"/>
                <a:ea typeface="Arial"/>
                <a:cs typeface="Arial"/>
              </a:defRPr>
            </a:lvl8pPr>
            <a:lvl9pPr>
              <a:defRPr sz="1725" b="0">
                <a:solidFill>
                  <a:srgbClr val="60735E"/>
                </a:solidFill>
                <a:latin typeface="Arial"/>
                <a:ea typeface="Arial"/>
                <a:cs typeface="Arial"/>
              </a:defRPr>
            </a:lvl9pPr>
          </a:lstStyle>
          <a:p xmlns:a="http://schemas.openxmlformats.org/drawingml/2006/main">
            <a:pPr>
              <a:defRPr sz="1725" b="0">
                <a:solidFill>
                  <a:srgbClr val="60735E"/>
                </a:solidFill>
                <a:latin typeface="Arial"/>
                <a:ea typeface="Arial"/>
                <a:cs typeface="Arial"/>
              </a:defRPr>
            </a:pPr>
            <a:r>
              <a:rPr sz="1725" b="0">
                <a:solidFill>
                  <a:srgbClr val="60735E"/>
                </a:solidFill>
                <a:latin typeface="Arial"/>
                <a:ea typeface="Arial"/>
                <a:cs typeface="Arial"/>
              </a:rPr>
              <a:t>Move the phone list into USER_PHONE. Keep one phone number in each row.</a:t>
            </a:r>
          </a:p>
        </p:txBody>
      </p:sp>
      <p:sp>
        <p:nvSpPr>
          <p:cNvPr id="9" name="text">
            <a:extLst xmlns:a="http://schemas.openxmlformats.org/drawingml/2006/main">
              <a:ext uri="{FF2B5EF4-FFF2-40B4-BE49-F238E27FC236}">
                <a16:creationId xmlns:a16="http://schemas.microsoft.com/office/drawing/2014/main" id="{59B93961-F6EB-49FF-8A3A-8C20077E52A9}"/>
              </a:ext>
            </a:extLst>
          </p:cNvPr>
          <p:cNvSpPr>
            <a:spLocks xmlns:a="http://schemas.openxmlformats.org/drawingml/2006/main" noGrp="1"/>
          </p:cNvSpPr>
          <p:nvPr/>
        </p:nvSpPr>
        <p:spPr>
          <a:xfrm xmlns:a="http://schemas.openxmlformats.org/drawingml/2006/main">
            <a:off x="628650" y="3895725"/>
            <a:ext cx="10934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243B2D"/>
                </a:solidFill>
                <a:latin typeface="Arial"/>
                <a:ea typeface="Arial"/>
                <a:cs typeface="Arial"/>
              </a:defRPr>
            </a:defPPr>
            <a:lvl1pPr>
              <a:defRPr sz="1950" b="1">
                <a:solidFill>
                  <a:srgbClr val="243B2D"/>
                </a:solidFill>
                <a:latin typeface="Arial"/>
                <a:ea typeface="Arial"/>
                <a:cs typeface="Arial"/>
              </a:defRPr>
            </a:lvl1pPr>
            <a:lvl2pPr>
              <a:defRPr sz="1950" b="1">
                <a:solidFill>
                  <a:srgbClr val="243B2D"/>
                </a:solidFill>
                <a:latin typeface="Arial"/>
                <a:ea typeface="Arial"/>
                <a:cs typeface="Arial"/>
              </a:defRPr>
            </a:lvl2pPr>
            <a:lvl3pPr>
              <a:defRPr sz="1950" b="1">
                <a:solidFill>
                  <a:srgbClr val="243B2D"/>
                </a:solidFill>
                <a:latin typeface="Arial"/>
                <a:ea typeface="Arial"/>
                <a:cs typeface="Arial"/>
              </a:defRPr>
            </a:lvl3pPr>
            <a:lvl4pPr>
              <a:defRPr sz="1950" b="1">
                <a:solidFill>
                  <a:srgbClr val="243B2D"/>
                </a:solidFill>
                <a:latin typeface="Arial"/>
                <a:ea typeface="Arial"/>
                <a:cs typeface="Arial"/>
              </a:defRPr>
            </a:lvl4pPr>
            <a:lvl5pPr>
              <a:defRPr sz="1950" b="1">
                <a:solidFill>
                  <a:srgbClr val="243B2D"/>
                </a:solidFill>
                <a:latin typeface="Arial"/>
                <a:ea typeface="Arial"/>
                <a:cs typeface="Arial"/>
              </a:defRPr>
            </a:lvl5pPr>
            <a:lvl6pPr>
              <a:defRPr sz="1950" b="1">
                <a:solidFill>
                  <a:srgbClr val="243B2D"/>
                </a:solidFill>
                <a:latin typeface="Arial"/>
                <a:ea typeface="Arial"/>
                <a:cs typeface="Arial"/>
              </a:defRPr>
            </a:lvl6pPr>
            <a:lvl7pPr>
              <a:defRPr sz="1950" b="1">
                <a:solidFill>
                  <a:srgbClr val="243B2D"/>
                </a:solidFill>
                <a:latin typeface="Arial"/>
                <a:ea typeface="Arial"/>
                <a:cs typeface="Arial"/>
              </a:defRPr>
            </a:lvl7pPr>
            <a:lvl8pPr>
              <a:defRPr sz="1950" b="1">
                <a:solidFill>
                  <a:srgbClr val="243B2D"/>
                </a:solidFill>
                <a:latin typeface="Arial"/>
                <a:ea typeface="Arial"/>
                <a:cs typeface="Arial"/>
              </a:defRPr>
            </a:lvl8pPr>
            <a:lvl9pPr>
              <a:defRPr sz="1950" b="1">
                <a:solidFill>
                  <a:srgbClr val="243B2D"/>
                </a:solidFill>
                <a:latin typeface="Arial"/>
                <a:ea typeface="Arial"/>
                <a:cs typeface="Arial"/>
              </a:defRPr>
            </a:lvl9pPr>
          </a:lstStyle>
          <a:p xmlns:a="http://schemas.openxmlformats.org/drawingml/2006/main">
            <a:pPr>
              <a:defRPr sz="1950" b="1">
                <a:solidFill>
                  <a:srgbClr val="243B2D"/>
                </a:solidFill>
                <a:latin typeface="Arial"/>
                <a:ea typeface="Arial"/>
                <a:cs typeface="Arial"/>
              </a:defRPr>
            </a:pPr>
            <a:r>
              <a:rPr sz="1950" b="1">
                <a:solidFill>
                  <a:srgbClr val="243B2D"/>
                </a:solidFill>
                <a:latin typeface="Arial"/>
                <a:ea typeface="Arial"/>
                <a:cs typeface="Arial"/>
              </a:rPr>
              <a:t>2NF: complete key dependence</a:t>
            </a:r>
          </a:p>
        </p:txBody>
      </p:sp>
      <p:sp>
        <p:nvSpPr>
          <p:cNvPr id="10" name="text">
            <a:extLst xmlns:a="http://schemas.openxmlformats.org/drawingml/2006/main">
              <a:ext uri="{FF2B5EF4-FFF2-40B4-BE49-F238E27FC236}">
                <a16:creationId xmlns:a16="http://schemas.microsoft.com/office/drawing/2014/main" id="{5DB4D188-E53C-4966-A44C-4624A46642D3}"/>
              </a:ext>
            </a:extLst>
          </p:cNvPr>
          <p:cNvSpPr>
            <a:spLocks xmlns:a="http://schemas.openxmlformats.org/drawingml/2006/main" noGrp="1"/>
          </p:cNvSpPr>
          <p:nvPr/>
        </p:nvSpPr>
        <p:spPr>
          <a:xfrm xmlns:a="http://schemas.openxmlformats.org/drawingml/2006/main">
            <a:off x="628650" y="4276725"/>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0735E"/>
                </a:solidFill>
                <a:latin typeface="Arial"/>
                <a:ea typeface="Arial"/>
                <a:cs typeface="Arial"/>
              </a:defRPr>
            </a:defPPr>
            <a:lvl1pPr>
              <a:defRPr sz="1725" b="0">
                <a:solidFill>
                  <a:srgbClr val="60735E"/>
                </a:solidFill>
                <a:latin typeface="Arial"/>
                <a:ea typeface="Arial"/>
                <a:cs typeface="Arial"/>
              </a:defRPr>
            </a:lvl1pPr>
            <a:lvl2pPr>
              <a:defRPr sz="1725" b="0">
                <a:solidFill>
                  <a:srgbClr val="60735E"/>
                </a:solidFill>
                <a:latin typeface="Arial"/>
                <a:ea typeface="Arial"/>
                <a:cs typeface="Arial"/>
              </a:defRPr>
            </a:lvl2pPr>
            <a:lvl3pPr>
              <a:defRPr sz="1725" b="0">
                <a:solidFill>
                  <a:srgbClr val="60735E"/>
                </a:solidFill>
                <a:latin typeface="Arial"/>
                <a:ea typeface="Arial"/>
                <a:cs typeface="Arial"/>
              </a:defRPr>
            </a:lvl3pPr>
            <a:lvl4pPr>
              <a:defRPr sz="1725" b="0">
                <a:solidFill>
                  <a:srgbClr val="60735E"/>
                </a:solidFill>
                <a:latin typeface="Arial"/>
                <a:ea typeface="Arial"/>
                <a:cs typeface="Arial"/>
              </a:defRPr>
            </a:lvl4pPr>
            <a:lvl5pPr>
              <a:defRPr sz="1725" b="0">
                <a:solidFill>
                  <a:srgbClr val="60735E"/>
                </a:solidFill>
                <a:latin typeface="Arial"/>
                <a:ea typeface="Arial"/>
                <a:cs typeface="Arial"/>
              </a:defRPr>
            </a:lvl5pPr>
            <a:lvl6pPr>
              <a:defRPr sz="1725" b="0">
                <a:solidFill>
                  <a:srgbClr val="60735E"/>
                </a:solidFill>
                <a:latin typeface="Arial"/>
                <a:ea typeface="Arial"/>
                <a:cs typeface="Arial"/>
              </a:defRPr>
            </a:lvl6pPr>
            <a:lvl7pPr>
              <a:defRPr sz="1725" b="0">
                <a:solidFill>
                  <a:srgbClr val="60735E"/>
                </a:solidFill>
                <a:latin typeface="Arial"/>
                <a:ea typeface="Arial"/>
                <a:cs typeface="Arial"/>
              </a:defRPr>
            </a:lvl7pPr>
            <a:lvl8pPr>
              <a:defRPr sz="1725" b="0">
                <a:solidFill>
                  <a:srgbClr val="60735E"/>
                </a:solidFill>
                <a:latin typeface="Arial"/>
                <a:ea typeface="Arial"/>
                <a:cs typeface="Arial"/>
              </a:defRPr>
            </a:lvl8pPr>
            <a:lvl9pPr>
              <a:defRPr sz="1725" b="0">
                <a:solidFill>
                  <a:srgbClr val="60735E"/>
                </a:solidFill>
                <a:latin typeface="Arial"/>
                <a:ea typeface="Arial"/>
                <a:cs typeface="Arial"/>
              </a:defRPr>
            </a:lvl9pPr>
          </a:lstStyle>
          <a:p xmlns:a="http://schemas.openxmlformats.org/drawingml/2006/main">
            <a:pPr>
              <a:defRPr sz="1725" b="0">
                <a:solidFill>
                  <a:srgbClr val="60735E"/>
                </a:solidFill>
                <a:latin typeface="Arial"/>
                <a:ea typeface="Arial"/>
                <a:cs typeface="Arial"/>
              </a:defRPr>
            </a:pPr>
            <a:r>
              <a:rPr sz="1725" b="0">
                <a:solidFill>
                  <a:srgbClr val="60735E"/>
                </a:solidFill>
                <a:latin typeface="Arial"/>
                <a:ea typeface="Arial"/>
                <a:cs typeface="Arial"/>
              </a:rPr>
              <a:t>Keep shared person details in USERS, rather than repeating them with composite phone keys.</a:t>
            </a:r>
          </a:p>
        </p:txBody>
      </p:sp>
      <p:sp>
        <p:nvSpPr>
          <p:cNvPr id="11" name="text">
            <a:extLst xmlns:a="http://schemas.openxmlformats.org/drawingml/2006/main">
              <a:ext uri="{FF2B5EF4-FFF2-40B4-BE49-F238E27FC236}">
                <a16:creationId xmlns:a16="http://schemas.microsoft.com/office/drawing/2014/main" id="{07A8A570-2765-4BA5-867B-61B0F0EF0992}"/>
              </a:ext>
            </a:extLst>
          </p:cNvPr>
          <p:cNvSpPr>
            <a:spLocks xmlns:a="http://schemas.openxmlformats.org/drawingml/2006/main" noGrp="1"/>
          </p:cNvSpPr>
          <p:nvPr/>
        </p:nvSpPr>
        <p:spPr>
          <a:xfrm xmlns:a="http://schemas.openxmlformats.org/drawingml/2006/main">
            <a:off x="628650" y="4914900"/>
            <a:ext cx="10934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243B2D"/>
                </a:solidFill>
                <a:latin typeface="Arial"/>
                <a:ea typeface="Arial"/>
                <a:cs typeface="Arial"/>
              </a:defRPr>
            </a:defPPr>
            <a:lvl1pPr>
              <a:defRPr sz="1950" b="1">
                <a:solidFill>
                  <a:srgbClr val="243B2D"/>
                </a:solidFill>
                <a:latin typeface="Arial"/>
                <a:ea typeface="Arial"/>
                <a:cs typeface="Arial"/>
              </a:defRPr>
            </a:lvl1pPr>
            <a:lvl2pPr>
              <a:defRPr sz="1950" b="1">
                <a:solidFill>
                  <a:srgbClr val="243B2D"/>
                </a:solidFill>
                <a:latin typeface="Arial"/>
                <a:ea typeface="Arial"/>
                <a:cs typeface="Arial"/>
              </a:defRPr>
            </a:lvl2pPr>
            <a:lvl3pPr>
              <a:defRPr sz="1950" b="1">
                <a:solidFill>
                  <a:srgbClr val="243B2D"/>
                </a:solidFill>
                <a:latin typeface="Arial"/>
                <a:ea typeface="Arial"/>
                <a:cs typeface="Arial"/>
              </a:defRPr>
            </a:lvl3pPr>
            <a:lvl4pPr>
              <a:defRPr sz="1950" b="1">
                <a:solidFill>
                  <a:srgbClr val="243B2D"/>
                </a:solidFill>
                <a:latin typeface="Arial"/>
                <a:ea typeface="Arial"/>
                <a:cs typeface="Arial"/>
              </a:defRPr>
            </a:lvl4pPr>
            <a:lvl5pPr>
              <a:defRPr sz="1950" b="1">
                <a:solidFill>
                  <a:srgbClr val="243B2D"/>
                </a:solidFill>
                <a:latin typeface="Arial"/>
                <a:ea typeface="Arial"/>
                <a:cs typeface="Arial"/>
              </a:defRPr>
            </a:lvl5pPr>
            <a:lvl6pPr>
              <a:defRPr sz="1950" b="1">
                <a:solidFill>
                  <a:srgbClr val="243B2D"/>
                </a:solidFill>
                <a:latin typeface="Arial"/>
                <a:ea typeface="Arial"/>
                <a:cs typeface="Arial"/>
              </a:defRPr>
            </a:lvl6pPr>
            <a:lvl7pPr>
              <a:defRPr sz="1950" b="1">
                <a:solidFill>
                  <a:srgbClr val="243B2D"/>
                </a:solidFill>
                <a:latin typeface="Arial"/>
                <a:ea typeface="Arial"/>
                <a:cs typeface="Arial"/>
              </a:defRPr>
            </a:lvl7pPr>
            <a:lvl8pPr>
              <a:defRPr sz="1950" b="1">
                <a:solidFill>
                  <a:srgbClr val="243B2D"/>
                </a:solidFill>
                <a:latin typeface="Arial"/>
                <a:ea typeface="Arial"/>
                <a:cs typeface="Arial"/>
              </a:defRPr>
            </a:lvl8pPr>
            <a:lvl9pPr>
              <a:defRPr sz="1950" b="1">
                <a:solidFill>
                  <a:srgbClr val="243B2D"/>
                </a:solidFill>
                <a:latin typeface="Arial"/>
                <a:ea typeface="Arial"/>
                <a:cs typeface="Arial"/>
              </a:defRPr>
            </a:lvl9pPr>
          </a:lstStyle>
          <a:p xmlns:a="http://schemas.openxmlformats.org/drawingml/2006/main">
            <a:pPr>
              <a:defRPr sz="1950" b="1">
                <a:solidFill>
                  <a:srgbClr val="243B2D"/>
                </a:solidFill>
                <a:latin typeface="Arial"/>
                <a:ea typeface="Arial"/>
                <a:cs typeface="Arial"/>
              </a:defRPr>
            </a:pPr>
            <a:r>
              <a:rPr sz="1950" b="1">
                <a:solidFill>
                  <a:srgbClr val="243B2D"/>
                </a:solidFill>
                <a:latin typeface="Arial"/>
                <a:ea typeface="Arial"/>
                <a:cs typeface="Arial"/>
              </a:rPr>
              <a:t>3NF: remove transitive dependencies</a:t>
            </a:r>
          </a:p>
        </p:txBody>
      </p:sp>
      <p:sp>
        <p:nvSpPr>
          <p:cNvPr id="12" name="text">
            <a:extLst xmlns:a="http://schemas.openxmlformats.org/drawingml/2006/main">
              <a:ext uri="{FF2B5EF4-FFF2-40B4-BE49-F238E27FC236}">
                <a16:creationId xmlns:a16="http://schemas.microsoft.com/office/drawing/2014/main" id="{2B068A04-324B-40B2-B352-ABDA08F1BA1C}"/>
              </a:ext>
            </a:extLst>
          </p:cNvPr>
          <p:cNvSpPr>
            <a:spLocks xmlns:a="http://schemas.openxmlformats.org/drawingml/2006/main" noGrp="1"/>
          </p:cNvSpPr>
          <p:nvPr/>
        </p:nvSpPr>
        <p:spPr>
          <a:xfrm xmlns:a="http://schemas.openxmlformats.org/drawingml/2006/main">
            <a:off x="628650" y="5295900"/>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0735E"/>
                </a:solidFill>
                <a:latin typeface="Arial"/>
                <a:ea typeface="Arial"/>
                <a:cs typeface="Arial"/>
              </a:defRPr>
            </a:defPPr>
            <a:lvl1pPr>
              <a:defRPr sz="1725" b="0">
                <a:solidFill>
                  <a:srgbClr val="60735E"/>
                </a:solidFill>
                <a:latin typeface="Arial"/>
                <a:ea typeface="Arial"/>
                <a:cs typeface="Arial"/>
              </a:defRPr>
            </a:lvl1pPr>
            <a:lvl2pPr>
              <a:defRPr sz="1725" b="0">
                <a:solidFill>
                  <a:srgbClr val="60735E"/>
                </a:solidFill>
                <a:latin typeface="Arial"/>
                <a:ea typeface="Arial"/>
                <a:cs typeface="Arial"/>
              </a:defRPr>
            </a:lvl2pPr>
            <a:lvl3pPr>
              <a:defRPr sz="1725" b="0">
                <a:solidFill>
                  <a:srgbClr val="60735E"/>
                </a:solidFill>
                <a:latin typeface="Arial"/>
                <a:ea typeface="Arial"/>
                <a:cs typeface="Arial"/>
              </a:defRPr>
            </a:lvl3pPr>
            <a:lvl4pPr>
              <a:defRPr sz="1725" b="0">
                <a:solidFill>
                  <a:srgbClr val="60735E"/>
                </a:solidFill>
                <a:latin typeface="Arial"/>
                <a:ea typeface="Arial"/>
                <a:cs typeface="Arial"/>
              </a:defRPr>
            </a:lvl4pPr>
            <a:lvl5pPr>
              <a:defRPr sz="1725" b="0">
                <a:solidFill>
                  <a:srgbClr val="60735E"/>
                </a:solidFill>
                <a:latin typeface="Arial"/>
                <a:ea typeface="Arial"/>
                <a:cs typeface="Arial"/>
              </a:defRPr>
            </a:lvl5pPr>
            <a:lvl6pPr>
              <a:defRPr sz="1725" b="0">
                <a:solidFill>
                  <a:srgbClr val="60735E"/>
                </a:solidFill>
                <a:latin typeface="Arial"/>
                <a:ea typeface="Arial"/>
                <a:cs typeface="Arial"/>
              </a:defRPr>
            </a:lvl6pPr>
            <a:lvl7pPr>
              <a:defRPr sz="1725" b="0">
                <a:solidFill>
                  <a:srgbClr val="60735E"/>
                </a:solidFill>
                <a:latin typeface="Arial"/>
                <a:ea typeface="Arial"/>
                <a:cs typeface="Arial"/>
              </a:defRPr>
            </a:lvl7pPr>
            <a:lvl8pPr>
              <a:defRPr sz="1725" b="0">
                <a:solidFill>
                  <a:srgbClr val="60735E"/>
                </a:solidFill>
                <a:latin typeface="Arial"/>
                <a:ea typeface="Arial"/>
                <a:cs typeface="Arial"/>
              </a:defRPr>
            </a:lvl8pPr>
            <a:lvl9pPr>
              <a:defRPr sz="1725" b="0">
                <a:solidFill>
                  <a:srgbClr val="60735E"/>
                </a:solidFill>
                <a:latin typeface="Arial"/>
                <a:ea typeface="Arial"/>
                <a:cs typeface="Arial"/>
              </a:defRPr>
            </a:lvl9pPr>
          </a:lstStyle>
          <a:p xmlns:a="http://schemas.openxmlformats.org/drawingml/2006/main">
            <a:pPr>
              <a:defRPr sz="1725" b="0">
                <a:solidFill>
                  <a:srgbClr val="60735E"/>
                </a:solidFill>
                <a:latin typeface="Arial"/>
                <a:ea typeface="Arial"/>
                <a:cs typeface="Arial"/>
              </a:defRPr>
            </a:pPr>
            <a:r>
              <a:rPr sz="1725" b="0">
                <a:solidFill>
                  <a:srgbClr val="60735E"/>
                </a:solidFill>
                <a:latin typeface="Arial"/>
                <a:ea typeface="Arial"/>
                <a:cs typeface="Arial"/>
              </a:rPr>
              <a:t>Store room capacity and fee in ROOM_TYPE, and service targets in COMPLAINT_CATEGORY.</a:t>
            </a:r>
          </a:p>
        </p:txBody>
      </p:sp>
    </p:spTree>
    <p:extLst>
      <p:ext uri="{BB962C8B-B14F-4D97-AF65-F5344CB8AC3E}">
        <p14:creationId xmlns:p14="http://schemas.microsoft.com/office/powerpoint/2010/main" val="1501814254"/>
      </p:ext>
    </p:extLst>
  </p:cSld>
</p:sld>
</file>

<file path=ppt/slides/slide8.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286C19F8-9603-4811-B4FC-E2DEBBF254E6}"/>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footer">
            <a:extLst xmlns:a="http://schemas.openxmlformats.org/drawingml/2006/main">
              <a:ext uri="{FF2B5EF4-FFF2-40B4-BE49-F238E27FC236}">
                <a16:creationId xmlns:a16="http://schemas.microsoft.com/office/drawing/2014/main" id="{31B7E239-53CB-46DE-AB8F-CD278C8C1562}"/>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49F7122E-7687-442B-BDFE-3CBB32C407D7}"/>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08 / 36</a:t>
            </a:r>
          </a:p>
        </p:txBody>
      </p:sp>
      <p:graphicFrame>
        <p:nvGraphicFramePr>
          <p:cNvPr id="5" name="">
            <a:extLst xmlns:a="http://schemas.openxmlformats.org/drawingml/2006/main">
              <a:ext uri="{FF2B5EF4-FFF2-40B4-BE49-F238E27FC236}">
                <a16:creationId xmlns:a16="http://schemas.microsoft.com/office/drawing/2014/main" id="{45BBD5B4-FA8D-4F9E-A8F8-663C0471D714}"/>
              </a:ext>
            </a:extLst>
          </p:cNvPr>
          <p:cNvGraphicFramePr/>
          <p:nvPr/>
        </p:nvGraphicFramePr>
        <p:xfrm>
          <a:off xmlns:a="http://schemas.openxmlformats.org/drawingml/2006/main" x="609600" y="1790700"/>
          <a:ext xmlns:a="http://schemas.openxmlformats.org/drawingml/2006/main" cx="10972800" cy="4229100"/>
        </p:xfrm>
        <a:graphic xmlns:a="http://schemas.openxmlformats.org/drawingml/2006/main">
          <a:graphicData uri="http://schemas.openxmlformats.org/drawingml/2006/table">
            <a:tbl>
              <a:tblPr/>
              <a:tblGrid>
                <a:gridCol w="2857500"/>
                <a:gridCol w="4191000"/>
                <a:gridCol w="3924300"/>
              </a:tblGrid>
              <a:tr h="457200">
                <a:tc>
                  <a:txBody>
                    <a:bodyPr lIns="114300" tIns="114300" rIns="114300" bIns="114300"/>
                    <a:lstStyle/>
                    <a:p>
                      <a:r>
                        <a:rPr sz="1575" b="1">
                          <a:solidFill>
                            <a:srgbClr val="FFFFFF"/>
                          </a:solidFill>
                          <a:latin typeface="Arial"/>
                          <a:ea typeface="Arial"/>
                          <a:cs typeface="Arial"/>
                        </a:rPr>
                        <a:t>Mechanism</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575" b="1">
                          <a:solidFill>
                            <a:srgbClr val="FFFFFF"/>
                          </a:solidFill>
                          <a:latin typeface="Arial"/>
                          <a:ea typeface="Arial"/>
                          <a:cs typeface="Arial"/>
                        </a:rPr>
                        <a:t>Example</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575" b="1">
                          <a:solidFill>
                            <a:srgbClr val="FFFFFF"/>
                          </a:solidFill>
                          <a:latin typeface="Arial"/>
                          <a:ea typeface="Arial"/>
                          <a:cs typeface="Arial"/>
                        </a:rPr>
                        <a:t>Purpose</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628650">
                <a:tc>
                  <a:txBody>
                    <a:bodyPr lIns="114300" tIns="114300" rIns="114300" bIns="114300"/>
                    <a:lstStyle/>
                    <a:p>
                      <a:r>
                        <a:rPr sz="1650" b="0">
                          <a:solidFill>
                            <a:srgbClr val="243B2D"/>
                          </a:solidFill>
                          <a:latin typeface="Arial"/>
                          <a:ea typeface="Arial"/>
                          <a:cs typeface="Arial"/>
                        </a:rPr>
                        <a:t>Primary and foreign keys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13 table keys and 18 references</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Identity and referential integrity</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650" b="0">
                          <a:solidFill>
                            <a:srgbClr val="243B2D"/>
                          </a:solidFill>
                          <a:latin typeface="Arial"/>
                          <a:ea typeface="Arial"/>
                          <a:cs typeface="Arial"/>
                        </a:rPr>
                        <a:t>Natural unique keys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email, reg_no, block_name, room identity</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Reject duplicate identities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628650">
                <a:tc>
                  <a:txBody>
                    <a:bodyPr lIns="114300" tIns="114300" rIns="114300" bIns="114300"/>
                    <a:lstStyle/>
                    <a:p>
                      <a:r>
                        <a:rPr sz="1650" b="0">
                          <a:solidFill>
                            <a:srgbClr val="243B2D"/>
                          </a:solidFill>
                          <a:latin typeface="Arial"/>
                          <a:ea typeface="Arial"/>
                          <a:cs typeface="Arial"/>
                        </a:rPr>
                        <a:t>Generated unique key</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(student_id, active_flag)</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At most one active room per student</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650" b="0">
                          <a:solidFill>
                            <a:srgbClr val="243B2D"/>
                          </a:solidFill>
                          <a:latin typeface="Arial"/>
                          <a:ea typeface="Arial"/>
                          <a:cs typeface="Arial"/>
                        </a:rPr>
                        <a:t>CHECK constraints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rating 1–5, capacity 1–6, valid dates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Reject invalid values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628650">
                <a:tc>
                  <a:txBody>
                    <a:bodyPr lIns="114300" tIns="114300" rIns="114300" bIns="114300"/>
                    <a:lstStyle/>
                    <a:p>
                      <a:r>
                        <a:rPr sz="1650" b="0">
                          <a:solidFill>
                            <a:srgbClr val="243B2D"/>
                          </a:solidFill>
                          <a:latin typeface="Arial"/>
                          <a:ea typeface="Arial"/>
                          <a:cs typeface="Arial"/>
                        </a:rPr>
                        <a:t>ENUM and defaults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Role, priority and complaint status</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Use explicit domains and initial states</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650" b="0">
                          <a:solidFill>
                            <a:srgbClr val="243B2D"/>
                          </a:solidFill>
                          <a:latin typeface="Arial"/>
                          <a:ea typeface="Arial"/>
                          <a:cs typeface="Arial"/>
                        </a:rPr>
                        <a:t>Database indexes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Complaint status and room/category/status</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Support lookup and dashboard queries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bl>
          </a:graphicData>
        </a:graphic>
      </p:graphicFrame>
      <p:sp>
        <p:nvSpPr>
          <p:cNvPr id="6" name="slide-subtitle">
            <a:extLst xmlns:a="http://schemas.openxmlformats.org/drawingml/2006/main">
              <a:ext uri="{FF2B5EF4-FFF2-40B4-BE49-F238E27FC236}">
                <a16:creationId xmlns:a16="http://schemas.microsoft.com/office/drawing/2014/main" id="{26C734AC-19E4-4BDE-AA3F-FC6787EBBBBD}"/>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Implemented keys, constraints, domains and indexes</a:t>
            </a:r>
          </a:p>
        </p:txBody>
      </p:sp>
    </p:spTree>
    <p:extLst>
      <p:ext uri="{BB962C8B-B14F-4D97-AF65-F5344CB8AC3E}">
        <p14:creationId xmlns:p14="http://schemas.microsoft.com/office/powerpoint/2010/main" val="1488324964"/>
      </p:ext>
    </p:extLst>
  </p:cSld>
</p:sld>
</file>

<file path=ppt/slides/slide9.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52EE2C1E-0E1C-45E7-AE8D-921BDB34411D}"/>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20A99C69-AEC9-4051-9B54-01CCDA82FB57}"/>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USERS (1/13)</a:t>
            </a:r>
          </a:p>
        </p:txBody>
      </p:sp>
      <p:sp>
        <p:nvSpPr>
          <p:cNvPr id="4" name="footer">
            <a:extLst xmlns:a="http://schemas.openxmlformats.org/drawingml/2006/main">
              <a:ext uri="{FF2B5EF4-FFF2-40B4-BE49-F238E27FC236}">
                <a16:creationId xmlns:a16="http://schemas.microsoft.com/office/drawing/2014/main" id="{2C54B788-02B9-41FC-A1BD-B3C827D8B156}"/>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70C8FBD1-FBE4-42D6-BB33-91E8A78268B0}"/>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09 / 36</a:t>
            </a:r>
          </a:p>
        </p:txBody>
      </p:sp>
      <p:sp>
        <p:nvSpPr>
          <p:cNvPr id="6" name="sql-example">
            <a:extLst xmlns:a="http://schemas.openxmlformats.org/drawingml/2006/main">
              <a:ext uri="{FF2B5EF4-FFF2-40B4-BE49-F238E27FC236}">
                <a16:creationId xmlns:a16="http://schemas.microsoft.com/office/drawing/2014/main" id="{6D77264A-A3A2-4612-8695-4CEF368CA499}"/>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users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user_id INT AUTO_INCREMENT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full_name VARCHAR(100)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email VARCHAR(120) NOT NULL UNIQUE,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password_hash CHAR(60)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role ENUM('STUDENT','WARDEN','STAFF','ADMIN')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is_active BOOLEAN NOT NULL DEFAULT TRUE,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created_at TIMESTAMP NOT NULL DEFAULT CURRENT_TIMESTAMP</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98591215"/>
      </p:ext>
    </p:extLst>
  </p:cSld>
</p:sld>
</file>

<file path=ppt/slides/slide10.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458BADC0-5287-4ED7-BA95-C0DC2A14524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2E237572-FC59-4CC8-818B-266433E563CF}"/>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USER_PHONE (2/13)</a:t>
            </a:r>
          </a:p>
        </p:txBody>
      </p:sp>
      <p:sp>
        <p:nvSpPr>
          <p:cNvPr id="4" name="footer">
            <a:extLst xmlns:a="http://schemas.openxmlformats.org/drawingml/2006/main">
              <a:ext uri="{FF2B5EF4-FFF2-40B4-BE49-F238E27FC236}">
                <a16:creationId xmlns:a16="http://schemas.microsoft.com/office/drawing/2014/main" id="{53813DFF-C817-404A-905B-D2C09F6E318F}"/>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4B173519-4EF4-455C-B8E5-94273232A736}"/>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10 / 36</a:t>
            </a:r>
          </a:p>
        </p:txBody>
      </p:sp>
      <p:sp>
        <p:nvSpPr>
          <p:cNvPr id="6" name="sql-example">
            <a:extLst xmlns:a="http://schemas.openxmlformats.org/drawingml/2006/main">
              <a:ext uri="{FF2B5EF4-FFF2-40B4-BE49-F238E27FC236}">
                <a16:creationId xmlns:a16="http://schemas.microsoft.com/office/drawing/2014/main" id="{7113BD1E-03F9-4AB1-9F3C-9C9C64CEE212}"/>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user_phone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user_id 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phone_no VARCHAR(15)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PRIMARY KEY(user_id,phone_no),</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KEY(user_id) REFERENCES users(user_id) ON DELETE CASCADE,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CONSTRAINT chk_phone CHECK(phone_no REGEXP '^[0-9+][0-9]{9,14}$')</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954797070"/>
      </p:ext>
    </p:extLst>
  </p:cSld>
</p:sld>
</file>

<file path=ppt/slides/slide11.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1974CD85-B412-40D2-B5DD-421C59130226}"/>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94EC0ED5-41A8-4323-9DF2-D1156CD98648}"/>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WARDEN (3/13)</a:t>
            </a:r>
          </a:p>
        </p:txBody>
      </p:sp>
      <p:sp>
        <p:nvSpPr>
          <p:cNvPr id="4" name="footer">
            <a:extLst xmlns:a="http://schemas.openxmlformats.org/drawingml/2006/main">
              <a:ext uri="{FF2B5EF4-FFF2-40B4-BE49-F238E27FC236}">
                <a16:creationId xmlns:a16="http://schemas.microsoft.com/office/drawing/2014/main" id="{84E8F8EA-D3D1-4F85-BBBB-E3E467A755E1}"/>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7631BC45-4BB5-4273-AFCA-64F49BF5CD45}"/>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11 / 36</a:t>
            </a:r>
          </a:p>
        </p:txBody>
      </p:sp>
      <p:sp>
        <p:nvSpPr>
          <p:cNvPr id="6" name="sql-example">
            <a:extLst xmlns:a="http://schemas.openxmlformats.org/drawingml/2006/main">
              <a:ext uri="{FF2B5EF4-FFF2-40B4-BE49-F238E27FC236}">
                <a16:creationId xmlns:a16="http://schemas.microsoft.com/office/drawing/2014/main" id="{044C1D37-82EC-4441-8BD5-6DC5DAB46823}"/>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warden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warden_id INT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designation VARCHAR(50) NOT NULL DEFAULT 'Warden',</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office_room VARCHAR(20),</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KEY(warden_id) REFERENCES users(user_id) ON DELETE CASCADE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662929204"/>
      </p:ext>
    </p:extLst>
  </p:cSld>
</p:sld>
</file>

<file path=ppt/slides/slide12.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B202A2BD-F8A0-4CA9-8010-68435F492A11}"/>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FC40D7B1-147B-464B-AAF6-203E8F6AD408}"/>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HOSTEL_BLOCK (4/13)</a:t>
            </a:r>
          </a:p>
        </p:txBody>
      </p:sp>
      <p:sp>
        <p:nvSpPr>
          <p:cNvPr id="4" name="footer">
            <a:extLst xmlns:a="http://schemas.openxmlformats.org/drawingml/2006/main">
              <a:ext uri="{FF2B5EF4-FFF2-40B4-BE49-F238E27FC236}">
                <a16:creationId xmlns:a16="http://schemas.microsoft.com/office/drawing/2014/main" id="{AA5AAC4E-580B-4EB7-9550-0D8303027DAE}"/>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377CF29E-0DBC-48CB-9B8E-37D004272188}"/>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12 / 36</a:t>
            </a:r>
          </a:p>
        </p:txBody>
      </p:sp>
      <p:sp>
        <p:nvSpPr>
          <p:cNvPr id="6" name="sql-example">
            <a:extLst xmlns:a="http://schemas.openxmlformats.org/drawingml/2006/main">
              <a:ext uri="{FF2B5EF4-FFF2-40B4-BE49-F238E27FC236}">
                <a16:creationId xmlns:a16="http://schemas.microsoft.com/office/drawing/2014/main" id="{BFA00D09-5889-42E4-9AC7-6A56D341A0AF}"/>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hostel_block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block_id INT AUTO_INCREMENT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block_name VARCHAR(30) NOT NULL UNIQUE,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gender_type ENUM('MALE','FEMALE')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total_floors TINYINT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warden_id INT UNIQUE,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is_active BOOLEAN NOT NULL DEFAULT TRUE,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KEY(warden_id) REFERENCES warden(warden_id) ON DELETE SET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CONSTRAINT chk_floors CHECK(total_floors BETWEEN 1 AND 20)</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325296663"/>
      </p:ext>
    </p:extLst>
  </p:cSld>
</p:sld>
</file>

<file path=ppt/slides/slide13.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97437EDE-3E7C-4C5C-86F3-A0B89A55BAEA}"/>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0F361AF5-3ED0-4164-B566-B7B7A47E67CF}"/>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ROOM_TYPE (5/13)</a:t>
            </a:r>
          </a:p>
        </p:txBody>
      </p:sp>
      <p:sp>
        <p:nvSpPr>
          <p:cNvPr id="4" name="footer">
            <a:extLst xmlns:a="http://schemas.openxmlformats.org/drawingml/2006/main">
              <a:ext uri="{FF2B5EF4-FFF2-40B4-BE49-F238E27FC236}">
                <a16:creationId xmlns:a16="http://schemas.microsoft.com/office/drawing/2014/main" id="{CC68FC71-D130-49CB-93BF-45583F5C91B8}"/>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81C508B7-0A0C-4F23-844E-D17AF8FE404C}"/>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13 / 36</a:t>
            </a:r>
          </a:p>
        </p:txBody>
      </p:sp>
      <p:sp>
        <p:nvSpPr>
          <p:cNvPr id="6" name="sql-example">
            <a:extLst xmlns:a="http://schemas.openxmlformats.org/drawingml/2006/main">
              <a:ext uri="{FF2B5EF4-FFF2-40B4-BE49-F238E27FC236}">
                <a16:creationId xmlns:a16="http://schemas.microsoft.com/office/drawing/2014/main" id="{C5A98A0E-B67D-4C6D-ADD2-8FB751D348B6}"/>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room_type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type_code VARCHAR(10)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capacity TINYINT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annual_fee DECIMAL(10,2)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is_active BOOLEAN NOT NULL DEFAULT TRUE,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CONSTRAINT chk_capacity CHECK(capacity BETWEEN 1 AND 6),</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CONSTRAINT chk_fee CHECK(annual_fee &gt;= 0)</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1857984435"/>
      </p:ext>
    </p:extLst>
  </p:cSld>
</p:sld>
</file>

<file path=ppt/slides/slide14.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1F99A45F-6A0D-434C-98CC-23C2FD2D00B1}"/>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A72C35B0-FEBF-492F-B8F8-BC3E1C6DE32F}"/>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ROOM (6/13)</a:t>
            </a:r>
          </a:p>
        </p:txBody>
      </p:sp>
      <p:sp>
        <p:nvSpPr>
          <p:cNvPr id="4" name="footer">
            <a:extLst xmlns:a="http://schemas.openxmlformats.org/drawingml/2006/main">
              <a:ext uri="{FF2B5EF4-FFF2-40B4-BE49-F238E27FC236}">
                <a16:creationId xmlns:a16="http://schemas.microsoft.com/office/drawing/2014/main" id="{BCCB45D2-06A0-49B0-9528-B6068913C5A3}"/>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5545F031-ECE8-4373-B1DA-A3F65921C1BA}"/>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14 / 36</a:t>
            </a:r>
          </a:p>
        </p:txBody>
      </p:sp>
      <p:sp>
        <p:nvSpPr>
          <p:cNvPr id="6" name="sql-example">
            <a:extLst xmlns:a="http://schemas.openxmlformats.org/drawingml/2006/main">
              <a:ext uri="{FF2B5EF4-FFF2-40B4-BE49-F238E27FC236}">
                <a16:creationId xmlns:a16="http://schemas.microsoft.com/office/drawing/2014/main" id="{BA133984-6827-4BFD-9E49-6EE6E482C23D}"/>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room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room_id INT AUTO_INCREMENT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block_id 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room_number VARCHAR(10)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floor_no TINYINT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type_code VARCHAR(10)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has_ac BOOLEAN NOT NULL DEFAULT FALSE,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status ENUM('ACTIVE','UNDER_MAINTENANCE') NOT NULL DEFAULT 'ACTIVE',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is_active BOOLEAN NOT NULL DEFAULT TRUE,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UNIQUE KEY uq_room(block_id,room_number),</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KEY(block_id) REFERENCES hostel_block(block_id) ON DELETE CASCADE,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KEY(type_code) REFERENCES room_type(type_code) ON UPDATE CASCADE,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CONSTRAINT chk_floor CHECK(floor_no &gt;= 0)</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588399037"/>
      </p:ext>
    </p:extLst>
  </p:cSld>
</p:sld>
</file>

<file path=ppt/slides/slide15.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D7686FA1-E0B4-4A2A-AD72-6A51E7A2BAED}"/>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4EB5BF77-807A-4F25-BE97-E56A53E49DE7}"/>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STUDENT (7/13)</a:t>
            </a:r>
          </a:p>
        </p:txBody>
      </p:sp>
      <p:sp>
        <p:nvSpPr>
          <p:cNvPr id="4" name="footer">
            <a:extLst xmlns:a="http://schemas.openxmlformats.org/drawingml/2006/main">
              <a:ext uri="{FF2B5EF4-FFF2-40B4-BE49-F238E27FC236}">
                <a16:creationId xmlns:a16="http://schemas.microsoft.com/office/drawing/2014/main" id="{83266F41-F92B-4DE7-AD24-E4572F75B2CB}"/>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AC9481E5-8F84-4E4F-B71C-5443B7679CF1}"/>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15 / 36</a:t>
            </a:r>
          </a:p>
        </p:txBody>
      </p:sp>
      <p:sp>
        <p:nvSpPr>
          <p:cNvPr id="6" name="sql-example">
            <a:extLst xmlns:a="http://schemas.openxmlformats.org/drawingml/2006/main">
              <a:ext uri="{FF2B5EF4-FFF2-40B4-BE49-F238E27FC236}">
                <a16:creationId xmlns:a16="http://schemas.microsoft.com/office/drawing/2014/main" id="{F80D6217-6594-4F45-82CE-16D8D106EEB5}"/>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student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student_id INT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reg_no VARCHAR(15) NOT NULL UNIQUE,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gender ENUM('MALE','FEMALE')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department VARCHAR(60)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year_of_study TINYINT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guardian_name VARCHAR(100),</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guardian_phone VARCHAR(15),</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KEY(student_id) REFERENCES users(user_id) ON DELETE CASCADE,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CONSTRAINT chk_year CHECK(year_of_study BETWEEN 1 AND 5)</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1257142029"/>
      </p:ext>
    </p:extLst>
  </p:cSld>
</p:sld>
</file>

<file path=ppt/slides/slide16.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5F94FB02-5402-403D-8C34-3E3119154A66}"/>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535496A8-FC25-4870-8DBE-7BD4DCE95ACA}"/>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COMPLAINT_CATEGORY (8/13)</a:t>
            </a:r>
          </a:p>
        </p:txBody>
      </p:sp>
      <p:sp>
        <p:nvSpPr>
          <p:cNvPr id="4" name="footer">
            <a:extLst xmlns:a="http://schemas.openxmlformats.org/drawingml/2006/main">
              <a:ext uri="{FF2B5EF4-FFF2-40B4-BE49-F238E27FC236}">
                <a16:creationId xmlns:a16="http://schemas.microsoft.com/office/drawing/2014/main" id="{E95C6827-8A35-43CD-AC98-B83F5F26721C}"/>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31F6C228-72D0-4AFA-A5DC-93958FEC2B78}"/>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16 / 36</a:t>
            </a:r>
          </a:p>
        </p:txBody>
      </p:sp>
      <p:sp>
        <p:nvSpPr>
          <p:cNvPr id="6" name="sql-example">
            <a:extLst xmlns:a="http://schemas.openxmlformats.org/drawingml/2006/main">
              <a:ext uri="{FF2B5EF4-FFF2-40B4-BE49-F238E27FC236}">
                <a16:creationId xmlns:a16="http://schemas.microsoft.com/office/drawing/2014/main" id="{FE5AF39E-7BE3-4ABE-9F9D-9AB1CCB12460}"/>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complaint_category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category_id INT AUTO_INCREMENT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category_name VARCHAR(40) NOT NULL UNIQUE,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default_priority ENUM('LOW','MEDIUM','HIGH','URGENT') NOT NULL DEFAULT 'MEDIUM',</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sla_hours SMALLINT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is_active BOOLEAN NOT NULL DEFAULT TRUE,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CONSTRAINT chk_sla CHECK(sla_hours &gt; 0)</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1549923946"/>
      </p:ext>
    </p:extLst>
  </p:cSld>
</p:sld>
</file>

<file path=ppt/slides/slide17.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0989CA0F-F637-4280-85FA-23FB39BDB67F}"/>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574AD0C5-28E1-4CC5-A279-68ADAEAE60B0}"/>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MAINTENANCE_STAFF (9/13)</a:t>
            </a:r>
          </a:p>
        </p:txBody>
      </p:sp>
      <p:sp>
        <p:nvSpPr>
          <p:cNvPr id="4" name="footer">
            <a:extLst xmlns:a="http://schemas.openxmlformats.org/drawingml/2006/main">
              <a:ext uri="{FF2B5EF4-FFF2-40B4-BE49-F238E27FC236}">
                <a16:creationId xmlns:a16="http://schemas.microsoft.com/office/drawing/2014/main" id="{1EC4F6D9-4AD2-4DD0-9065-693BD9B0FE6A}"/>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D6047676-EE82-4B11-96E6-13541BC7F5BC}"/>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17 / 36</a:t>
            </a:r>
          </a:p>
        </p:txBody>
      </p:sp>
      <p:sp>
        <p:nvSpPr>
          <p:cNvPr id="6" name="sql-example">
            <a:extLst xmlns:a="http://schemas.openxmlformats.org/drawingml/2006/main">
              <a:ext uri="{FF2B5EF4-FFF2-40B4-BE49-F238E27FC236}">
                <a16:creationId xmlns:a16="http://schemas.microsoft.com/office/drawing/2014/main" id="{484AA5A2-EF13-49D8-9E6E-A34DAF7109D7}"/>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maintenance_staff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staff_id INT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category_id 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block_id 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shift ENUM('MORNING','EVENING','NIGHT') NOT NULL DEFAULT 'MORNING',</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KEY(staff_id) REFERENCES users(user_id) ON DELETE CASCADE,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KEY(category_id) REFERENCES complaint_category(category_id),</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KEY(block_id) REFERENCES hostel_block(block_id)</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809331277"/>
      </p:ext>
    </p:extLst>
  </p:cSld>
</p:sld>
</file>

<file path=ppt/slides/slide18.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E0FF2CC2-4E38-4166-A1B1-905EB2DE2AB1}"/>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CD2EC17E-2466-4D11-AEA9-4944849A5E26}"/>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ROOM_ALLOCATION (10/13)</a:t>
            </a:r>
          </a:p>
        </p:txBody>
      </p:sp>
      <p:sp>
        <p:nvSpPr>
          <p:cNvPr id="4" name="footer">
            <a:extLst xmlns:a="http://schemas.openxmlformats.org/drawingml/2006/main">
              <a:ext uri="{FF2B5EF4-FFF2-40B4-BE49-F238E27FC236}">
                <a16:creationId xmlns:a16="http://schemas.microsoft.com/office/drawing/2014/main" id="{D4242352-773B-48FB-AAF9-5A3F8F47D1BA}"/>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B1DB9D7D-E14D-4C61-9F4C-6E302D66A72F}"/>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18 / 36</a:t>
            </a:r>
          </a:p>
        </p:txBody>
      </p:sp>
      <p:sp>
        <p:nvSpPr>
          <p:cNvPr id="6" name="sql-example">
            <a:extLst xmlns:a="http://schemas.openxmlformats.org/drawingml/2006/main">
              <a:ext uri="{FF2B5EF4-FFF2-40B4-BE49-F238E27FC236}">
                <a16:creationId xmlns:a16="http://schemas.microsoft.com/office/drawing/2014/main" id="{8CAA84CD-69E2-44A8-BDDF-AEC497681F79}"/>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room_allocation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allocation_id INT AUTO_INCREMENT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student_id 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room_id 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academic_year CHAR(7)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allocated_on DATE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vacated_on DATE,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status ENUM('ACTIVE','VACATED') NOT NULL DEFAULT 'ACTIVE',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active_flag TINYINT AS (CASE WHEN status='ACTIVE' THEN 1 ELSE NULL END) STORED,</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UNIQUE KEY uq_one_active_room(student_id,active_flag),</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KEY(student_id) REFERENCES student(student_id) ON DELETE CASCADE,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KEY(room_id) REFERENCES room(room_id),</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CONSTRAINT chk_dates CHECK(vacated_on IS NULL OR vacated_on &gt;= allocated_on),</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CONSTRAINT chk_academic_year CHECK(academic_year REGEXP '^[0-9]{4}-[0-9]{2}$'),</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INDEX idx_allocation_room(room_id,status)</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1816695295"/>
      </p:ext>
    </p:extLst>
  </p:cSld>
</p:sld>
</file>

<file path=ppt/slides/slide19.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1E80BB62-A35A-476A-B2B3-483B35C125DF}"/>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B24FF85E-DDC0-4EFF-986F-D7C5CE24C558}"/>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COMPLAINT (11/13)  definition 1 of 2</a:t>
            </a:r>
          </a:p>
        </p:txBody>
      </p:sp>
      <p:sp>
        <p:nvSpPr>
          <p:cNvPr id="4" name="footer">
            <a:extLst xmlns:a="http://schemas.openxmlformats.org/drawingml/2006/main">
              <a:ext uri="{FF2B5EF4-FFF2-40B4-BE49-F238E27FC236}">
                <a16:creationId xmlns:a16="http://schemas.microsoft.com/office/drawing/2014/main" id="{BEACCE2E-D1C1-41B6-B45D-26ED9F9D9B0E}"/>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02441B27-6871-4F02-B42D-EB7A81569408}"/>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19 / 36</a:t>
            </a:r>
          </a:p>
        </p:txBody>
      </p:sp>
      <p:sp>
        <p:nvSpPr>
          <p:cNvPr id="6" name="sql-example">
            <a:extLst xmlns:a="http://schemas.openxmlformats.org/drawingml/2006/main">
              <a:ext uri="{FF2B5EF4-FFF2-40B4-BE49-F238E27FC236}">
                <a16:creationId xmlns:a16="http://schemas.microsoft.com/office/drawing/2014/main" id="{E7C3F0BF-4CC6-41FC-A16B-E1BDA34A6FEF}"/>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complaint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complaint_id INT AUTO_INCREMENT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student_id 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room_id 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category_id 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title VARCHAR(120)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description TEXT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priority ENUM('LOW','MEDIUM','HIGH','URGENT')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status ENUM('OPEN','ASSIGNED','IN_PROGRESS','RESOLVED','CLOSED','REJECTED') NOT</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NULL DEFAULT 'OPEN',</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assigned_staff_id INT,</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created_at TIMESTAMP NOT NULL DEFAULT CURRENT_TIMESTAMP,</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updated_at TIMESTAMP NOT NULL DEFAULT CURRENT_TIMESTAMP ON UPDATE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CURRENT_TIMESTAMP,</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resolved_at TIMESTAMP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KEY(student_id) REFERENCES student(student_id),</a:t>
            </a:r>
          </a:p>
        </p:txBody>
      </p:sp>
    </p:spTree>
    <p:extLst>
      <p:ext uri="{BB962C8B-B14F-4D97-AF65-F5344CB8AC3E}">
        <p14:creationId xmlns:p14="http://schemas.microsoft.com/office/powerpoint/2010/main" val="1655465852"/>
      </p:ext>
    </p:extLst>
  </p:cSld>
</p:sld>
</file>

<file path=ppt/slides/slide20.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EB8A3BD8-2DED-4A3B-9F71-B1E8D6A86670}"/>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CE1F4735-B9A4-4056-BD24-79AB6D585566}"/>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COMPLAINT (11/13)  definition 2 of 2</a:t>
            </a:r>
          </a:p>
        </p:txBody>
      </p:sp>
      <p:sp>
        <p:nvSpPr>
          <p:cNvPr id="4" name="footer">
            <a:extLst xmlns:a="http://schemas.openxmlformats.org/drawingml/2006/main">
              <a:ext uri="{FF2B5EF4-FFF2-40B4-BE49-F238E27FC236}">
                <a16:creationId xmlns:a16="http://schemas.microsoft.com/office/drawing/2014/main" id="{9B59D6C9-2290-40B2-ADEA-82A05633239D}"/>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E6BEDDDD-1D01-4464-9E1B-92AC0501D26E}"/>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20 / 36</a:t>
            </a:r>
          </a:p>
        </p:txBody>
      </p:sp>
      <p:sp>
        <p:nvSpPr>
          <p:cNvPr id="6" name="sql-example">
            <a:extLst xmlns:a="http://schemas.openxmlformats.org/drawingml/2006/main">
              <a:ext uri="{FF2B5EF4-FFF2-40B4-BE49-F238E27FC236}">
                <a16:creationId xmlns:a16="http://schemas.microsoft.com/office/drawing/2014/main" id="{DC4B987C-CF3F-41FD-9B6C-52C4FAD8DE83}"/>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KEY(room_id) REFERENCES room(room_id),</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KEY(category_id) REFERENCES complaint_category(category_id),</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KEY(assigned_staff_id) REFERENCES maintenance_staff(staff_id) ON DELETE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SET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CONSTRAINT chk_title CHECK(CHAR_LENGTH(title) &gt;= 5),</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INDEX idx_complaint_status(status),</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INDEX idx_complaint_room(room_id,category_id,status)</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288272959"/>
      </p:ext>
    </p:extLst>
  </p:cSld>
</p:sld>
</file>

<file path=ppt/slides/slide21.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DBB907DB-E749-4D86-87EC-8D46BE8B757A}"/>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F03E26F8-096F-4A2D-BB15-A0060237698C}"/>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COMPLAINT_LOG (12/13)</a:t>
            </a:r>
          </a:p>
        </p:txBody>
      </p:sp>
      <p:sp>
        <p:nvSpPr>
          <p:cNvPr id="4" name="footer">
            <a:extLst xmlns:a="http://schemas.openxmlformats.org/drawingml/2006/main">
              <a:ext uri="{FF2B5EF4-FFF2-40B4-BE49-F238E27FC236}">
                <a16:creationId xmlns:a16="http://schemas.microsoft.com/office/drawing/2014/main" id="{B5B275A0-50C5-4151-B261-1EECBF356089}"/>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0263D184-2691-4995-9631-824392857D84}"/>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21 / 36</a:t>
            </a:r>
          </a:p>
        </p:txBody>
      </p:sp>
      <p:sp>
        <p:nvSpPr>
          <p:cNvPr id="6" name="sql-example">
            <a:extLst xmlns:a="http://schemas.openxmlformats.org/drawingml/2006/main">
              <a:ext uri="{FF2B5EF4-FFF2-40B4-BE49-F238E27FC236}">
                <a16:creationId xmlns:a16="http://schemas.microsoft.com/office/drawing/2014/main" id="{D345A25F-EFD8-4E1F-AEF2-49822AFC9CF2}"/>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complaint_log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log_id INT AUTO_INCREMENT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complaint_id 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old_status VARCHAR(15),</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new_status VARCHAR(15)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changed_by INT,</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remark VARCHAR(255),</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changed_at TIMESTAMP NOT NULL DEFAULT CURRENT_TIMESTAMP,</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KEY(complaint_id) REFERENCES complaint(complaint_id) ON DELETE CASCADE,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KEY(changed_by) REFERENCES users(user_id) ON DELETE SET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1817848382"/>
      </p:ext>
    </p:extLst>
  </p:cSld>
</p:sld>
</file>

<file path=ppt/slides/slide22.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58F9152A-836A-46F0-955A-5A716DDF9A20}"/>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87A8D3F6-7FDD-4A46-BE9C-BD484B5C45DD}"/>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FEEDBACK (13/13)</a:t>
            </a:r>
          </a:p>
        </p:txBody>
      </p:sp>
      <p:sp>
        <p:nvSpPr>
          <p:cNvPr id="4" name="footer">
            <a:extLst xmlns:a="http://schemas.openxmlformats.org/drawingml/2006/main">
              <a:ext uri="{FF2B5EF4-FFF2-40B4-BE49-F238E27FC236}">
                <a16:creationId xmlns:a16="http://schemas.microsoft.com/office/drawing/2014/main" id="{5D128416-FCDE-4EB2-8542-A68AFC463A38}"/>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3F004B78-8A50-4D51-989D-3D5A7447EDB4}"/>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22 / 36</a:t>
            </a:r>
          </a:p>
        </p:txBody>
      </p:sp>
      <p:sp>
        <p:nvSpPr>
          <p:cNvPr id="6" name="sql-example">
            <a:extLst xmlns:a="http://schemas.openxmlformats.org/drawingml/2006/main">
              <a:ext uri="{FF2B5EF4-FFF2-40B4-BE49-F238E27FC236}">
                <a16:creationId xmlns:a16="http://schemas.microsoft.com/office/drawing/2014/main" id="{4A891B08-300E-4B6C-8E8E-B2BFCB7550B3}"/>
              </a:ext>
            </a:extLst>
          </p:cNvPr>
          <p:cNvSpPr>
            <a:spLocks xmlns:a="http://schemas.openxmlformats.org/drawingml/2006/main" noGrp="1"/>
          </p:cNvSpPr>
          <p:nvPr/>
        </p:nvSpPr>
        <p:spPr>
          <a:xfrm xmlns:a="http://schemas.openxmlformats.org/drawingml/2006/main">
            <a:off x="628650" y="1790700"/>
            <a:ext cx="10934700" cy="451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CREATE TABLE feedback (</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complaint_id INT PRIMARY KEY,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rating TINYINT NOT NULL,</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comments VARCHAR(500),</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submitted_at TIMESTAMP NOT NULL DEFAULT CURRENT_TIMESTAMP,</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FOREIGN KEY(complaint_id) REFERENCES complaint(complaint_id) ON DELETE CASCADE,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CONSTRAINT chk_rating CHECK(rating BETWEEN 1 AND 5)</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p:txBody>
      </p:sp>
    </p:spTree>
    <p:extLst>
      <p:ext uri="{BB962C8B-B14F-4D97-AF65-F5344CB8AC3E}">
        <p14:creationId xmlns:p14="http://schemas.microsoft.com/office/powerpoint/2010/main" val="1780362542"/>
      </p:ext>
    </p:extLst>
  </p:cSld>
</p:sld>
</file>

<file path=ppt/slides/slide23.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B402392E-744B-4B1F-AC9F-7FFC5B9A2E7C}"/>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Data Population (DML)</a:t>
            </a:r>
          </a:p>
        </p:txBody>
      </p:sp>
      <p:sp>
        <p:nvSpPr>
          <p:cNvPr id="3" name="slide-subtitle">
            <a:extLst xmlns:a="http://schemas.openxmlformats.org/drawingml/2006/main">
              <a:ext uri="{FF2B5EF4-FFF2-40B4-BE49-F238E27FC236}">
                <a16:creationId xmlns:a16="http://schemas.microsoft.com/office/drawing/2014/main" id="{029AA504-A90E-437D-8DCF-3F80C62F80DA}"/>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USERS and USER_PHONE</a:t>
            </a:r>
          </a:p>
        </p:txBody>
      </p:sp>
      <p:sp>
        <p:nvSpPr>
          <p:cNvPr id="4" name="footer">
            <a:extLst xmlns:a="http://schemas.openxmlformats.org/drawingml/2006/main">
              <a:ext uri="{FF2B5EF4-FFF2-40B4-BE49-F238E27FC236}">
                <a16:creationId xmlns:a16="http://schemas.microsoft.com/office/drawing/2014/main" id="{37B2AC1D-2438-481A-BA3A-594D370A716E}"/>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5E747E20-36B0-453D-BA6A-D74370F8A735}"/>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23 / 36</a:t>
            </a:r>
          </a:p>
        </p:txBody>
      </p:sp>
      <p:sp>
        <p:nvSpPr>
          <p:cNvPr id="6" name="sql-example">
            <a:extLst xmlns:a="http://schemas.openxmlformats.org/drawingml/2006/main">
              <a:ext uri="{FF2B5EF4-FFF2-40B4-BE49-F238E27FC236}">
                <a16:creationId xmlns:a16="http://schemas.microsoft.com/office/drawing/2014/main" id="{2F8C7117-38BD-4228-B502-2DEFFA006F8E}"/>
              </a:ext>
            </a:extLst>
          </p:cNvPr>
          <p:cNvSpPr>
            <a:spLocks xmlns:a="http://schemas.openxmlformats.org/drawingml/2006/main" noGrp="1"/>
          </p:cNvSpPr>
          <p:nvPr/>
        </p:nvSpPr>
        <p:spPr>
          <a:xfrm xmlns:a="http://schemas.openxmlformats.org/drawingml/2006/main">
            <a:off x="628650" y="1809750"/>
            <a:ext cx="109347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1F4D3B"/>
                </a:solidFill>
                <a:latin typeface="Courier New"/>
                <a:ea typeface="Courier New"/>
                <a:cs typeface="Courier New"/>
              </a:defRPr>
            </a:defPPr>
            <a:lvl1pPr>
              <a:defRPr sz="1800" b="0">
                <a:solidFill>
                  <a:srgbClr val="1F4D3B"/>
                </a:solidFill>
                <a:latin typeface="Courier New"/>
                <a:ea typeface="Courier New"/>
                <a:cs typeface="Courier New"/>
              </a:defRPr>
            </a:lvl1pPr>
            <a:lvl2pPr>
              <a:defRPr sz="1800" b="0">
                <a:solidFill>
                  <a:srgbClr val="1F4D3B"/>
                </a:solidFill>
                <a:latin typeface="Courier New"/>
                <a:ea typeface="Courier New"/>
                <a:cs typeface="Courier New"/>
              </a:defRPr>
            </a:lvl2pPr>
            <a:lvl3pPr>
              <a:defRPr sz="1800" b="0">
                <a:solidFill>
                  <a:srgbClr val="1F4D3B"/>
                </a:solidFill>
                <a:latin typeface="Courier New"/>
                <a:ea typeface="Courier New"/>
                <a:cs typeface="Courier New"/>
              </a:defRPr>
            </a:lvl3pPr>
            <a:lvl4pPr>
              <a:defRPr sz="1800" b="0">
                <a:solidFill>
                  <a:srgbClr val="1F4D3B"/>
                </a:solidFill>
                <a:latin typeface="Courier New"/>
                <a:ea typeface="Courier New"/>
                <a:cs typeface="Courier New"/>
              </a:defRPr>
            </a:lvl4pPr>
            <a:lvl5pPr>
              <a:defRPr sz="1800" b="0">
                <a:solidFill>
                  <a:srgbClr val="1F4D3B"/>
                </a:solidFill>
                <a:latin typeface="Courier New"/>
                <a:ea typeface="Courier New"/>
                <a:cs typeface="Courier New"/>
              </a:defRPr>
            </a:lvl5pPr>
            <a:lvl6pPr>
              <a:defRPr sz="1800" b="0">
                <a:solidFill>
                  <a:srgbClr val="1F4D3B"/>
                </a:solidFill>
                <a:latin typeface="Courier New"/>
                <a:ea typeface="Courier New"/>
                <a:cs typeface="Courier New"/>
              </a:defRPr>
            </a:lvl6pPr>
            <a:lvl7pPr>
              <a:defRPr sz="1800" b="0">
                <a:solidFill>
                  <a:srgbClr val="1F4D3B"/>
                </a:solidFill>
                <a:latin typeface="Courier New"/>
                <a:ea typeface="Courier New"/>
                <a:cs typeface="Courier New"/>
              </a:defRPr>
            </a:lvl7pPr>
            <a:lvl8pPr>
              <a:defRPr sz="1800" b="0">
                <a:solidFill>
                  <a:srgbClr val="1F4D3B"/>
                </a:solidFill>
                <a:latin typeface="Courier New"/>
                <a:ea typeface="Courier New"/>
                <a:cs typeface="Courier New"/>
              </a:defRPr>
            </a:lvl8pPr>
            <a:lvl9pPr>
              <a:defRPr sz="1800" b="0">
                <a:solidFill>
                  <a:srgbClr val="1F4D3B"/>
                </a:solidFill>
                <a:latin typeface="Courier New"/>
                <a:ea typeface="Courier New"/>
                <a:cs typeface="Courier New"/>
              </a:defRPr>
            </a:lvl9pPr>
          </a:lstStyle>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SET @demo_hash =</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'$2b$10$FxjL3He5vrwComs.3GxatOGDJvh4JVA6UeQEdNmdQ7MRtqPYwFx2m';</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INSERT INTO users</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(user_id, full_name, email, password_hash, role)</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VALUES</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(1,'Hostel Administrator','admin@hrcms.edu',@demo_hash,'ADMIN'),</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(2,'Dr. R. Srinivasan','warden.a@hrcms.edu',@demo_hash,'WARDEN'),</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(5,'Ramesh Kumar','ramesh@hrcms.edu',@demo_hash,'STAFF'),</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(13,'Arjun Reddy','arjun@student.edu',@demo_hash,'STUDENT');</a:t>
            </a:r>
          </a:p>
          <a:p xmlns:a="http://schemas.openxmlformats.org/drawingml/2006/main">
            <a:r>
              <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INSERT INTO user_phone (user_id, phone_no)</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VALUES (2,'9000000002'), (13,'9000000013');</a:t>
            </a:r>
          </a:p>
        </p:txBody>
      </p:sp>
      <p:sp>
        <p:nvSpPr>
          <p:cNvPr id="7" name="dml-explanation">
            <a:extLst xmlns:a="http://schemas.openxmlformats.org/drawingml/2006/main">
              <a:ext uri="{FF2B5EF4-FFF2-40B4-BE49-F238E27FC236}">
                <a16:creationId xmlns:a16="http://schemas.microsoft.com/office/drawing/2014/main" id="{64A2AFE2-ED8D-4904-8A47-BAC6F9E05FB4}"/>
              </a:ext>
            </a:extLst>
          </p:cNvPr>
          <p:cNvSpPr>
            <a:spLocks xmlns:a="http://schemas.openxmlformats.org/drawingml/2006/main" noGrp="1"/>
          </p:cNvSpPr>
          <p:nvPr/>
        </p:nvSpPr>
        <p:spPr>
          <a:xfrm xmlns:a="http://schemas.openxmlformats.org/drawingml/2006/main">
            <a:off x="628650" y="5819775"/>
            <a:ext cx="1093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Four linked role accounts and two phone rows. Passwords are stored as bcrypt hashes.</a:t>
            </a:r>
          </a:p>
        </p:txBody>
      </p:sp>
    </p:spTree>
    <p:extLst>
      <p:ext uri="{BB962C8B-B14F-4D97-AF65-F5344CB8AC3E}">
        <p14:creationId xmlns:p14="http://schemas.microsoft.com/office/powerpoint/2010/main" val="1744193218"/>
      </p:ext>
    </p:extLst>
  </p:cSld>
</p:sld>
</file>

<file path=ppt/slides/slide24.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D8CDC05A-05D4-4F5E-84ED-02B3C5CA689A}"/>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Data Population (DML)</a:t>
            </a:r>
          </a:p>
        </p:txBody>
      </p:sp>
      <p:sp>
        <p:nvSpPr>
          <p:cNvPr id="3" name="slide-subtitle">
            <a:extLst xmlns:a="http://schemas.openxmlformats.org/drawingml/2006/main">
              <a:ext uri="{FF2B5EF4-FFF2-40B4-BE49-F238E27FC236}">
                <a16:creationId xmlns:a16="http://schemas.microsoft.com/office/drawing/2014/main" id="{001F688D-6B34-4467-9D40-6B2992EB1119}"/>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WARDEN, HOSTEL_BLOCK and STUDENT</a:t>
            </a:r>
          </a:p>
        </p:txBody>
      </p:sp>
      <p:sp>
        <p:nvSpPr>
          <p:cNvPr id="4" name="footer">
            <a:extLst xmlns:a="http://schemas.openxmlformats.org/drawingml/2006/main">
              <a:ext uri="{FF2B5EF4-FFF2-40B4-BE49-F238E27FC236}">
                <a16:creationId xmlns:a16="http://schemas.microsoft.com/office/drawing/2014/main" id="{13DBF3D3-AC09-4ED0-8004-EB1DDE2FDBA7}"/>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48F7ED2F-D1F2-4FF2-A428-CD58526E31DA}"/>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24 / 36</a:t>
            </a:r>
          </a:p>
        </p:txBody>
      </p:sp>
      <p:sp>
        <p:nvSpPr>
          <p:cNvPr id="6" name="sql-example">
            <a:extLst xmlns:a="http://schemas.openxmlformats.org/drawingml/2006/main">
              <a:ext uri="{FF2B5EF4-FFF2-40B4-BE49-F238E27FC236}">
                <a16:creationId xmlns:a16="http://schemas.microsoft.com/office/drawing/2014/main" id="{29A86A23-8075-47DF-B4F4-5EB28A86509B}"/>
              </a:ext>
            </a:extLst>
          </p:cNvPr>
          <p:cNvSpPr>
            <a:spLocks xmlns:a="http://schemas.openxmlformats.org/drawingml/2006/main" noGrp="1"/>
          </p:cNvSpPr>
          <p:nvPr/>
        </p:nvSpPr>
        <p:spPr>
          <a:xfrm xmlns:a="http://schemas.openxmlformats.org/drawingml/2006/main">
            <a:off x="628650" y="1809750"/>
            <a:ext cx="109347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1F4D3B"/>
                </a:solidFill>
                <a:latin typeface="Courier New"/>
                <a:ea typeface="Courier New"/>
                <a:cs typeface="Courier New"/>
              </a:defRPr>
            </a:defPPr>
            <a:lvl1pPr>
              <a:defRPr sz="1800" b="0">
                <a:solidFill>
                  <a:srgbClr val="1F4D3B"/>
                </a:solidFill>
                <a:latin typeface="Courier New"/>
                <a:ea typeface="Courier New"/>
                <a:cs typeface="Courier New"/>
              </a:defRPr>
            </a:lvl1pPr>
            <a:lvl2pPr>
              <a:defRPr sz="1800" b="0">
                <a:solidFill>
                  <a:srgbClr val="1F4D3B"/>
                </a:solidFill>
                <a:latin typeface="Courier New"/>
                <a:ea typeface="Courier New"/>
                <a:cs typeface="Courier New"/>
              </a:defRPr>
            </a:lvl2pPr>
            <a:lvl3pPr>
              <a:defRPr sz="1800" b="0">
                <a:solidFill>
                  <a:srgbClr val="1F4D3B"/>
                </a:solidFill>
                <a:latin typeface="Courier New"/>
                <a:ea typeface="Courier New"/>
                <a:cs typeface="Courier New"/>
              </a:defRPr>
            </a:lvl3pPr>
            <a:lvl4pPr>
              <a:defRPr sz="1800" b="0">
                <a:solidFill>
                  <a:srgbClr val="1F4D3B"/>
                </a:solidFill>
                <a:latin typeface="Courier New"/>
                <a:ea typeface="Courier New"/>
                <a:cs typeface="Courier New"/>
              </a:defRPr>
            </a:lvl4pPr>
            <a:lvl5pPr>
              <a:defRPr sz="1800" b="0">
                <a:solidFill>
                  <a:srgbClr val="1F4D3B"/>
                </a:solidFill>
                <a:latin typeface="Courier New"/>
                <a:ea typeface="Courier New"/>
                <a:cs typeface="Courier New"/>
              </a:defRPr>
            </a:lvl5pPr>
            <a:lvl6pPr>
              <a:defRPr sz="1800" b="0">
                <a:solidFill>
                  <a:srgbClr val="1F4D3B"/>
                </a:solidFill>
                <a:latin typeface="Courier New"/>
                <a:ea typeface="Courier New"/>
                <a:cs typeface="Courier New"/>
              </a:defRPr>
            </a:lvl6pPr>
            <a:lvl7pPr>
              <a:defRPr sz="1800" b="0">
                <a:solidFill>
                  <a:srgbClr val="1F4D3B"/>
                </a:solidFill>
                <a:latin typeface="Courier New"/>
                <a:ea typeface="Courier New"/>
                <a:cs typeface="Courier New"/>
              </a:defRPr>
            </a:lvl7pPr>
            <a:lvl8pPr>
              <a:defRPr sz="1800" b="0">
                <a:solidFill>
                  <a:srgbClr val="1F4D3B"/>
                </a:solidFill>
                <a:latin typeface="Courier New"/>
                <a:ea typeface="Courier New"/>
                <a:cs typeface="Courier New"/>
              </a:defRPr>
            </a:lvl8pPr>
            <a:lvl9pPr>
              <a:defRPr sz="1800" b="0">
                <a:solidFill>
                  <a:srgbClr val="1F4D3B"/>
                </a:solidFill>
                <a:latin typeface="Courier New"/>
                <a:ea typeface="Courier New"/>
                <a:cs typeface="Courier New"/>
              </a:defRPr>
            </a:lvl9pPr>
          </a:lstStyle>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INSERT INTO warden (warden_id, designation, office_room)</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VALUES (2,'Chief Warden','Office 1');</a:t>
            </a:r>
          </a:p>
          <a:p xmlns:a="http://schemas.openxmlformats.org/drawingml/2006/main">
            <a:r>
              <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INSERT INTO hostel_block</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(block_id, block_name, gender_type, total_floors, warden_id)</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VALUES (1,'A Block','MALE',4,2);</a:t>
            </a:r>
          </a:p>
          <a:p xmlns:a="http://schemas.openxmlformats.org/drawingml/2006/main">
            <a:r>
              <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INSERT INTO student</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(student_id, reg_no, gender, department, year_of_study)</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VALUES (13,'24BCE1001','MALE','Computer Science',2);</a:t>
            </a:r>
          </a:p>
        </p:txBody>
      </p:sp>
      <p:sp>
        <p:nvSpPr>
          <p:cNvPr id="7" name="dml-explanation">
            <a:extLst xmlns:a="http://schemas.openxmlformats.org/drawingml/2006/main">
              <a:ext uri="{FF2B5EF4-FFF2-40B4-BE49-F238E27FC236}">
                <a16:creationId xmlns:a16="http://schemas.microsoft.com/office/drawing/2014/main" id="{30A3EC0C-911F-4B26-8754-1733C451DB6C}"/>
              </a:ext>
            </a:extLst>
          </p:cNvPr>
          <p:cNvSpPr>
            <a:spLocks xmlns:a="http://schemas.openxmlformats.org/drawingml/2006/main" noGrp="1"/>
          </p:cNvSpPr>
          <p:nvPr/>
        </p:nvSpPr>
        <p:spPr>
          <a:xfrm xmlns:a="http://schemas.openxmlformats.org/drawingml/2006/main">
            <a:off x="628650" y="5819775"/>
            <a:ext cx="1093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Subtype keys reuse USERS IDs. A Block is managed by warden 2; student 13 is male.</a:t>
            </a:r>
          </a:p>
        </p:txBody>
      </p:sp>
    </p:spTree>
    <p:extLst>
      <p:ext uri="{BB962C8B-B14F-4D97-AF65-F5344CB8AC3E}">
        <p14:creationId xmlns:p14="http://schemas.microsoft.com/office/powerpoint/2010/main" val="1546333346"/>
      </p:ext>
    </p:extLst>
  </p:cSld>
</p:sld>
</file>

<file path=ppt/slides/slide25.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D505F257-E535-4280-BF80-1A26F50F2C4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Data Population (DML)</a:t>
            </a:r>
          </a:p>
        </p:txBody>
      </p:sp>
      <p:sp>
        <p:nvSpPr>
          <p:cNvPr id="3" name="slide-subtitle">
            <a:extLst xmlns:a="http://schemas.openxmlformats.org/drawingml/2006/main">
              <a:ext uri="{FF2B5EF4-FFF2-40B4-BE49-F238E27FC236}">
                <a16:creationId xmlns:a16="http://schemas.microsoft.com/office/drawing/2014/main" id="{0969A451-5AEC-4E82-8707-919560EC90CC}"/>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ROOM_TYPE and ROOM</a:t>
            </a:r>
          </a:p>
        </p:txBody>
      </p:sp>
      <p:sp>
        <p:nvSpPr>
          <p:cNvPr id="4" name="footer">
            <a:extLst xmlns:a="http://schemas.openxmlformats.org/drawingml/2006/main">
              <a:ext uri="{FF2B5EF4-FFF2-40B4-BE49-F238E27FC236}">
                <a16:creationId xmlns:a16="http://schemas.microsoft.com/office/drawing/2014/main" id="{B2611E75-1BDF-4C22-8620-A040500B0540}"/>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E908626E-C1C0-4917-B3BC-B753315A9BF3}"/>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25 / 36</a:t>
            </a:r>
          </a:p>
        </p:txBody>
      </p:sp>
      <p:sp>
        <p:nvSpPr>
          <p:cNvPr id="6" name="sql-example">
            <a:extLst xmlns:a="http://schemas.openxmlformats.org/drawingml/2006/main">
              <a:ext uri="{FF2B5EF4-FFF2-40B4-BE49-F238E27FC236}">
                <a16:creationId xmlns:a16="http://schemas.microsoft.com/office/drawing/2014/main" id="{44B341CD-B404-4C59-8F68-902EE590D960}"/>
              </a:ext>
            </a:extLst>
          </p:cNvPr>
          <p:cNvSpPr>
            <a:spLocks xmlns:a="http://schemas.openxmlformats.org/drawingml/2006/main" noGrp="1"/>
          </p:cNvSpPr>
          <p:nvPr/>
        </p:nvSpPr>
        <p:spPr>
          <a:xfrm xmlns:a="http://schemas.openxmlformats.org/drawingml/2006/main">
            <a:off x="628650" y="1809750"/>
            <a:ext cx="109347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1F4D3B"/>
                </a:solidFill>
                <a:latin typeface="Courier New"/>
                <a:ea typeface="Courier New"/>
                <a:cs typeface="Courier New"/>
              </a:defRPr>
            </a:defPPr>
            <a:lvl1pPr>
              <a:defRPr sz="1800" b="0">
                <a:solidFill>
                  <a:srgbClr val="1F4D3B"/>
                </a:solidFill>
                <a:latin typeface="Courier New"/>
                <a:ea typeface="Courier New"/>
                <a:cs typeface="Courier New"/>
              </a:defRPr>
            </a:lvl1pPr>
            <a:lvl2pPr>
              <a:defRPr sz="1800" b="0">
                <a:solidFill>
                  <a:srgbClr val="1F4D3B"/>
                </a:solidFill>
                <a:latin typeface="Courier New"/>
                <a:ea typeface="Courier New"/>
                <a:cs typeface="Courier New"/>
              </a:defRPr>
            </a:lvl2pPr>
            <a:lvl3pPr>
              <a:defRPr sz="1800" b="0">
                <a:solidFill>
                  <a:srgbClr val="1F4D3B"/>
                </a:solidFill>
                <a:latin typeface="Courier New"/>
                <a:ea typeface="Courier New"/>
                <a:cs typeface="Courier New"/>
              </a:defRPr>
            </a:lvl3pPr>
            <a:lvl4pPr>
              <a:defRPr sz="1800" b="0">
                <a:solidFill>
                  <a:srgbClr val="1F4D3B"/>
                </a:solidFill>
                <a:latin typeface="Courier New"/>
                <a:ea typeface="Courier New"/>
                <a:cs typeface="Courier New"/>
              </a:defRPr>
            </a:lvl4pPr>
            <a:lvl5pPr>
              <a:defRPr sz="1800" b="0">
                <a:solidFill>
                  <a:srgbClr val="1F4D3B"/>
                </a:solidFill>
                <a:latin typeface="Courier New"/>
                <a:ea typeface="Courier New"/>
                <a:cs typeface="Courier New"/>
              </a:defRPr>
            </a:lvl5pPr>
            <a:lvl6pPr>
              <a:defRPr sz="1800" b="0">
                <a:solidFill>
                  <a:srgbClr val="1F4D3B"/>
                </a:solidFill>
                <a:latin typeface="Courier New"/>
                <a:ea typeface="Courier New"/>
                <a:cs typeface="Courier New"/>
              </a:defRPr>
            </a:lvl6pPr>
            <a:lvl7pPr>
              <a:defRPr sz="1800" b="0">
                <a:solidFill>
                  <a:srgbClr val="1F4D3B"/>
                </a:solidFill>
                <a:latin typeface="Courier New"/>
                <a:ea typeface="Courier New"/>
                <a:cs typeface="Courier New"/>
              </a:defRPr>
            </a:lvl7pPr>
            <a:lvl8pPr>
              <a:defRPr sz="1800" b="0">
                <a:solidFill>
                  <a:srgbClr val="1F4D3B"/>
                </a:solidFill>
                <a:latin typeface="Courier New"/>
                <a:ea typeface="Courier New"/>
                <a:cs typeface="Courier New"/>
              </a:defRPr>
            </a:lvl8pPr>
            <a:lvl9pPr>
              <a:defRPr sz="1800" b="0">
                <a:solidFill>
                  <a:srgbClr val="1F4D3B"/>
                </a:solidFill>
                <a:latin typeface="Courier New"/>
                <a:ea typeface="Courier New"/>
                <a:cs typeface="Courier New"/>
              </a:defRPr>
            </a:lvl9pPr>
          </a:lstStyle>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INSERT INTO room_type (type_code, capacity, annual_fee)</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VALUES ('SINGLE',1,95000), ('DOUBLE',2,75000);</a:t>
            </a:r>
          </a:p>
          <a:p xmlns:a="http://schemas.openxmlformats.org/drawingml/2006/main">
            <a:r>
              <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INSERT INTO room</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(room_id, block_id, room_number, floor_no, type_code, has_ac)</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VALUES</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(1,1,'A101',0,'DOUBLE',TRUE),</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(2,1,'A201',1,'SINGLE',FALSE);</a:t>
            </a:r>
          </a:p>
        </p:txBody>
      </p:sp>
      <p:sp>
        <p:nvSpPr>
          <p:cNvPr id="7" name="dml-explanation">
            <a:extLst xmlns:a="http://schemas.openxmlformats.org/drawingml/2006/main">
              <a:ext uri="{FF2B5EF4-FFF2-40B4-BE49-F238E27FC236}">
                <a16:creationId xmlns:a16="http://schemas.microsoft.com/office/drawing/2014/main" id="{ECEFA0E1-5BB0-4D7F-A436-EE3843245CD0}"/>
              </a:ext>
            </a:extLst>
          </p:cNvPr>
          <p:cNvSpPr>
            <a:spLocks xmlns:a="http://schemas.openxmlformats.org/drawingml/2006/main" noGrp="1"/>
          </p:cNvSpPr>
          <p:nvPr/>
        </p:nvSpPr>
        <p:spPr>
          <a:xfrm xmlns:a="http://schemas.openxmlformats.org/drawingml/2006/main">
            <a:off x="628650" y="5819775"/>
            <a:ext cx="1093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Two room types and two rooms. Each room references an existing block and room type.</a:t>
            </a:r>
          </a:p>
        </p:txBody>
      </p:sp>
    </p:spTree>
    <p:extLst>
      <p:ext uri="{BB962C8B-B14F-4D97-AF65-F5344CB8AC3E}">
        <p14:creationId xmlns:p14="http://schemas.microsoft.com/office/powerpoint/2010/main" val="865105680"/>
      </p:ext>
    </p:extLst>
  </p:cSld>
</p:sld>
</file>

<file path=ppt/slides/slide26.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7A4D91F3-D4A2-4EBC-A46A-CFA80CB548CC}"/>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Data Population (DML)</a:t>
            </a:r>
          </a:p>
        </p:txBody>
      </p:sp>
      <p:sp>
        <p:nvSpPr>
          <p:cNvPr id="3" name="slide-subtitle">
            <a:extLst xmlns:a="http://schemas.openxmlformats.org/drawingml/2006/main">
              <a:ext uri="{FF2B5EF4-FFF2-40B4-BE49-F238E27FC236}">
                <a16:creationId xmlns:a16="http://schemas.microsoft.com/office/drawing/2014/main" id="{A3B309FF-A182-45D4-A606-79065C941961}"/>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COMPLAINT_CATEGORY and MAINTENANCE_STAFF</a:t>
            </a:r>
          </a:p>
        </p:txBody>
      </p:sp>
      <p:sp>
        <p:nvSpPr>
          <p:cNvPr id="4" name="footer">
            <a:extLst xmlns:a="http://schemas.openxmlformats.org/drawingml/2006/main">
              <a:ext uri="{FF2B5EF4-FFF2-40B4-BE49-F238E27FC236}">
                <a16:creationId xmlns:a16="http://schemas.microsoft.com/office/drawing/2014/main" id="{FC1D9394-642B-4BF5-AD3F-B995A8C7B5F6}"/>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B07B22AD-0B84-4064-9AF1-D2E03A65D58F}"/>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26 / 36</a:t>
            </a:r>
          </a:p>
        </p:txBody>
      </p:sp>
      <p:sp>
        <p:nvSpPr>
          <p:cNvPr id="6" name="sql-example">
            <a:extLst xmlns:a="http://schemas.openxmlformats.org/drawingml/2006/main">
              <a:ext uri="{FF2B5EF4-FFF2-40B4-BE49-F238E27FC236}">
                <a16:creationId xmlns:a16="http://schemas.microsoft.com/office/drawing/2014/main" id="{A9386E4C-5D44-411C-BBB9-0C1FEBB21F71}"/>
              </a:ext>
            </a:extLst>
          </p:cNvPr>
          <p:cNvSpPr>
            <a:spLocks xmlns:a="http://schemas.openxmlformats.org/drawingml/2006/main" noGrp="1"/>
          </p:cNvSpPr>
          <p:nvPr/>
        </p:nvSpPr>
        <p:spPr>
          <a:xfrm xmlns:a="http://schemas.openxmlformats.org/drawingml/2006/main">
            <a:off x="628650" y="1809750"/>
            <a:ext cx="109347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1F4D3B"/>
                </a:solidFill>
                <a:latin typeface="Courier New"/>
                <a:ea typeface="Courier New"/>
                <a:cs typeface="Courier New"/>
              </a:defRPr>
            </a:defPPr>
            <a:lvl1pPr>
              <a:defRPr sz="1800" b="0">
                <a:solidFill>
                  <a:srgbClr val="1F4D3B"/>
                </a:solidFill>
                <a:latin typeface="Courier New"/>
                <a:ea typeface="Courier New"/>
                <a:cs typeface="Courier New"/>
              </a:defRPr>
            </a:lvl1pPr>
            <a:lvl2pPr>
              <a:defRPr sz="1800" b="0">
                <a:solidFill>
                  <a:srgbClr val="1F4D3B"/>
                </a:solidFill>
                <a:latin typeface="Courier New"/>
                <a:ea typeface="Courier New"/>
                <a:cs typeface="Courier New"/>
              </a:defRPr>
            </a:lvl2pPr>
            <a:lvl3pPr>
              <a:defRPr sz="1800" b="0">
                <a:solidFill>
                  <a:srgbClr val="1F4D3B"/>
                </a:solidFill>
                <a:latin typeface="Courier New"/>
                <a:ea typeface="Courier New"/>
                <a:cs typeface="Courier New"/>
              </a:defRPr>
            </a:lvl3pPr>
            <a:lvl4pPr>
              <a:defRPr sz="1800" b="0">
                <a:solidFill>
                  <a:srgbClr val="1F4D3B"/>
                </a:solidFill>
                <a:latin typeface="Courier New"/>
                <a:ea typeface="Courier New"/>
                <a:cs typeface="Courier New"/>
              </a:defRPr>
            </a:lvl4pPr>
            <a:lvl5pPr>
              <a:defRPr sz="1800" b="0">
                <a:solidFill>
                  <a:srgbClr val="1F4D3B"/>
                </a:solidFill>
                <a:latin typeface="Courier New"/>
                <a:ea typeface="Courier New"/>
                <a:cs typeface="Courier New"/>
              </a:defRPr>
            </a:lvl5pPr>
            <a:lvl6pPr>
              <a:defRPr sz="1800" b="0">
                <a:solidFill>
                  <a:srgbClr val="1F4D3B"/>
                </a:solidFill>
                <a:latin typeface="Courier New"/>
                <a:ea typeface="Courier New"/>
                <a:cs typeface="Courier New"/>
              </a:defRPr>
            </a:lvl6pPr>
            <a:lvl7pPr>
              <a:defRPr sz="1800" b="0">
                <a:solidFill>
                  <a:srgbClr val="1F4D3B"/>
                </a:solidFill>
                <a:latin typeface="Courier New"/>
                <a:ea typeface="Courier New"/>
                <a:cs typeface="Courier New"/>
              </a:defRPr>
            </a:lvl7pPr>
            <a:lvl8pPr>
              <a:defRPr sz="1800" b="0">
                <a:solidFill>
                  <a:srgbClr val="1F4D3B"/>
                </a:solidFill>
                <a:latin typeface="Courier New"/>
                <a:ea typeface="Courier New"/>
                <a:cs typeface="Courier New"/>
              </a:defRPr>
            </a:lvl8pPr>
            <a:lvl9pPr>
              <a:defRPr sz="1800" b="0">
                <a:solidFill>
                  <a:srgbClr val="1F4D3B"/>
                </a:solidFill>
                <a:latin typeface="Courier New"/>
                <a:ea typeface="Courier New"/>
                <a:cs typeface="Courier New"/>
              </a:defRPr>
            </a:lvl9pPr>
          </a:lstStyle>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INSERT INTO complaint_category</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(category_id, category_name, default_priority, sla_hours)</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VALUES</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(1,'Electrical','HIGH',24),</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(2,'Plumbing','HIGH',24);</a:t>
            </a:r>
          </a:p>
          <a:p xmlns:a="http://schemas.openxmlformats.org/drawingml/2006/main">
            <a:r>
              <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INSERT INTO maintenance_staff (staff_id, category_id, block_id, shift)</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VALUES (5,1,1,'MORNING');</a:t>
            </a:r>
          </a:p>
        </p:txBody>
      </p:sp>
      <p:sp>
        <p:nvSpPr>
          <p:cNvPr id="7" name="dml-explanation">
            <a:extLst xmlns:a="http://schemas.openxmlformats.org/drawingml/2006/main">
              <a:ext uri="{FF2B5EF4-FFF2-40B4-BE49-F238E27FC236}">
                <a16:creationId xmlns:a16="http://schemas.microsoft.com/office/drawing/2014/main" id="{F360D813-1ED9-4EAA-820A-8F30D7323804}"/>
              </a:ext>
            </a:extLst>
          </p:cNvPr>
          <p:cNvSpPr>
            <a:spLocks xmlns:a="http://schemas.openxmlformats.org/drawingml/2006/main" noGrp="1"/>
          </p:cNvSpPr>
          <p:nvPr/>
        </p:nvSpPr>
        <p:spPr>
          <a:xfrm xmlns:a="http://schemas.openxmlformats.org/drawingml/2006/main">
            <a:off x="628650" y="5819775"/>
            <a:ext cx="1093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Staff member 5 handles electrical issues in A Block on the morning shift.</a:t>
            </a:r>
          </a:p>
        </p:txBody>
      </p:sp>
    </p:spTree>
    <p:extLst>
      <p:ext uri="{BB962C8B-B14F-4D97-AF65-F5344CB8AC3E}">
        <p14:creationId xmlns:p14="http://schemas.microsoft.com/office/powerpoint/2010/main" val="1935334200"/>
      </p:ext>
    </p:extLst>
  </p:cSld>
</p:sld>
</file>

<file path=ppt/slides/slide27.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A4854A99-9251-4224-87C6-E56229B7059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Data Population (DML)</a:t>
            </a:r>
          </a:p>
        </p:txBody>
      </p:sp>
      <p:sp>
        <p:nvSpPr>
          <p:cNvPr id="3" name="slide-subtitle">
            <a:extLst xmlns:a="http://schemas.openxmlformats.org/drawingml/2006/main">
              <a:ext uri="{FF2B5EF4-FFF2-40B4-BE49-F238E27FC236}">
                <a16:creationId xmlns:a16="http://schemas.microsoft.com/office/drawing/2014/main" id="{18C9BB29-4C7D-4CAB-AD74-3686C3D5B847}"/>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ROOM_ALLOCATION and COMPLAINT</a:t>
            </a:r>
          </a:p>
        </p:txBody>
      </p:sp>
      <p:sp>
        <p:nvSpPr>
          <p:cNvPr id="4" name="footer">
            <a:extLst xmlns:a="http://schemas.openxmlformats.org/drawingml/2006/main">
              <a:ext uri="{FF2B5EF4-FFF2-40B4-BE49-F238E27FC236}">
                <a16:creationId xmlns:a16="http://schemas.microsoft.com/office/drawing/2014/main" id="{30C85EBE-E06E-476E-BAED-40EF3ABA4E73}"/>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8A608067-D278-4F48-BB91-542787EBCD40}"/>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27 / 36</a:t>
            </a:r>
          </a:p>
        </p:txBody>
      </p:sp>
      <p:sp>
        <p:nvSpPr>
          <p:cNvPr id="6" name="sql-example">
            <a:extLst xmlns:a="http://schemas.openxmlformats.org/drawingml/2006/main">
              <a:ext uri="{FF2B5EF4-FFF2-40B4-BE49-F238E27FC236}">
                <a16:creationId xmlns:a16="http://schemas.microsoft.com/office/drawing/2014/main" id="{DFA77C86-585D-40D8-A1BE-52A3165D8EBF}"/>
              </a:ext>
            </a:extLst>
          </p:cNvPr>
          <p:cNvSpPr>
            <a:spLocks xmlns:a="http://schemas.openxmlformats.org/drawingml/2006/main" noGrp="1"/>
          </p:cNvSpPr>
          <p:nvPr/>
        </p:nvSpPr>
        <p:spPr>
          <a:xfrm xmlns:a="http://schemas.openxmlformats.org/drawingml/2006/main">
            <a:off x="628650" y="1809750"/>
            <a:ext cx="109347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1F4D3B"/>
                </a:solidFill>
                <a:latin typeface="Courier New"/>
                <a:ea typeface="Courier New"/>
                <a:cs typeface="Courier New"/>
              </a:defRPr>
            </a:defPPr>
            <a:lvl1pPr>
              <a:defRPr sz="1800" b="0">
                <a:solidFill>
                  <a:srgbClr val="1F4D3B"/>
                </a:solidFill>
                <a:latin typeface="Courier New"/>
                <a:ea typeface="Courier New"/>
                <a:cs typeface="Courier New"/>
              </a:defRPr>
            </a:lvl1pPr>
            <a:lvl2pPr>
              <a:defRPr sz="1800" b="0">
                <a:solidFill>
                  <a:srgbClr val="1F4D3B"/>
                </a:solidFill>
                <a:latin typeface="Courier New"/>
                <a:ea typeface="Courier New"/>
                <a:cs typeface="Courier New"/>
              </a:defRPr>
            </a:lvl2pPr>
            <a:lvl3pPr>
              <a:defRPr sz="1800" b="0">
                <a:solidFill>
                  <a:srgbClr val="1F4D3B"/>
                </a:solidFill>
                <a:latin typeface="Courier New"/>
                <a:ea typeface="Courier New"/>
                <a:cs typeface="Courier New"/>
              </a:defRPr>
            </a:lvl3pPr>
            <a:lvl4pPr>
              <a:defRPr sz="1800" b="0">
                <a:solidFill>
                  <a:srgbClr val="1F4D3B"/>
                </a:solidFill>
                <a:latin typeface="Courier New"/>
                <a:ea typeface="Courier New"/>
                <a:cs typeface="Courier New"/>
              </a:defRPr>
            </a:lvl4pPr>
            <a:lvl5pPr>
              <a:defRPr sz="1800" b="0">
                <a:solidFill>
                  <a:srgbClr val="1F4D3B"/>
                </a:solidFill>
                <a:latin typeface="Courier New"/>
                <a:ea typeface="Courier New"/>
                <a:cs typeface="Courier New"/>
              </a:defRPr>
            </a:lvl5pPr>
            <a:lvl6pPr>
              <a:defRPr sz="1800" b="0">
                <a:solidFill>
                  <a:srgbClr val="1F4D3B"/>
                </a:solidFill>
                <a:latin typeface="Courier New"/>
                <a:ea typeface="Courier New"/>
                <a:cs typeface="Courier New"/>
              </a:defRPr>
            </a:lvl6pPr>
            <a:lvl7pPr>
              <a:defRPr sz="1800" b="0">
                <a:solidFill>
                  <a:srgbClr val="1F4D3B"/>
                </a:solidFill>
                <a:latin typeface="Courier New"/>
                <a:ea typeface="Courier New"/>
                <a:cs typeface="Courier New"/>
              </a:defRPr>
            </a:lvl7pPr>
            <a:lvl8pPr>
              <a:defRPr sz="1800" b="0">
                <a:solidFill>
                  <a:srgbClr val="1F4D3B"/>
                </a:solidFill>
                <a:latin typeface="Courier New"/>
                <a:ea typeface="Courier New"/>
                <a:cs typeface="Courier New"/>
              </a:defRPr>
            </a:lvl8pPr>
            <a:lvl9pPr>
              <a:defRPr sz="1800" b="0">
                <a:solidFill>
                  <a:srgbClr val="1F4D3B"/>
                </a:solidFill>
                <a:latin typeface="Courier New"/>
                <a:ea typeface="Courier New"/>
                <a:cs typeface="Courier New"/>
              </a:defRPr>
            </a:lvl9pPr>
          </a:lstStyle>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START TRANSACTION;</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SET @app_user_id = 2;</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CALL sp_allocate_room(13,1,'2026-27',2);</a:t>
            </a:r>
          </a:p>
          <a:p xmlns:a="http://schemas.openxmlformats.org/drawingml/2006/main">
            <a:r>
              <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SET @app_user_id = 13;</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CALL sp_raise_complaint(13,1,'Ceiling light not working',</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 'The ceiling light in A101 does not turn on.','HIGH');</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SET @complaint_id = LAST_INSERT_ID();</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COMMIT;</a:t>
            </a:r>
          </a:p>
        </p:txBody>
      </p:sp>
      <p:sp>
        <p:nvSpPr>
          <p:cNvPr id="7" name="dml-explanation">
            <a:extLst xmlns:a="http://schemas.openxmlformats.org/drawingml/2006/main">
              <a:ext uri="{FF2B5EF4-FFF2-40B4-BE49-F238E27FC236}">
                <a16:creationId xmlns:a16="http://schemas.microsoft.com/office/drawing/2014/main" id="{A49A0726-8518-4341-9F5E-CE06B7767DA2}"/>
              </a:ext>
            </a:extLst>
          </p:cNvPr>
          <p:cNvSpPr>
            <a:spLocks xmlns:a="http://schemas.openxmlformats.org/drawingml/2006/main" noGrp="1"/>
          </p:cNvSpPr>
          <p:nvPr/>
        </p:nvSpPr>
        <p:spPr>
          <a:xfrm xmlns:a="http://schemas.openxmlformats.org/drawingml/2006/main">
            <a:off x="628650" y="5819775"/>
            <a:ext cx="1093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One active allotment and one OPEN complaint. The complaint trigger creates its first log row.</a:t>
            </a:r>
          </a:p>
        </p:txBody>
      </p:sp>
    </p:spTree>
    <p:extLst>
      <p:ext uri="{BB962C8B-B14F-4D97-AF65-F5344CB8AC3E}">
        <p14:creationId xmlns:p14="http://schemas.microsoft.com/office/powerpoint/2010/main" val="724440279"/>
      </p:ext>
    </p:extLst>
  </p:cSld>
</p:sld>
</file>

<file path=ppt/slides/slide28.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96E8D482-612B-4154-916C-4D91C8D5AB60}"/>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Data Population (DML)</a:t>
            </a:r>
          </a:p>
        </p:txBody>
      </p:sp>
      <p:sp>
        <p:nvSpPr>
          <p:cNvPr id="3" name="slide-subtitle">
            <a:extLst xmlns:a="http://schemas.openxmlformats.org/drawingml/2006/main">
              <a:ext uri="{FF2B5EF4-FFF2-40B4-BE49-F238E27FC236}">
                <a16:creationId xmlns:a16="http://schemas.microsoft.com/office/drawing/2014/main" id="{E545CA6F-3391-4C6C-867C-FB487DE2242C}"/>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FEEDBACK and COMPLAINT_LOG</a:t>
            </a:r>
          </a:p>
        </p:txBody>
      </p:sp>
      <p:sp>
        <p:nvSpPr>
          <p:cNvPr id="4" name="footer">
            <a:extLst xmlns:a="http://schemas.openxmlformats.org/drawingml/2006/main">
              <a:ext uri="{FF2B5EF4-FFF2-40B4-BE49-F238E27FC236}">
                <a16:creationId xmlns:a16="http://schemas.microsoft.com/office/drawing/2014/main" id="{59214A43-0BB0-4C87-B3E4-8A391E29EB96}"/>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CB77DE2A-8241-4E65-A1E3-D69AB338E480}"/>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28 / 36</a:t>
            </a:r>
          </a:p>
        </p:txBody>
      </p:sp>
      <p:sp>
        <p:nvSpPr>
          <p:cNvPr id="6" name="sql-example">
            <a:extLst xmlns:a="http://schemas.openxmlformats.org/drawingml/2006/main">
              <a:ext uri="{FF2B5EF4-FFF2-40B4-BE49-F238E27FC236}">
                <a16:creationId xmlns:a16="http://schemas.microsoft.com/office/drawing/2014/main" id="{57F2C624-AD52-45E9-9BB5-B735C2D5125F}"/>
              </a:ext>
            </a:extLst>
          </p:cNvPr>
          <p:cNvSpPr>
            <a:spLocks xmlns:a="http://schemas.openxmlformats.org/drawingml/2006/main" noGrp="1"/>
          </p:cNvSpPr>
          <p:nvPr/>
        </p:nvSpPr>
        <p:spPr>
          <a:xfrm xmlns:a="http://schemas.openxmlformats.org/drawingml/2006/main">
            <a:off x="628650" y="1809750"/>
            <a:ext cx="109347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1F4D3B"/>
                </a:solidFill>
                <a:latin typeface="Courier New"/>
                <a:ea typeface="Courier New"/>
                <a:cs typeface="Courier New"/>
              </a:defRPr>
            </a:defPPr>
            <a:lvl1pPr>
              <a:defRPr sz="1800" b="0">
                <a:solidFill>
                  <a:srgbClr val="1F4D3B"/>
                </a:solidFill>
                <a:latin typeface="Courier New"/>
                <a:ea typeface="Courier New"/>
                <a:cs typeface="Courier New"/>
              </a:defRPr>
            </a:lvl1pPr>
            <a:lvl2pPr>
              <a:defRPr sz="1800" b="0">
                <a:solidFill>
                  <a:srgbClr val="1F4D3B"/>
                </a:solidFill>
                <a:latin typeface="Courier New"/>
                <a:ea typeface="Courier New"/>
                <a:cs typeface="Courier New"/>
              </a:defRPr>
            </a:lvl2pPr>
            <a:lvl3pPr>
              <a:defRPr sz="1800" b="0">
                <a:solidFill>
                  <a:srgbClr val="1F4D3B"/>
                </a:solidFill>
                <a:latin typeface="Courier New"/>
                <a:ea typeface="Courier New"/>
                <a:cs typeface="Courier New"/>
              </a:defRPr>
            </a:lvl3pPr>
            <a:lvl4pPr>
              <a:defRPr sz="1800" b="0">
                <a:solidFill>
                  <a:srgbClr val="1F4D3B"/>
                </a:solidFill>
                <a:latin typeface="Courier New"/>
                <a:ea typeface="Courier New"/>
                <a:cs typeface="Courier New"/>
              </a:defRPr>
            </a:lvl4pPr>
            <a:lvl5pPr>
              <a:defRPr sz="1800" b="0">
                <a:solidFill>
                  <a:srgbClr val="1F4D3B"/>
                </a:solidFill>
                <a:latin typeface="Courier New"/>
                <a:ea typeface="Courier New"/>
                <a:cs typeface="Courier New"/>
              </a:defRPr>
            </a:lvl5pPr>
            <a:lvl6pPr>
              <a:defRPr sz="1800" b="0">
                <a:solidFill>
                  <a:srgbClr val="1F4D3B"/>
                </a:solidFill>
                <a:latin typeface="Courier New"/>
                <a:ea typeface="Courier New"/>
                <a:cs typeface="Courier New"/>
              </a:defRPr>
            </a:lvl6pPr>
            <a:lvl7pPr>
              <a:defRPr sz="1800" b="0">
                <a:solidFill>
                  <a:srgbClr val="1F4D3B"/>
                </a:solidFill>
                <a:latin typeface="Courier New"/>
                <a:ea typeface="Courier New"/>
                <a:cs typeface="Courier New"/>
              </a:defRPr>
            </a:lvl7pPr>
            <a:lvl8pPr>
              <a:defRPr sz="1800" b="0">
                <a:solidFill>
                  <a:srgbClr val="1F4D3B"/>
                </a:solidFill>
                <a:latin typeface="Courier New"/>
                <a:ea typeface="Courier New"/>
                <a:cs typeface="Courier New"/>
              </a:defRPr>
            </a:lvl8pPr>
            <a:lvl9pPr>
              <a:defRPr sz="1800" b="0">
                <a:solidFill>
                  <a:srgbClr val="1F4D3B"/>
                </a:solidFill>
                <a:latin typeface="Courier New"/>
                <a:ea typeface="Courier New"/>
                <a:cs typeface="Courier New"/>
              </a:defRPr>
            </a:lvl9pPr>
          </a:lstStyle>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START TRANSACTION;</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CALL sp_assign_complaint(@complaint_id,5,2);</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CALL sp_update_status(@complaint_id,'IN_PROGRESS',5,'Checking light');</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CALL sp_update_status(@complaint_id,'RESOLVED',5,'Replaced bulb');</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SET @app_user_id = 13;</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INSERT INTO feedback (complaint_id, rating, comments)</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VALUES (@complaint_id,5,'Light works now. Thank you.');</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COMMIT;</a:t>
            </a:r>
          </a:p>
          <a:p xmlns:a="http://schemas.openxmlformats.org/drawingml/2006/main">
            <a:r>
              <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SELECT old_status, new_status, changed_by</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FROM complaint_log</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WHERE complaint_id = @complaint_id</a:t>
            </a:r>
          </a:p>
          <a:p xmlns:a="http://schemas.openxmlformats.org/drawingml/2006/main">
            <a:pPr>
              <a:defRPr sz="1800" b="0">
                <a:solidFill>
                  <a:srgbClr val="1F4D3B"/>
                </a:solidFill>
                <a:latin typeface="Courier New"/>
                <a:ea typeface="Courier New"/>
                <a:cs typeface="Courier New"/>
              </a:defRPr>
            </a:pPr>
            <a:r>
              <a:rPr sz="1800" b="0">
                <a:solidFill>
                  <a:srgbClr val="1F4D3B"/>
                </a:solidFill>
                <a:latin typeface="Courier New"/>
                <a:ea typeface="Courier New"/>
                <a:cs typeface="Courier New"/>
              </a:rPr>
              <a:t>ORDER BY log_id;</a:t>
            </a:r>
          </a:p>
        </p:txBody>
      </p:sp>
      <p:sp>
        <p:nvSpPr>
          <p:cNvPr id="7" name="dml-explanation">
            <a:extLst xmlns:a="http://schemas.openxmlformats.org/drawingml/2006/main">
              <a:ext uri="{FF2B5EF4-FFF2-40B4-BE49-F238E27FC236}">
                <a16:creationId xmlns:a16="http://schemas.microsoft.com/office/drawing/2014/main" id="{CD8D8708-86CB-4A98-85AA-7577FEEB0AC4}"/>
              </a:ext>
            </a:extLst>
          </p:cNvPr>
          <p:cNvSpPr>
            <a:spLocks xmlns:a="http://schemas.openxmlformats.org/drawingml/2006/main" noGrp="1"/>
          </p:cNvSpPr>
          <p:nvPr/>
        </p:nvSpPr>
        <p:spPr>
          <a:xfrm xmlns:a="http://schemas.openxmlformats.org/drawingml/2006/main">
            <a:off x="628650" y="5819775"/>
            <a:ext cx="1093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One feedback entry closes the complaint. Triggers record five status events in COMPLAINT_LOG.</a:t>
            </a:r>
          </a:p>
        </p:txBody>
      </p:sp>
    </p:spTree>
    <p:extLst>
      <p:ext uri="{BB962C8B-B14F-4D97-AF65-F5344CB8AC3E}">
        <p14:creationId xmlns:p14="http://schemas.microsoft.com/office/powerpoint/2010/main" val="1108367668"/>
      </p:ext>
    </p:extLst>
  </p:cSld>
</p:sld>
</file>

<file path=ppt/slides/slide29.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B2B99364-79C4-48B7-9BA9-93CDF0BF2B9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Front-End Design</a:t>
            </a:r>
          </a:p>
        </p:txBody>
      </p:sp>
      <p:sp>
        <p:nvSpPr>
          <p:cNvPr id="3" name="slide-subtitle">
            <a:extLst xmlns:a="http://schemas.openxmlformats.org/drawingml/2006/main">
              <a:ext uri="{FF2B5EF4-FFF2-40B4-BE49-F238E27FC236}">
                <a16:creationId xmlns:a16="http://schemas.microsoft.com/office/drawing/2014/main" id="{CE1F63BB-5F86-4F96-9DE2-39AA99CC142B}"/>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React forms and role workspaces connect to the same Express API and MySQL data.</a:t>
            </a:r>
          </a:p>
        </p:txBody>
      </p:sp>
      <p:sp>
        <p:nvSpPr>
          <p:cNvPr id="4" name="footer">
            <a:extLst xmlns:a="http://schemas.openxmlformats.org/drawingml/2006/main">
              <a:ext uri="{FF2B5EF4-FFF2-40B4-BE49-F238E27FC236}">
                <a16:creationId xmlns:a16="http://schemas.microsoft.com/office/drawing/2014/main" id="{C3D21F87-6217-4D25-9362-9414B07D8139}"/>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4E8A0CE9-4C96-444B-B9B0-7E41C618A5CE}"/>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29 / 36</a:t>
            </a:r>
          </a:p>
        </p:txBody>
      </p:sp>
      <p:pic>
        <p:nvPicPr>
          <p:cNvPr id="6" name="">
            <a:extLst xmlns:a="http://schemas.openxmlformats.org/drawingml/2006/main">
              <a:ext uri="{FF2B5EF4-FFF2-40B4-BE49-F238E27FC236}">
                <a16:creationId xmlns:a16="http://schemas.microsoft.com/office/drawing/2014/main" id="{17BFAE59-F48F-4D17-9559-6C9CBAB2E386}"/>
              </a:ext>
            </a:extLst>
          </p:cNvPr>
          <p:cNvPicPr>
            <a:picLocks xmlns:a="http://schemas.openxmlformats.org/drawingml/2006/main" noChangeAspect="1"/>
          </p:cNvPicPr>
          <p:nvPr/>
        </p:nvPicPr>
        <p:blipFill>
          <a:blip xmlns:r="http://schemas.openxmlformats.org/officeDocument/2006/relationships" xmlns:a="http://schemas.openxmlformats.org/drawingml/2006/main" r:embed="R86acd16a1c5044a9"/>
          <a:srcRect xmlns:a="http://schemas.openxmlformats.org/drawingml/2006/main" l="0" t="0" r="0" b="40000"/>
          <a:stretch xmlns:a="http://schemas.openxmlformats.org/drawingml/2006/main"/>
        </p:blipFill>
        <p:spPr>
          <a:xfrm xmlns:a="http://schemas.openxmlformats.org/drawingml/2006/main">
            <a:off x="571500" y="1762125"/>
            <a:ext cx="7239000" cy="4429125"/>
          </a:xfrm>
          <a:prstGeom xmlns:a="http://schemas.openxmlformats.org/drawingml/2006/main" prst="rect">
            <a:avLst/>
          </a:prstGeom>
        </p:spPr>
      </p:pic>
      <p:sp>
        <p:nvSpPr>
          <p:cNvPr id="7" name="text">
            <a:extLst xmlns:a="http://schemas.openxmlformats.org/drawingml/2006/main">
              <a:ext uri="{FF2B5EF4-FFF2-40B4-BE49-F238E27FC236}">
                <a16:creationId xmlns:a16="http://schemas.microsoft.com/office/drawing/2014/main" id="{A5B92E11-B3C1-4005-A564-56B0513F2B84}"/>
              </a:ext>
            </a:extLst>
          </p:cNvPr>
          <p:cNvSpPr>
            <a:spLocks xmlns:a="http://schemas.openxmlformats.org/drawingml/2006/main" noGrp="1"/>
          </p:cNvSpPr>
          <p:nvPr/>
        </p:nvSpPr>
        <p:spPr>
          <a:xfrm xmlns:a="http://schemas.openxmlformats.org/drawingml/2006/main">
            <a:off x="8096250" y="1809750"/>
            <a:ext cx="3476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243B2D"/>
                </a:solidFill>
                <a:latin typeface="Arial"/>
                <a:ea typeface="Arial"/>
                <a:cs typeface="Arial"/>
              </a:defRPr>
            </a:defPPr>
            <a:lvl1pPr>
              <a:defRPr sz="1800" b="1">
                <a:solidFill>
                  <a:srgbClr val="243B2D"/>
                </a:solidFill>
                <a:latin typeface="Arial"/>
                <a:ea typeface="Arial"/>
                <a:cs typeface="Arial"/>
              </a:defRPr>
            </a:lvl1pPr>
            <a:lvl2pPr>
              <a:defRPr sz="1800" b="1">
                <a:solidFill>
                  <a:srgbClr val="243B2D"/>
                </a:solidFill>
                <a:latin typeface="Arial"/>
                <a:ea typeface="Arial"/>
                <a:cs typeface="Arial"/>
              </a:defRPr>
            </a:lvl2pPr>
            <a:lvl3pPr>
              <a:defRPr sz="1800" b="1">
                <a:solidFill>
                  <a:srgbClr val="243B2D"/>
                </a:solidFill>
                <a:latin typeface="Arial"/>
                <a:ea typeface="Arial"/>
                <a:cs typeface="Arial"/>
              </a:defRPr>
            </a:lvl3pPr>
            <a:lvl4pPr>
              <a:defRPr sz="1800" b="1">
                <a:solidFill>
                  <a:srgbClr val="243B2D"/>
                </a:solidFill>
                <a:latin typeface="Arial"/>
                <a:ea typeface="Arial"/>
                <a:cs typeface="Arial"/>
              </a:defRPr>
            </a:lvl4pPr>
            <a:lvl5pPr>
              <a:defRPr sz="1800" b="1">
                <a:solidFill>
                  <a:srgbClr val="243B2D"/>
                </a:solidFill>
                <a:latin typeface="Arial"/>
                <a:ea typeface="Arial"/>
                <a:cs typeface="Arial"/>
              </a:defRPr>
            </a:lvl5pPr>
            <a:lvl6pPr>
              <a:defRPr sz="1800" b="1">
                <a:solidFill>
                  <a:srgbClr val="243B2D"/>
                </a:solidFill>
                <a:latin typeface="Arial"/>
                <a:ea typeface="Arial"/>
                <a:cs typeface="Arial"/>
              </a:defRPr>
            </a:lvl6pPr>
            <a:lvl7pPr>
              <a:defRPr sz="1800" b="1">
                <a:solidFill>
                  <a:srgbClr val="243B2D"/>
                </a:solidFill>
                <a:latin typeface="Arial"/>
                <a:ea typeface="Arial"/>
                <a:cs typeface="Arial"/>
              </a:defRPr>
            </a:lvl7pPr>
            <a:lvl8pPr>
              <a:defRPr sz="1800" b="1">
                <a:solidFill>
                  <a:srgbClr val="243B2D"/>
                </a:solidFill>
                <a:latin typeface="Arial"/>
                <a:ea typeface="Arial"/>
                <a:cs typeface="Arial"/>
              </a:defRPr>
            </a:lvl8pPr>
            <a:lvl9pPr>
              <a:defRPr sz="1800" b="1">
                <a:solidFill>
                  <a:srgbClr val="243B2D"/>
                </a:solidFill>
                <a:latin typeface="Arial"/>
                <a:ea typeface="Arial"/>
                <a:cs typeface="Arial"/>
              </a:defRPr>
            </a:lvl9pPr>
          </a:lstStyle>
          <a:p xmlns:a="http://schemas.openxmlformats.org/drawingml/2006/main">
            <a:pPr>
              <a:defRPr sz="1800" b="1">
                <a:solidFill>
                  <a:srgbClr val="243B2D"/>
                </a:solidFill>
                <a:latin typeface="Arial"/>
                <a:ea typeface="Arial"/>
                <a:cs typeface="Arial"/>
              </a:defRPr>
            </a:pPr>
            <a:r>
              <a:rPr sz="1800" b="1">
                <a:solidFill>
                  <a:srgbClr val="243B2D"/>
                </a:solidFill>
                <a:latin typeface="Arial"/>
                <a:ea typeface="Arial"/>
                <a:cs typeface="Arial"/>
              </a:rPr>
              <a:t>Role workspaces</a:t>
            </a:r>
          </a:p>
        </p:txBody>
      </p:sp>
      <p:sp>
        <p:nvSpPr>
          <p:cNvPr id="8" name="text">
            <a:extLst xmlns:a="http://schemas.openxmlformats.org/drawingml/2006/main">
              <a:ext uri="{FF2B5EF4-FFF2-40B4-BE49-F238E27FC236}">
                <a16:creationId xmlns:a16="http://schemas.microsoft.com/office/drawing/2014/main" id="{AF3DC1B3-6F91-4FA0-B213-C5E6030F5B17}"/>
              </a:ext>
            </a:extLst>
          </p:cNvPr>
          <p:cNvSpPr>
            <a:spLocks xmlns:a="http://schemas.openxmlformats.org/drawingml/2006/main" noGrp="1"/>
          </p:cNvSpPr>
          <p:nvPr/>
        </p:nvSpPr>
        <p:spPr>
          <a:xfrm xmlns:a="http://schemas.openxmlformats.org/drawingml/2006/main">
            <a:off x="8096250" y="2190750"/>
            <a:ext cx="3476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60735E"/>
                </a:solidFill>
                <a:latin typeface="Arial"/>
                <a:ea typeface="Arial"/>
                <a:cs typeface="Arial"/>
              </a:defRPr>
            </a:defPPr>
            <a:lvl1pPr>
              <a:defRPr sz="1575" b="0">
                <a:solidFill>
                  <a:srgbClr val="60735E"/>
                </a:solidFill>
                <a:latin typeface="Arial"/>
                <a:ea typeface="Arial"/>
                <a:cs typeface="Arial"/>
              </a:defRPr>
            </a:lvl1pPr>
            <a:lvl2pPr>
              <a:defRPr sz="1575" b="0">
                <a:solidFill>
                  <a:srgbClr val="60735E"/>
                </a:solidFill>
                <a:latin typeface="Arial"/>
                <a:ea typeface="Arial"/>
                <a:cs typeface="Arial"/>
              </a:defRPr>
            </a:lvl2pPr>
            <a:lvl3pPr>
              <a:defRPr sz="1575" b="0">
                <a:solidFill>
                  <a:srgbClr val="60735E"/>
                </a:solidFill>
                <a:latin typeface="Arial"/>
                <a:ea typeface="Arial"/>
                <a:cs typeface="Arial"/>
              </a:defRPr>
            </a:lvl3pPr>
            <a:lvl4pPr>
              <a:defRPr sz="1575" b="0">
                <a:solidFill>
                  <a:srgbClr val="60735E"/>
                </a:solidFill>
                <a:latin typeface="Arial"/>
                <a:ea typeface="Arial"/>
                <a:cs typeface="Arial"/>
              </a:defRPr>
            </a:lvl4pPr>
            <a:lvl5pPr>
              <a:defRPr sz="1575" b="0">
                <a:solidFill>
                  <a:srgbClr val="60735E"/>
                </a:solidFill>
                <a:latin typeface="Arial"/>
                <a:ea typeface="Arial"/>
                <a:cs typeface="Arial"/>
              </a:defRPr>
            </a:lvl5pPr>
            <a:lvl6pPr>
              <a:defRPr sz="1575" b="0">
                <a:solidFill>
                  <a:srgbClr val="60735E"/>
                </a:solidFill>
                <a:latin typeface="Arial"/>
                <a:ea typeface="Arial"/>
                <a:cs typeface="Arial"/>
              </a:defRPr>
            </a:lvl6pPr>
            <a:lvl7pPr>
              <a:defRPr sz="1575" b="0">
                <a:solidFill>
                  <a:srgbClr val="60735E"/>
                </a:solidFill>
                <a:latin typeface="Arial"/>
                <a:ea typeface="Arial"/>
                <a:cs typeface="Arial"/>
              </a:defRPr>
            </a:lvl7pPr>
            <a:lvl8pPr>
              <a:defRPr sz="1575" b="0">
                <a:solidFill>
                  <a:srgbClr val="60735E"/>
                </a:solidFill>
                <a:latin typeface="Arial"/>
                <a:ea typeface="Arial"/>
                <a:cs typeface="Arial"/>
              </a:defRPr>
            </a:lvl8pPr>
            <a:lvl9pPr>
              <a:defRPr sz="1575" b="0">
                <a:solidFill>
                  <a:srgbClr val="60735E"/>
                </a:solidFill>
                <a:latin typeface="Arial"/>
                <a:ea typeface="Arial"/>
                <a:cs typeface="Arial"/>
              </a:defRPr>
            </a:lvl9pPr>
          </a:lstStyle>
          <a:p xmlns:a="http://schemas.openxmlformats.org/drawingml/2006/main">
            <a:pPr>
              <a:defRPr sz="1575" b="0">
                <a:solidFill>
                  <a:srgbClr val="60735E"/>
                </a:solidFill>
                <a:latin typeface="Arial"/>
                <a:ea typeface="Arial"/>
                <a:cs typeface="Arial"/>
              </a:defRPr>
            </a:pPr>
            <a:r>
              <a:rPr sz="1575" b="0">
                <a:solidFill>
                  <a:srgbClr val="60735E"/>
                </a:solidFill>
                <a:latin typeface="Arial"/>
                <a:ea typeface="Arial"/>
                <a:cs typeface="Arial"/>
              </a:rPr>
              <a:t>Student, warden, staff and admin</a:t>
            </a:r>
          </a:p>
        </p:txBody>
      </p:sp>
      <p:sp>
        <p:nvSpPr>
          <p:cNvPr id="9" name="text">
            <a:extLst xmlns:a="http://schemas.openxmlformats.org/drawingml/2006/main">
              <a:ext uri="{FF2B5EF4-FFF2-40B4-BE49-F238E27FC236}">
                <a16:creationId xmlns:a16="http://schemas.microsoft.com/office/drawing/2014/main" id="{FE504867-2666-4769-B67B-C695C7DB271A}"/>
              </a:ext>
            </a:extLst>
          </p:cNvPr>
          <p:cNvSpPr>
            <a:spLocks xmlns:a="http://schemas.openxmlformats.org/drawingml/2006/main" noGrp="1"/>
          </p:cNvSpPr>
          <p:nvPr/>
        </p:nvSpPr>
        <p:spPr>
          <a:xfrm xmlns:a="http://schemas.openxmlformats.org/drawingml/2006/main">
            <a:off x="8096250" y="2857500"/>
            <a:ext cx="3476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243B2D"/>
                </a:solidFill>
                <a:latin typeface="Arial"/>
                <a:ea typeface="Arial"/>
                <a:cs typeface="Arial"/>
              </a:defRPr>
            </a:defPPr>
            <a:lvl1pPr>
              <a:defRPr sz="1800" b="1">
                <a:solidFill>
                  <a:srgbClr val="243B2D"/>
                </a:solidFill>
                <a:latin typeface="Arial"/>
                <a:ea typeface="Arial"/>
                <a:cs typeface="Arial"/>
              </a:defRPr>
            </a:lvl1pPr>
            <a:lvl2pPr>
              <a:defRPr sz="1800" b="1">
                <a:solidFill>
                  <a:srgbClr val="243B2D"/>
                </a:solidFill>
                <a:latin typeface="Arial"/>
                <a:ea typeface="Arial"/>
                <a:cs typeface="Arial"/>
              </a:defRPr>
            </a:lvl2pPr>
            <a:lvl3pPr>
              <a:defRPr sz="1800" b="1">
                <a:solidFill>
                  <a:srgbClr val="243B2D"/>
                </a:solidFill>
                <a:latin typeface="Arial"/>
                <a:ea typeface="Arial"/>
                <a:cs typeface="Arial"/>
              </a:defRPr>
            </a:lvl3pPr>
            <a:lvl4pPr>
              <a:defRPr sz="1800" b="1">
                <a:solidFill>
                  <a:srgbClr val="243B2D"/>
                </a:solidFill>
                <a:latin typeface="Arial"/>
                <a:ea typeface="Arial"/>
                <a:cs typeface="Arial"/>
              </a:defRPr>
            </a:lvl4pPr>
            <a:lvl5pPr>
              <a:defRPr sz="1800" b="1">
                <a:solidFill>
                  <a:srgbClr val="243B2D"/>
                </a:solidFill>
                <a:latin typeface="Arial"/>
                <a:ea typeface="Arial"/>
                <a:cs typeface="Arial"/>
              </a:defRPr>
            </a:lvl5pPr>
            <a:lvl6pPr>
              <a:defRPr sz="1800" b="1">
                <a:solidFill>
                  <a:srgbClr val="243B2D"/>
                </a:solidFill>
                <a:latin typeface="Arial"/>
                <a:ea typeface="Arial"/>
                <a:cs typeface="Arial"/>
              </a:defRPr>
            </a:lvl6pPr>
            <a:lvl7pPr>
              <a:defRPr sz="1800" b="1">
                <a:solidFill>
                  <a:srgbClr val="243B2D"/>
                </a:solidFill>
                <a:latin typeface="Arial"/>
                <a:ea typeface="Arial"/>
                <a:cs typeface="Arial"/>
              </a:defRPr>
            </a:lvl7pPr>
            <a:lvl8pPr>
              <a:defRPr sz="1800" b="1">
                <a:solidFill>
                  <a:srgbClr val="243B2D"/>
                </a:solidFill>
                <a:latin typeface="Arial"/>
                <a:ea typeface="Arial"/>
                <a:cs typeface="Arial"/>
              </a:defRPr>
            </a:lvl8pPr>
            <a:lvl9pPr>
              <a:defRPr sz="1800" b="1">
                <a:solidFill>
                  <a:srgbClr val="243B2D"/>
                </a:solidFill>
                <a:latin typeface="Arial"/>
                <a:ea typeface="Arial"/>
                <a:cs typeface="Arial"/>
              </a:defRPr>
            </a:lvl9pPr>
          </a:lstStyle>
          <a:p xmlns:a="http://schemas.openxmlformats.org/drawingml/2006/main">
            <a:pPr>
              <a:defRPr sz="1800" b="1">
                <a:solidFill>
                  <a:srgbClr val="243B2D"/>
                </a:solidFill>
                <a:latin typeface="Arial"/>
                <a:ea typeface="Arial"/>
                <a:cs typeface="Arial"/>
              </a:defRPr>
            </a:pPr>
            <a:r>
              <a:rPr sz="1800" b="1">
                <a:solidFill>
                  <a:srgbClr val="243B2D"/>
                </a:solidFill>
                <a:latin typeface="Arial"/>
                <a:ea typeface="Arial"/>
                <a:cs typeface="Arial"/>
              </a:rPr>
              <a:t>Connected forms</a:t>
            </a:r>
          </a:p>
        </p:txBody>
      </p:sp>
      <p:sp>
        <p:nvSpPr>
          <p:cNvPr id="10" name="text">
            <a:extLst xmlns:a="http://schemas.openxmlformats.org/drawingml/2006/main">
              <a:ext uri="{FF2B5EF4-FFF2-40B4-BE49-F238E27FC236}">
                <a16:creationId xmlns:a16="http://schemas.microsoft.com/office/drawing/2014/main" id="{9FEA191C-ED70-41A0-9255-4FF47F401AA9}"/>
              </a:ext>
            </a:extLst>
          </p:cNvPr>
          <p:cNvSpPr>
            <a:spLocks xmlns:a="http://schemas.openxmlformats.org/drawingml/2006/main" noGrp="1"/>
          </p:cNvSpPr>
          <p:nvPr/>
        </p:nvSpPr>
        <p:spPr>
          <a:xfrm xmlns:a="http://schemas.openxmlformats.org/drawingml/2006/main">
            <a:off x="8096250" y="3238500"/>
            <a:ext cx="3476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60735E"/>
                </a:solidFill>
                <a:latin typeface="Arial"/>
                <a:ea typeface="Arial"/>
                <a:cs typeface="Arial"/>
              </a:defRPr>
            </a:defPPr>
            <a:lvl1pPr>
              <a:defRPr sz="1575" b="0">
                <a:solidFill>
                  <a:srgbClr val="60735E"/>
                </a:solidFill>
                <a:latin typeface="Arial"/>
                <a:ea typeface="Arial"/>
                <a:cs typeface="Arial"/>
              </a:defRPr>
            </a:lvl1pPr>
            <a:lvl2pPr>
              <a:defRPr sz="1575" b="0">
                <a:solidFill>
                  <a:srgbClr val="60735E"/>
                </a:solidFill>
                <a:latin typeface="Arial"/>
                <a:ea typeface="Arial"/>
                <a:cs typeface="Arial"/>
              </a:defRPr>
            </a:lvl2pPr>
            <a:lvl3pPr>
              <a:defRPr sz="1575" b="0">
                <a:solidFill>
                  <a:srgbClr val="60735E"/>
                </a:solidFill>
                <a:latin typeface="Arial"/>
                <a:ea typeface="Arial"/>
                <a:cs typeface="Arial"/>
              </a:defRPr>
            </a:lvl3pPr>
            <a:lvl4pPr>
              <a:defRPr sz="1575" b="0">
                <a:solidFill>
                  <a:srgbClr val="60735E"/>
                </a:solidFill>
                <a:latin typeface="Arial"/>
                <a:ea typeface="Arial"/>
                <a:cs typeface="Arial"/>
              </a:defRPr>
            </a:lvl4pPr>
            <a:lvl5pPr>
              <a:defRPr sz="1575" b="0">
                <a:solidFill>
                  <a:srgbClr val="60735E"/>
                </a:solidFill>
                <a:latin typeface="Arial"/>
                <a:ea typeface="Arial"/>
                <a:cs typeface="Arial"/>
              </a:defRPr>
            </a:lvl5pPr>
            <a:lvl6pPr>
              <a:defRPr sz="1575" b="0">
                <a:solidFill>
                  <a:srgbClr val="60735E"/>
                </a:solidFill>
                <a:latin typeface="Arial"/>
                <a:ea typeface="Arial"/>
                <a:cs typeface="Arial"/>
              </a:defRPr>
            </a:lvl6pPr>
            <a:lvl7pPr>
              <a:defRPr sz="1575" b="0">
                <a:solidFill>
                  <a:srgbClr val="60735E"/>
                </a:solidFill>
                <a:latin typeface="Arial"/>
                <a:ea typeface="Arial"/>
                <a:cs typeface="Arial"/>
              </a:defRPr>
            </a:lvl7pPr>
            <a:lvl8pPr>
              <a:defRPr sz="1575" b="0">
                <a:solidFill>
                  <a:srgbClr val="60735E"/>
                </a:solidFill>
                <a:latin typeface="Arial"/>
                <a:ea typeface="Arial"/>
                <a:cs typeface="Arial"/>
              </a:defRPr>
            </a:lvl8pPr>
            <a:lvl9pPr>
              <a:defRPr sz="1575" b="0">
                <a:solidFill>
                  <a:srgbClr val="60735E"/>
                </a:solidFill>
                <a:latin typeface="Arial"/>
                <a:ea typeface="Arial"/>
                <a:cs typeface="Arial"/>
              </a:defRPr>
            </a:lvl9pPr>
          </a:lstStyle>
          <a:p xmlns:a="http://schemas.openxmlformats.org/drawingml/2006/main">
            <a:pPr>
              <a:defRPr sz="1575" b="0">
                <a:solidFill>
                  <a:srgbClr val="60735E"/>
                </a:solidFill>
                <a:latin typeface="Arial"/>
                <a:ea typeface="Arial"/>
                <a:cs typeface="Arial"/>
              </a:defRPr>
            </a:pPr>
            <a:r>
              <a:rPr sz="1575" b="0">
                <a:solidFill>
                  <a:srgbClr val="60735E"/>
                </a:solidFill>
                <a:latin typeface="Arial"/>
                <a:ea typeface="Arial"/>
                <a:cs typeface="Arial"/>
              </a:rPr>
              <a:t>Allotments, complaints and feedback</a:t>
            </a:r>
          </a:p>
        </p:txBody>
      </p:sp>
      <p:sp>
        <p:nvSpPr>
          <p:cNvPr id="11" name="text">
            <a:extLst xmlns:a="http://schemas.openxmlformats.org/drawingml/2006/main">
              <a:ext uri="{FF2B5EF4-FFF2-40B4-BE49-F238E27FC236}">
                <a16:creationId xmlns:a16="http://schemas.microsoft.com/office/drawing/2014/main" id="{F443B9FF-AB5F-4722-B623-26A4535FC857}"/>
              </a:ext>
            </a:extLst>
          </p:cNvPr>
          <p:cNvSpPr>
            <a:spLocks xmlns:a="http://schemas.openxmlformats.org/drawingml/2006/main" noGrp="1"/>
          </p:cNvSpPr>
          <p:nvPr/>
        </p:nvSpPr>
        <p:spPr>
          <a:xfrm xmlns:a="http://schemas.openxmlformats.org/drawingml/2006/main">
            <a:off x="8096250" y="3905250"/>
            <a:ext cx="3476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243B2D"/>
                </a:solidFill>
                <a:latin typeface="Arial"/>
                <a:ea typeface="Arial"/>
                <a:cs typeface="Arial"/>
              </a:defRPr>
            </a:defPPr>
            <a:lvl1pPr>
              <a:defRPr sz="1800" b="1">
                <a:solidFill>
                  <a:srgbClr val="243B2D"/>
                </a:solidFill>
                <a:latin typeface="Arial"/>
                <a:ea typeface="Arial"/>
                <a:cs typeface="Arial"/>
              </a:defRPr>
            </a:lvl1pPr>
            <a:lvl2pPr>
              <a:defRPr sz="1800" b="1">
                <a:solidFill>
                  <a:srgbClr val="243B2D"/>
                </a:solidFill>
                <a:latin typeface="Arial"/>
                <a:ea typeface="Arial"/>
                <a:cs typeface="Arial"/>
              </a:defRPr>
            </a:lvl2pPr>
            <a:lvl3pPr>
              <a:defRPr sz="1800" b="1">
                <a:solidFill>
                  <a:srgbClr val="243B2D"/>
                </a:solidFill>
                <a:latin typeface="Arial"/>
                <a:ea typeface="Arial"/>
                <a:cs typeface="Arial"/>
              </a:defRPr>
            </a:lvl3pPr>
            <a:lvl4pPr>
              <a:defRPr sz="1800" b="1">
                <a:solidFill>
                  <a:srgbClr val="243B2D"/>
                </a:solidFill>
                <a:latin typeface="Arial"/>
                <a:ea typeface="Arial"/>
                <a:cs typeface="Arial"/>
              </a:defRPr>
            </a:lvl4pPr>
            <a:lvl5pPr>
              <a:defRPr sz="1800" b="1">
                <a:solidFill>
                  <a:srgbClr val="243B2D"/>
                </a:solidFill>
                <a:latin typeface="Arial"/>
                <a:ea typeface="Arial"/>
                <a:cs typeface="Arial"/>
              </a:defRPr>
            </a:lvl5pPr>
            <a:lvl6pPr>
              <a:defRPr sz="1800" b="1">
                <a:solidFill>
                  <a:srgbClr val="243B2D"/>
                </a:solidFill>
                <a:latin typeface="Arial"/>
                <a:ea typeface="Arial"/>
                <a:cs typeface="Arial"/>
              </a:defRPr>
            </a:lvl6pPr>
            <a:lvl7pPr>
              <a:defRPr sz="1800" b="1">
                <a:solidFill>
                  <a:srgbClr val="243B2D"/>
                </a:solidFill>
                <a:latin typeface="Arial"/>
                <a:ea typeface="Arial"/>
                <a:cs typeface="Arial"/>
              </a:defRPr>
            </a:lvl7pPr>
            <a:lvl8pPr>
              <a:defRPr sz="1800" b="1">
                <a:solidFill>
                  <a:srgbClr val="243B2D"/>
                </a:solidFill>
                <a:latin typeface="Arial"/>
                <a:ea typeface="Arial"/>
                <a:cs typeface="Arial"/>
              </a:defRPr>
            </a:lvl8pPr>
            <a:lvl9pPr>
              <a:defRPr sz="1800" b="1">
                <a:solidFill>
                  <a:srgbClr val="243B2D"/>
                </a:solidFill>
                <a:latin typeface="Arial"/>
                <a:ea typeface="Arial"/>
                <a:cs typeface="Arial"/>
              </a:defRPr>
            </a:lvl9pPr>
          </a:lstStyle>
          <a:p xmlns:a="http://schemas.openxmlformats.org/drawingml/2006/main">
            <a:pPr>
              <a:defRPr sz="1800" b="1">
                <a:solidFill>
                  <a:srgbClr val="243B2D"/>
                </a:solidFill>
                <a:latin typeface="Arial"/>
                <a:ea typeface="Arial"/>
                <a:cs typeface="Arial"/>
              </a:defRPr>
            </a:pPr>
            <a:r>
              <a:rPr sz="1800" b="1">
                <a:solidFill>
                  <a:srgbClr val="243B2D"/>
                </a:solidFill>
                <a:latin typeface="Arial"/>
                <a:ea typeface="Arial"/>
                <a:cs typeface="Arial"/>
              </a:rPr>
              <a:t>Responsive layouts</a:t>
            </a:r>
          </a:p>
        </p:txBody>
      </p:sp>
      <p:sp>
        <p:nvSpPr>
          <p:cNvPr id="12" name="text">
            <a:extLst xmlns:a="http://schemas.openxmlformats.org/drawingml/2006/main">
              <a:ext uri="{FF2B5EF4-FFF2-40B4-BE49-F238E27FC236}">
                <a16:creationId xmlns:a16="http://schemas.microsoft.com/office/drawing/2014/main" id="{5ACBD790-F159-4D5E-8424-EE8BA2BD2C33}"/>
              </a:ext>
            </a:extLst>
          </p:cNvPr>
          <p:cNvSpPr>
            <a:spLocks xmlns:a="http://schemas.openxmlformats.org/drawingml/2006/main" noGrp="1"/>
          </p:cNvSpPr>
          <p:nvPr/>
        </p:nvSpPr>
        <p:spPr>
          <a:xfrm xmlns:a="http://schemas.openxmlformats.org/drawingml/2006/main">
            <a:off x="8096250" y="4286250"/>
            <a:ext cx="3476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60735E"/>
                </a:solidFill>
                <a:latin typeface="Arial"/>
                <a:ea typeface="Arial"/>
                <a:cs typeface="Arial"/>
              </a:defRPr>
            </a:defPPr>
            <a:lvl1pPr>
              <a:defRPr sz="1575" b="0">
                <a:solidFill>
                  <a:srgbClr val="60735E"/>
                </a:solidFill>
                <a:latin typeface="Arial"/>
                <a:ea typeface="Arial"/>
                <a:cs typeface="Arial"/>
              </a:defRPr>
            </a:lvl1pPr>
            <a:lvl2pPr>
              <a:defRPr sz="1575" b="0">
                <a:solidFill>
                  <a:srgbClr val="60735E"/>
                </a:solidFill>
                <a:latin typeface="Arial"/>
                <a:ea typeface="Arial"/>
                <a:cs typeface="Arial"/>
              </a:defRPr>
            </a:lvl2pPr>
            <a:lvl3pPr>
              <a:defRPr sz="1575" b="0">
                <a:solidFill>
                  <a:srgbClr val="60735E"/>
                </a:solidFill>
                <a:latin typeface="Arial"/>
                <a:ea typeface="Arial"/>
                <a:cs typeface="Arial"/>
              </a:defRPr>
            </a:lvl3pPr>
            <a:lvl4pPr>
              <a:defRPr sz="1575" b="0">
                <a:solidFill>
                  <a:srgbClr val="60735E"/>
                </a:solidFill>
                <a:latin typeface="Arial"/>
                <a:ea typeface="Arial"/>
                <a:cs typeface="Arial"/>
              </a:defRPr>
            </a:lvl4pPr>
            <a:lvl5pPr>
              <a:defRPr sz="1575" b="0">
                <a:solidFill>
                  <a:srgbClr val="60735E"/>
                </a:solidFill>
                <a:latin typeface="Arial"/>
                <a:ea typeface="Arial"/>
                <a:cs typeface="Arial"/>
              </a:defRPr>
            </a:lvl5pPr>
            <a:lvl6pPr>
              <a:defRPr sz="1575" b="0">
                <a:solidFill>
                  <a:srgbClr val="60735E"/>
                </a:solidFill>
                <a:latin typeface="Arial"/>
                <a:ea typeface="Arial"/>
                <a:cs typeface="Arial"/>
              </a:defRPr>
            </a:lvl6pPr>
            <a:lvl7pPr>
              <a:defRPr sz="1575" b="0">
                <a:solidFill>
                  <a:srgbClr val="60735E"/>
                </a:solidFill>
                <a:latin typeface="Arial"/>
                <a:ea typeface="Arial"/>
                <a:cs typeface="Arial"/>
              </a:defRPr>
            </a:lvl7pPr>
            <a:lvl8pPr>
              <a:defRPr sz="1575" b="0">
                <a:solidFill>
                  <a:srgbClr val="60735E"/>
                </a:solidFill>
                <a:latin typeface="Arial"/>
                <a:ea typeface="Arial"/>
                <a:cs typeface="Arial"/>
              </a:defRPr>
            </a:lvl8pPr>
            <a:lvl9pPr>
              <a:defRPr sz="1575" b="0">
                <a:solidFill>
                  <a:srgbClr val="60735E"/>
                </a:solidFill>
                <a:latin typeface="Arial"/>
                <a:ea typeface="Arial"/>
                <a:cs typeface="Arial"/>
              </a:defRPr>
            </a:lvl9pPr>
          </a:lstStyle>
          <a:p xmlns:a="http://schemas.openxmlformats.org/drawingml/2006/main">
            <a:pPr>
              <a:defRPr sz="1575" b="0">
                <a:solidFill>
                  <a:srgbClr val="60735E"/>
                </a:solidFill>
                <a:latin typeface="Arial"/>
                <a:ea typeface="Arial"/>
                <a:cs typeface="Arial"/>
              </a:defRPr>
            </a:pPr>
            <a:r>
              <a:rPr sz="1575" b="0">
                <a:solidFill>
                  <a:srgbClr val="60735E"/>
                </a:solidFill>
                <a:latin typeface="Arial"/>
                <a:ea typeface="Arial"/>
                <a:cs typeface="Arial"/>
              </a:rPr>
              <a:t>Desktop and phone-sized screens</a:t>
            </a:r>
          </a:p>
        </p:txBody>
      </p:sp>
      <p:sp>
        <p:nvSpPr>
          <p:cNvPr id="13" name="text">
            <a:extLst xmlns:a="http://schemas.openxmlformats.org/drawingml/2006/main">
              <a:ext uri="{FF2B5EF4-FFF2-40B4-BE49-F238E27FC236}">
                <a16:creationId xmlns:a16="http://schemas.microsoft.com/office/drawing/2014/main" id="{B78EDB9C-1D87-4944-BFE3-EF0F2BB01E1C}"/>
              </a:ext>
            </a:extLst>
          </p:cNvPr>
          <p:cNvSpPr>
            <a:spLocks xmlns:a="http://schemas.openxmlformats.org/drawingml/2006/main" noGrp="1"/>
          </p:cNvSpPr>
          <p:nvPr/>
        </p:nvSpPr>
        <p:spPr>
          <a:xfrm xmlns:a="http://schemas.openxmlformats.org/drawingml/2006/main">
            <a:off x="8096250" y="4953000"/>
            <a:ext cx="3476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243B2D"/>
                </a:solidFill>
                <a:latin typeface="Arial"/>
                <a:ea typeface="Arial"/>
                <a:cs typeface="Arial"/>
              </a:defRPr>
            </a:defPPr>
            <a:lvl1pPr>
              <a:defRPr sz="1800" b="1">
                <a:solidFill>
                  <a:srgbClr val="243B2D"/>
                </a:solidFill>
                <a:latin typeface="Arial"/>
                <a:ea typeface="Arial"/>
                <a:cs typeface="Arial"/>
              </a:defRPr>
            </a:lvl1pPr>
            <a:lvl2pPr>
              <a:defRPr sz="1800" b="1">
                <a:solidFill>
                  <a:srgbClr val="243B2D"/>
                </a:solidFill>
                <a:latin typeface="Arial"/>
                <a:ea typeface="Arial"/>
                <a:cs typeface="Arial"/>
              </a:defRPr>
            </a:lvl2pPr>
            <a:lvl3pPr>
              <a:defRPr sz="1800" b="1">
                <a:solidFill>
                  <a:srgbClr val="243B2D"/>
                </a:solidFill>
                <a:latin typeface="Arial"/>
                <a:ea typeface="Arial"/>
                <a:cs typeface="Arial"/>
              </a:defRPr>
            </a:lvl3pPr>
            <a:lvl4pPr>
              <a:defRPr sz="1800" b="1">
                <a:solidFill>
                  <a:srgbClr val="243B2D"/>
                </a:solidFill>
                <a:latin typeface="Arial"/>
                <a:ea typeface="Arial"/>
                <a:cs typeface="Arial"/>
              </a:defRPr>
            </a:lvl4pPr>
            <a:lvl5pPr>
              <a:defRPr sz="1800" b="1">
                <a:solidFill>
                  <a:srgbClr val="243B2D"/>
                </a:solidFill>
                <a:latin typeface="Arial"/>
                <a:ea typeface="Arial"/>
                <a:cs typeface="Arial"/>
              </a:defRPr>
            </a:lvl5pPr>
            <a:lvl6pPr>
              <a:defRPr sz="1800" b="1">
                <a:solidFill>
                  <a:srgbClr val="243B2D"/>
                </a:solidFill>
                <a:latin typeface="Arial"/>
                <a:ea typeface="Arial"/>
                <a:cs typeface="Arial"/>
              </a:defRPr>
            </a:lvl6pPr>
            <a:lvl7pPr>
              <a:defRPr sz="1800" b="1">
                <a:solidFill>
                  <a:srgbClr val="243B2D"/>
                </a:solidFill>
                <a:latin typeface="Arial"/>
                <a:ea typeface="Arial"/>
                <a:cs typeface="Arial"/>
              </a:defRPr>
            </a:lvl7pPr>
            <a:lvl8pPr>
              <a:defRPr sz="1800" b="1">
                <a:solidFill>
                  <a:srgbClr val="243B2D"/>
                </a:solidFill>
                <a:latin typeface="Arial"/>
                <a:ea typeface="Arial"/>
                <a:cs typeface="Arial"/>
              </a:defRPr>
            </a:lvl8pPr>
            <a:lvl9pPr>
              <a:defRPr sz="1800" b="1">
                <a:solidFill>
                  <a:srgbClr val="243B2D"/>
                </a:solidFill>
                <a:latin typeface="Arial"/>
                <a:ea typeface="Arial"/>
                <a:cs typeface="Arial"/>
              </a:defRPr>
            </a:lvl9pPr>
          </a:lstStyle>
          <a:p xmlns:a="http://schemas.openxmlformats.org/drawingml/2006/main">
            <a:pPr>
              <a:defRPr sz="1800" b="1">
                <a:solidFill>
                  <a:srgbClr val="243B2D"/>
                </a:solidFill>
                <a:latin typeface="Arial"/>
                <a:ea typeface="Arial"/>
                <a:cs typeface="Arial"/>
              </a:defRPr>
            </a:pPr>
            <a:r>
              <a:rPr sz="1800" b="1">
                <a:solidFill>
                  <a:srgbClr val="243B2D"/>
                </a:solidFill>
                <a:latin typeface="Arial"/>
                <a:ea typeface="Arial"/>
                <a:cs typeface="Arial"/>
              </a:rPr>
              <a:t>Reports and administration</a:t>
            </a:r>
          </a:p>
        </p:txBody>
      </p:sp>
      <p:sp>
        <p:nvSpPr>
          <p:cNvPr id="14" name="text">
            <a:extLst xmlns:a="http://schemas.openxmlformats.org/drawingml/2006/main">
              <a:ext uri="{FF2B5EF4-FFF2-40B4-BE49-F238E27FC236}">
                <a16:creationId xmlns:a16="http://schemas.microsoft.com/office/drawing/2014/main" id="{6A3EEDEE-59E8-4439-A462-E1A2B8FC98B8}"/>
              </a:ext>
            </a:extLst>
          </p:cNvPr>
          <p:cNvSpPr>
            <a:spLocks xmlns:a="http://schemas.openxmlformats.org/drawingml/2006/main" noGrp="1"/>
          </p:cNvSpPr>
          <p:nvPr/>
        </p:nvSpPr>
        <p:spPr>
          <a:xfrm xmlns:a="http://schemas.openxmlformats.org/drawingml/2006/main">
            <a:off x="8096250" y="5334000"/>
            <a:ext cx="3476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60735E"/>
                </a:solidFill>
                <a:latin typeface="Arial"/>
                <a:ea typeface="Arial"/>
                <a:cs typeface="Arial"/>
              </a:defRPr>
            </a:defPPr>
            <a:lvl1pPr>
              <a:defRPr sz="1575" b="0">
                <a:solidFill>
                  <a:srgbClr val="60735E"/>
                </a:solidFill>
                <a:latin typeface="Arial"/>
                <a:ea typeface="Arial"/>
                <a:cs typeface="Arial"/>
              </a:defRPr>
            </a:lvl1pPr>
            <a:lvl2pPr>
              <a:defRPr sz="1575" b="0">
                <a:solidFill>
                  <a:srgbClr val="60735E"/>
                </a:solidFill>
                <a:latin typeface="Arial"/>
                <a:ea typeface="Arial"/>
                <a:cs typeface="Arial"/>
              </a:defRPr>
            </a:lvl2pPr>
            <a:lvl3pPr>
              <a:defRPr sz="1575" b="0">
                <a:solidFill>
                  <a:srgbClr val="60735E"/>
                </a:solidFill>
                <a:latin typeface="Arial"/>
                <a:ea typeface="Arial"/>
                <a:cs typeface="Arial"/>
              </a:defRPr>
            </a:lvl3pPr>
            <a:lvl4pPr>
              <a:defRPr sz="1575" b="0">
                <a:solidFill>
                  <a:srgbClr val="60735E"/>
                </a:solidFill>
                <a:latin typeface="Arial"/>
                <a:ea typeface="Arial"/>
                <a:cs typeface="Arial"/>
              </a:defRPr>
            </a:lvl4pPr>
            <a:lvl5pPr>
              <a:defRPr sz="1575" b="0">
                <a:solidFill>
                  <a:srgbClr val="60735E"/>
                </a:solidFill>
                <a:latin typeface="Arial"/>
                <a:ea typeface="Arial"/>
                <a:cs typeface="Arial"/>
              </a:defRPr>
            </a:lvl5pPr>
            <a:lvl6pPr>
              <a:defRPr sz="1575" b="0">
                <a:solidFill>
                  <a:srgbClr val="60735E"/>
                </a:solidFill>
                <a:latin typeface="Arial"/>
                <a:ea typeface="Arial"/>
                <a:cs typeface="Arial"/>
              </a:defRPr>
            </a:lvl6pPr>
            <a:lvl7pPr>
              <a:defRPr sz="1575" b="0">
                <a:solidFill>
                  <a:srgbClr val="60735E"/>
                </a:solidFill>
                <a:latin typeface="Arial"/>
                <a:ea typeface="Arial"/>
                <a:cs typeface="Arial"/>
              </a:defRPr>
            </a:lvl7pPr>
            <a:lvl8pPr>
              <a:defRPr sz="1575" b="0">
                <a:solidFill>
                  <a:srgbClr val="60735E"/>
                </a:solidFill>
                <a:latin typeface="Arial"/>
                <a:ea typeface="Arial"/>
                <a:cs typeface="Arial"/>
              </a:defRPr>
            </a:lvl8pPr>
            <a:lvl9pPr>
              <a:defRPr sz="1575" b="0">
                <a:solidFill>
                  <a:srgbClr val="60735E"/>
                </a:solidFill>
                <a:latin typeface="Arial"/>
                <a:ea typeface="Arial"/>
                <a:cs typeface="Arial"/>
              </a:defRPr>
            </a:lvl9pPr>
          </a:lstStyle>
          <a:p xmlns:a="http://schemas.openxmlformats.org/drawingml/2006/main">
            <a:pPr>
              <a:defRPr sz="1575" b="0">
                <a:solidFill>
                  <a:srgbClr val="60735E"/>
                </a:solidFill>
                <a:latin typeface="Arial"/>
                <a:ea typeface="Arial"/>
                <a:cs typeface="Arial"/>
              </a:defRPr>
            </a:pPr>
            <a:r>
              <a:rPr sz="1575" b="0">
                <a:solidFill>
                  <a:srgbClr val="60735E"/>
                </a:solidFill>
                <a:latin typeface="Arial"/>
                <a:ea typeface="Arial"/>
                <a:cs typeface="Arial"/>
              </a:rPr>
              <a:t>Workloads, service targets and campus records</a:t>
            </a:r>
          </a:p>
        </p:txBody>
      </p:sp>
    </p:spTree>
    <p:extLst>
      <p:ext uri="{BB962C8B-B14F-4D97-AF65-F5344CB8AC3E}">
        <p14:creationId xmlns:p14="http://schemas.microsoft.com/office/powerpoint/2010/main" val="182039947"/>
      </p:ext>
    </p:extLst>
  </p:cSld>
</p:sld>
</file>

<file path=ppt/slides/slide30.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C340D26C-6784-481C-819B-A1D274B960C0}"/>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Business Logic Implementation</a:t>
            </a:r>
          </a:p>
        </p:txBody>
      </p:sp>
      <p:sp>
        <p:nvSpPr>
          <p:cNvPr id="3" name="slide-subtitle">
            <a:extLst xmlns:a="http://schemas.openxmlformats.org/drawingml/2006/main">
              <a:ext uri="{FF2B5EF4-FFF2-40B4-BE49-F238E27FC236}">
                <a16:creationId xmlns:a16="http://schemas.microsoft.com/office/drawing/2014/main" id="{38EF644B-CC53-4151-8485-1DC68C43DF25}"/>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Complaint workflow and authorized state transitions</a:t>
            </a:r>
          </a:p>
        </p:txBody>
      </p:sp>
      <p:sp>
        <p:nvSpPr>
          <p:cNvPr id="4" name="footer">
            <a:extLst xmlns:a="http://schemas.openxmlformats.org/drawingml/2006/main">
              <a:ext uri="{FF2B5EF4-FFF2-40B4-BE49-F238E27FC236}">
                <a16:creationId xmlns:a16="http://schemas.microsoft.com/office/drawing/2014/main" id="{14C467A2-86DB-49F0-884A-3E78210EAAB8}"/>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D18E4AE5-914D-4D63-84AE-5618A30BD36E}"/>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30 / 36</a:t>
            </a:r>
          </a:p>
        </p:txBody>
      </p:sp>
      <p:sp>
        <p:nvSpPr>
          <p:cNvPr id="6" name="entity-OPEN">
            <a:extLst xmlns:a="http://schemas.openxmlformats.org/drawingml/2006/main">
              <a:ext uri="{FF2B5EF4-FFF2-40B4-BE49-F238E27FC236}">
                <a16:creationId xmlns:a16="http://schemas.microsoft.com/office/drawing/2014/main" id="{FAA8873B-0B64-48A8-BE4A-E9F8CFAB4371}"/>
              </a:ext>
            </a:extLst>
          </p:cNvPr>
          <p:cNvSpPr>
            <a:spLocks xmlns:a="http://schemas.openxmlformats.org/drawingml/2006/main" noGrp="1"/>
          </p:cNvSpPr>
          <p:nvPr/>
        </p:nvSpPr>
        <p:spPr>
          <a:xfrm xmlns:a="http://schemas.openxmlformats.org/drawingml/2006/main">
            <a:off x="609600" y="2266950"/>
            <a:ext cx="2047875"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7" name="entity-name-OPEN">
            <a:extLst xmlns:a="http://schemas.openxmlformats.org/drawingml/2006/main">
              <a:ext uri="{FF2B5EF4-FFF2-40B4-BE49-F238E27FC236}">
                <a16:creationId xmlns:a16="http://schemas.microsoft.com/office/drawing/2014/main" id="{8A774824-00B4-4F95-BB8A-98CEF38306C8}"/>
              </a:ext>
            </a:extLst>
          </p:cNvPr>
          <p:cNvSpPr>
            <a:spLocks xmlns:a="http://schemas.openxmlformats.org/drawingml/2006/main" noGrp="1"/>
          </p:cNvSpPr>
          <p:nvPr/>
        </p:nvSpPr>
        <p:spPr>
          <a:xfrm xmlns:a="http://schemas.openxmlformats.org/drawingml/2006/main">
            <a:off x="733425" y="2362200"/>
            <a:ext cx="1800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OPEN</a:t>
            </a:r>
          </a:p>
        </p:txBody>
      </p:sp>
      <p:sp>
        <p:nvSpPr>
          <p:cNvPr id="8" name="entity-fields-OPEN">
            <a:extLst xmlns:a="http://schemas.openxmlformats.org/drawingml/2006/main">
              <a:ext uri="{FF2B5EF4-FFF2-40B4-BE49-F238E27FC236}">
                <a16:creationId xmlns:a16="http://schemas.microsoft.com/office/drawing/2014/main" id="{362DE029-9305-4ABE-95FF-E595F78D219B}"/>
              </a:ext>
            </a:extLst>
          </p:cNvPr>
          <p:cNvSpPr>
            <a:spLocks xmlns:a="http://schemas.openxmlformats.org/drawingml/2006/main" noGrp="1"/>
          </p:cNvSpPr>
          <p:nvPr/>
        </p:nvSpPr>
        <p:spPr>
          <a:xfrm xmlns:a="http://schemas.openxmlformats.org/drawingml/2006/main">
            <a:off x="733425" y="2724150"/>
            <a:ext cx="1800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Student submits</a:t>
            </a:r>
          </a:p>
        </p:txBody>
      </p:sp>
      <p:sp>
        <p:nvSpPr>
          <p:cNvPr id="9" name="entity-ASSIGNED">
            <a:extLst xmlns:a="http://schemas.openxmlformats.org/drawingml/2006/main">
              <a:ext uri="{FF2B5EF4-FFF2-40B4-BE49-F238E27FC236}">
                <a16:creationId xmlns:a16="http://schemas.microsoft.com/office/drawing/2014/main" id="{E4BF363D-B424-4C39-93CA-AB53DDA6ACD0}"/>
              </a:ext>
            </a:extLst>
          </p:cNvPr>
          <p:cNvSpPr>
            <a:spLocks xmlns:a="http://schemas.openxmlformats.org/drawingml/2006/main" noGrp="1"/>
          </p:cNvSpPr>
          <p:nvPr/>
        </p:nvSpPr>
        <p:spPr>
          <a:xfrm xmlns:a="http://schemas.openxmlformats.org/drawingml/2006/main">
            <a:off x="2943225" y="2266950"/>
            <a:ext cx="2047875"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0" name="entity-name-ASSIGNED">
            <a:extLst xmlns:a="http://schemas.openxmlformats.org/drawingml/2006/main">
              <a:ext uri="{FF2B5EF4-FFF2-40B4-BE49-F238E27FC236}">
                <a16:creationId xmlns:a16="http://schemas.microsoft.com/office/drawing/2014/main" id="{ABC26BB4-2F48-4B2B-9ABA-0B4D8A4D1A9C}"/>
              </a:ext>
            </a:extLst>
          </p:cNvPr>
          <p:cNvSpPr>
            <a:spLocks xmlns:a="http://schemas.openxmlformats.org/drawingml/2006/main" noGrp="1"/>
          </p:cNvSpPr>
          <p:nvPr/>
        </p:nvSpPr>
        <p:spPr>
          <a:xfrm xmlns:a="http://schemas.openxmlformats.org/drawingml/2006/main">
            <a:off x="3067050" y="2362200"/>
            <a:ext cx="1800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ASSIGNED</a:t>
            </a:r>
          </a:p>
        </p:txBody>
      </p:sp>
      <p:sp>
        <p:nvSpPr>
          <p:cNvPr id="11" name="entity-fields-ASSIGNED">
            <a:extLst xmlns:a="http://schemas.openxmlformats.org/drawingml/2006/main">
              <a:ext uri="{FF2B5EF4-FFF2-40B4-BE49-F238E27FC236}">
                <a16:creationId xmlns:a16="http://schemas.microsoft.com/office/drawing/2014/main" id="{0EB27B89-CBA7-42BD-8CEC-6BC27848F7C6}"/>
              </a:ext>
            </a:extLst>
          </p:cNvPr>
          <p:cNvSpPr>
            <a:spLocks xmlns:a="http://schemas.openxmlformats.org/drawingml/2006/main" noGrp="1"/>
          </p:cNvSpPr>
          <p:nvPr/>
        </p:nvSpPr>
        <p:spPr>
          <a:xfrm xmlns:a="http://schemas.openxmlformats.org/drawingml/2006/main">
            <a:off x="3067050" y="2724150"/>
            <a:ext cx="1800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Warden assigns</a:t>
            </a:r>
          </a:p>
        </p:txBody>
      </p:sp>
      <p:sp>
        <p:nvSpPr>
          <p:cNvPr id="12" name="entity-IN_PROGRESS">
            <a:extLst xmlns:a="http://schemas.openxmlformats.org/drawingml/2006/main">
              <a:ext uri="{FF2B5EF4-FFF2-40B4-BE49-F238E27FC236}">
                <a16:creationId xmlns:a16="http://schemas.microsoft.com/office/drawing/2014/main" id="{6AF1C1BF-0821-4DC8-A9A7-FB1826E976B1}"/>
              </a:ext>
            </a:extLst>
          </p:cNvPr>
          <p:cNvSpPr>
            <a:spLocks xmlns:a="http://schemas.openxmlformats.org/drawingml/2006/main" noGrp="1"/>
          </p:cNvSpPr>
          <p:nvPr/>
        </p:nvSpPr>
        <p:spPr>
          <a:xfrm xmlns:a="http://schemas.openxmlformats.org/drawingml/2006/main">
            <a:off x="5276850" y="2266950"/>
            <a:ext cx="2047875"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3" name="entity-name-IN_PROGRESS">
            <a:extLst xmlns:a="http://schemas.openxmlformats.org/drawingml/2006/main">
              <a:ext uri="{FF2B5EF4-FFF2-40B4-BE49-F238E27FC236}">
                <a16:creationId xmlns:a16="http://schemas.microsoft.com/office/drawing/2014/main" id="{A6EC203B-299B-4A27-84F9-3A567F8FBC88}"/>
              </a:ext>
            </a:extLst>
          </p:cNvPr>
          <p:cNvSpPr>
            <a:spLocks xmlns:a="http://schemas.openxmlformats.org/drawingml/2006/main" noGrp="1"/>
          </p:cNvSpPr>
          <p:nvPr/>
        </p:nvSpPr>
        <p:spPr>
          <a:xfrm xmlns:a="http://schemas.openxmlformats.org/drawingml/2006/main">
            <a:off x="5400675" y="2362200"/>
            <a:ext cx="1800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IN_PROGRESS</a:t>
            </a:r>
          </a:p>
        </p:txBody>
      </p:sp>
      <p:sp>
        <p:nvSpPr>
          <p:cNvPr id="14" name="entity-fields-IN_PROGRESS">
            <a:extLst xmlns:a="http://schemas.openxmlformats.org/drawingml/2006/main">
              <a:ext uri="{FF2B5EF4-FFF2-40B4-BE49-F238E27FC236}">
                <a16:creationId xmlns:a16="http://schemas.microsoft.com/office/drawing/2014/main" id="{13A40FE2-6E52-492B-82D7-2C86D0FBBF34}"/>
              </a:ext>
            </a:extLst>
          </p:cNvPr>
          <p:cNvSpPr>
            <a:spLocks xmlns:a="http://schemas.openxmlformats.org/drawingml/2006/main" noGrp="1"/>
          </p:cNvSpPr>
          <p:nvPr/>
        </p:nvSpPr>
        <p:spPr>
          <a:xfrm xmlns:a="http://schemas.openxmlformats.org/drawingml/2006/main">
            <a:off x="5400675" y="2724150"/>
            <a:ext cx="1800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Assigned staff starts</a:t>
            </a:r>
          </a:p>
        </p:txBody>
      </p:sp>
      <p:sp>
        <p:nvSpPr>
          <p:cNvPr id="15" name="entity-RESOLVED">
            <a:extLst xmlns:a="http://schemas.openxmlformats.org/drawingml/2006/main">
              <a:ext uri="{FF2B5EF4-FFF2-40B4-BE49-F238E27FC236}">
                <a16:creationId xmlns:a16="http://schemas.microsoft.com/office/drawing/2014/main" id="{851816B6-3A6E-4BFA-A003-5CA439B45221}"/>
              </a:ext>
            </a:extLst>
          </p:cNvPr>
          <p:cNvSpPr>
            <a:spLocks xmlns:a="http://schemas.openxmlformats.org/drawingml/2006/main" noGrp="1"/>
          </p:cNvSpPr>
          <p:nvPr/>
        </p:nvSpPr>
        <p:spPr>
          <a:xfrm xmlns:a="http://schemas.openxmlformats.org/drawingml/2006/main">
            <a:off x="7610475" y="2266950"/>
            <a:ext cx="2047875"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6" name="entity-name-RESOLVED">
            <a:extLst xmlns:a="http://schemas.openxmlformats.org/drawingml/2006/main">
              <a:ext uri="{FF2B5EF4-FFF2-40B4-BE49-F238E27FC236}">
                <a16:creationId xmlns:a16="http://schemas.microsoft.com/office/drawing/2014/main" id="{B1ADC5E5-53BB-4748-9CFD-D6C5B7EF35AE}"/>
              </a:ext>
            </a:extLst>
          </p:cNvPr>
          <p:cNvSpPr>
            <a:spLocks xmlns:a="http://schemas.openxmlformats.org/drawingml/2006/main" noGrp="1"/>
          </p:cNvSpPr>
          <p:nvPr/>
        </p:nvSpPr>
        <p:spPr>
          <a:xfrm xmlns:a="http://schemas.openxmlformats.org/drawingml/2006/main">
            <a:off x="7734300" y="2362200"/>
            <a:ext cx="1800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RESOLVED</a:t>
            </a:r>
          </a:p>
        </p:txBody>
      </p:sp>
      <p:sp>
        <p:nvSpPr>
          <p:cNvPr id="17" name="entity-fields-RESOLVED">
            <a:extLst xmlns:a="http://schemas.openxmlformats.org/drawingml/2006/main">
              <a:ext uri="{FF2B5EF4-FFF2-40B4-BE49-F238E27FC236}">
                <a16:creationId xmlns:a16="http://schemas.microsoft.com/office/drawing/2014/main" id="{D959E4FE-1A05-4EFE-84EC-B4E453272775}"/>
              </a:ext>
            </a:extLst>
          </p:cNvPr>
          <p:cNvSpPr>
            <a:spLocks xmlns:a="http://schemas.openxmlformats.org/drawingml/2006/main" noGrp="1"/>
          </p:cNvSpPr>
          <p:nvPr/>
        </p:nvSpPr>
        <p:spPr>
          <a:xfrm xmlns:a="http://schemas.openxmlformats.org/drawingml/2006/main">
            <a:off x="7734300" y="2724150"/>
            <a:ext cx="1800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Staff completes</a:t>
            </a:r>
          </a:p>
        </p:txBody>
      </p:sp>
      <p:sp>
        <p:nvSpPr>
          <p:cNvPr id="18" name="entity-CLOSED">
            <a:extLst xmlns:a="http://schemas.openxmlformats.org/drawingml/2006/main">
              <a:ext uri="{FF2B5EF4-FFF2-40B4-BE49-F238E27FC236}">
                <a16:creationId xmlns:a16="http://schemas.microsoft.com/office/drawing/2014/main" id="{D15AF738-9896-4CB0-9983-00E58D2A2CF7}"/>
              </a:ext>
            </a:extLst>
          </p:cNvPr>
          <p:cNvSpPr>
            <a:spLocks xmlns:a="http://schemas.openxmlformats.org/drawingml/2006/main" noGrp="1"/>
          </p:cNvSpPr>
          <p:nvPr/>
        </p:nvSpPr>
        <p:spPr>
          <a:xfrm xmlns:a="http://schemas.openxmlformats.org/drawingml/2006/main">
            <a:off x="9944100" y="2266950"/>
            <a:ext cx="2047875"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9" name="entity-name-CLOSED">
            <a:extLst xmlns:a="http://schemas.openxmlformats.org/drawingml/2006/main">
              <a:ext uri="{FF2B5EF4-FFF2-40B4-BE49-F238E27FC236}">
                <a16:creationId xmlns:a16="http://schemas.microsoft.com/office/drawing/2014/main" id="{F658EFC0-4AFC-4C2C-BF64-8C21BB68CAD5}"/>
              </a:ext>
            </a:extLst>
          </p:cNvPr>
          <p:cNvSpPr>
            <a:spLocks xmlns:a="http://schemas.openxmlformats.org/drawingml/2006/main" noGrp="1"/>
          </p:cNvSpPr>
          <p:nvPr/>
        </p:nvSpPr>
        <p:spPr>
          <a:xfrm xmlns:a="http://schemas.openxmlformats.org/drawingml/2006/main">
            <a:off x="10067925" y="2362200"/>
            <a:ext cx="1800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CLOSED</a:t>
            </a:r>
          </a:p>
        </p:txBody>
      </p:sp>
      <p:sp>
        <p:nvSpPr>
          <p:cNvPr id="20" name="entity-fields-CLOSED">
            <a:extLst xmlns:a="http://schemas.openxmlformats.org/drawingml/2006/main">
              <a:ext uri="{FF2B5EF4-FFF2-40B4-BE49-F238E27FC236}">
                <a16:creationId xmlns:a16="http://schemas.microsoft.com/office/drawing/2014/main" id="{87541D54-81D0-4551-BE53-7B208388EB89}"/>
              </a:ext>
            </a:extLst>
          </p:cNvPr>
          <p:cNvSpPr>
            <a:spLocks xmlns:a="http://schemas.openxmlformats.org/drawingml/2006/main" noGrp="1"/>
          </p:cNvSpPr>
          <p:nvPr/>
        </p:nvSpPr>
        <p:spPr>
          <a:xfrm xmlns:a="http://schemas.openxmlformats.org/drawingml/2006/main">
            <a:off x="10067925" y="2724150"/>
            <a:ext cx="1800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Student gives feedback</a:t>
            </a:r>
          </a:p>
        </p:txBody>
      </p:sp>
      <p:cxnSp>
        <p:nvCxnSpPr>
          <p:cNvPr id="21" name="">
            <a:extLst xmlns:a="http://schemas.openxmlformats.org/drawingml/2006/main">
              <a:ext uri="{FF2B5EF4-FFF2-40B4-BE49-F238E27FC236}">
                <a16:creationId xmlns:a16="http://schemas.microsoft.com/office/drawing/2014/main" id="{41A65A4F-CE07-4E14-B4BC-09D2263FBA17}"/>
              </a:ext>
            </a:extLst>
          </p:cNvPr>
          <p:cNvCxnSpPr/>
          <p:nvPr/>
        </p:nvCxnSpPr>
        <p:spPr>
          <a:xfrm xmlns:a="http://schemas.openxmlformats.org/drawingml/2006/main" flipH="0" flipV="0">
            <a:off x="2657475" y="2886075"/>
            <a:ext cx="285750" cy="0"/>
          </a:xfrm>
          <a:prstGeom xmlns:a="http://schemas.openxmlformats.org/drawingml/2006/main" prst="straightConnector1">
            <a:avLst/>
          </a:prstGeom>
          <a:ln xmlns:a="http://schemas.openxmlformats.org/drawingml/2006/main" w="19050">
            <a:solidFill>
              <a:srgbClr val="789272"/>
            </a:solidFill>
            <a:tailEnd type="arrow" w="med" len="med"/>
          </a:ln>
        </p:spPr>
      </p:cxnSp>
      <p:cxnSp>
        <p:nvCxnSpPr>
          <p:cNvPr id="22" name="">
            <a:extLst xmlns:a="http://schemas.openxmlformats.org/drawingml/2006/main">
              <a:ext uri="{FF2B5EF4-FFF2-40B4-BE49-F238E27FC236}">
                <a16:creationId xmlns:a16="http://schemas.microsoft.com/office/drawing/2014/main" id="{9B7F0D0C-6A06-40EA-BC96-605878D27D72}"/>
              </a:ext>
            </a:extLst>
          </p:cNvPr>
          <p:cNvCxnSpPr/>
          <p:nvPr/>
        </p:nvCxnSpPr>
        <p:spPr>
          <a:xfrm xmlns:a="http://schemas.openxmlformats.org/drawingml/2006/main" flipH="0" flipV="0">
            <a:off x="4991100" y="2886075"/>
            <a:ext cx="285750" cy="0"/>
          </a:xfrm>
          <a:prstGeom xmlns:a="http://schemas.openxmlformats.org/drawingml/2006/main" prst="straightConnector1">
            <a:avLst/>
          </a:prstGeom>
          <a:ln xmlns:a="http://schemas.openxmlformats.org/drawingml/2006/main" w="19050">
            <a:solidFill>
              <a:srgbClr val="789272"/>
            </a:solidFill>
            <a:tailEnd type="arrow" w="med" len="med"/>
          </a:ln>
        </p:spPr>
      </p:cxnSp>
      <p:cxnSp>
        <p:nvCxnSpPr>
          <p:cNvPr id="23" name="">
            <a:extLst xmlns:a="http://schemas.openxmlformats.org/drawingml/2006/main">
              <a:ext uri="{FF2B5EF4-FFF2-40B4-BE49-F238E27FC236}">
                <a16:creationId xmlns:a16="http://schemas.microsoft.com/office/drawing/2014/main" id="{3595EC7C-FBD6-4F31-AAB0-15B85D870655}"/>
              </a:ext>
            </a:extLst>
          </p:cNvPr>
          <p:cNvCxnSpPr/>
          <p:nvPr/>
        </p:nvCxnSpPr>
        <p:spPr>
          <a:xfrm xmlns:a="http://schemas.openxmlformats.org/drawingml/2006/main" flipH="0" flipV="0">
            <a:off x="7324725" y="2886075"/>
            <a:ext cx="285750" cy="0"/>
          </a:xfrm>
          <a:prstGeom xmlns:a="http://schemas.openxmlformats.org/drawingml/2006/main" prst="straightConnector1">
            <a:avLst/>
          </a:prstGeom>
          <a:ln xmlns:a="http://schemas.openxmlformats.org/drawingml/2006/main" w="19050">
            <a:solidFill>
              <a:srgbClr val="789272"/>
            </a:solidFill>
            <a:tailEnd type="arrow" w="med" len="med"/>
          </a:ln>
        </p:spPr>
      </p:cxnSp>
      <p:cxnSp>
        <p:nvCxnSpPr>
          <p:cNvPr id="24" name="">
            <a:extLst xmlns:a="http://schemas.openxmlformats.org/drawingml/2006/main">
              <a:ext uri="{FF2B5EF4-FFF2-40B4-BE49-F238E27FC236}">
                <a16:creationId xmlns:a16="http://schemas.microsoft.com/office/drawing/2014/main" id="{BBF8F6D7-21C5-45D9-951F-9C3C748D49B7}"/>
              </a:ext>
            </a:extLst>
          </p:cNvPr>
          <p:cNvCxnSpPr/>
          <p:nvPr/>
        </p:nvCxnSpPr>
        <p:spPr>
          <a:xfrm xmlns:a="http://schemas.openxmlformats.org/drawingml/2006/main" flipH="0" flipV="0">
            <a:off x="9658350" y="2886075"/>
            <a:ext cx="285750" cy="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25" name="entity-REJECTED">
            <a:extLst xmlns:a="http://schemas.openxmlformats.org/drawingml/2006/main">
              <a:ext uri="{FF2B5EF4-FFF2-40B4-BE49-F238E27FC236}">
                <a16:creationId xmlns:a16="http://schemas.microsoft.com/office/drawing/2014/main" id="{A69F9CF9-8C7A-46F1-9F3A-FDFC3A99978A}"/>
              </a:ext>
            </a:extLst>
          </p:cNvPr>
          <p:cNvSpPr>
            <a:spLocks xmlns:a="http://schemas.openxmlformats.org/drawingml/2006/main" noGrp="1"/>
          </p:cNvSpPr>
          <p:nvPr/>
        </p:nvSpPr>
        <p:spPr>
          <a:xfrm xmlns:a="http://schemas.openxmlformats.org/drawingml/2006/main">
            <a:off x="2943225" y="4953000"/>
            <a:ext cx="2381250" cy="95250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6" name="entity-name-REJECTED">
            <a:extLst xmlns:a="http://schemas.openxmlformats.org/drawingml/2006/main">
              <a:ext uri="{FF2B5EF4-FFF2-40B4-BE49-F238E27FC236}">
                <a16:creationId xmlns:a16="http://schemas.microsoft.com/office/drawing/2014/main" id="{E12A59DA-C644-4DDB-BAE3-135AD200EB0D}"/>
              </a:ext>
            </a:extLst>
          </p:cNvPr>
          <p:cNvSpPr>
            <a:spLocks xmlns:a="http://schemas.openxmlformats.org/drawingml/2006/main" noGrp="1"/>
          </p:cNvSpPr>
          <p:nvPr/>
        </p:nvSpPr>
        <p:spPr>
          <a:xfrm xmlns:a="http://schemas.openxmlformats.org/drawingml/2006/main">
            <a:off x="3067050" y="5048250"/>
            <a:ext cx="213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REJECTED</a:t>
            </a:r>
          </a:p>
        </p:txBody>
      </p:sp>
      <p:sp>
        <p:nvSpPr>
          <p:cNvPr id="27" name="entity-fields-REJECTED">
            <a:extLst xmlns:a="http://schemas.openxmlformats.org/drawingml/2006/main">
              <a:ext uri="{FF2B5EF4-FFF2-40B4-BE49-F238E27FC236}">
                <a16:creationId xmlns:a16="http://schemas.microsoft.com/office/drawing/2014/main" id="{61D2613F-85F2-41FE-AFC6-254C164DC9B6}"/>
              </a:ext>
            </a:extLst>
          </p:cNvPr>
          <p:cNvSpPr>
            <a:spLocks xmlns:a="http://schemas.openxmlformats.org/drawingml/2006/main" noGrp="1"/>
          </p:cNvSpPr>
          <p:nvPr/>
        </p:nvSpPr>
        <p:spPr>
          <a:xfrm xmlns:a="http://schemas.openxmlformats.org/drawingml/2006/main">
            <a:off x="3067050" y="5410200"/>
            <a:ext cx="2133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Warden/admin reason</a:t>
            </a:r>
          </a:p>
        </p:txBody>
      </p:sp>
      <p:cxnSp>
        <p:nvCxnSpPr>
          <p:cNvPr id="28" name="">
            <a:extLst xmlns:a="http://schemas.openxmlformats.org/drawingml/2006/main">
              <a:ext uri="{FF2B5EF4-FFF2-40B4-BE49-F238E27FC236}">
                <a16:creationId xmlns:a16="http://schemas.microsoft.com/office/drawing/2014/main" id="{E4762BD3-45AB-4B4E-A93E-18A065305FF1}"/>
              </a:ext>
            </a:extLst>
          </p:cNvPr>
          <p:cNvCxnSpPr/>
          <p:nvPr/>
        </p:nvCxnSpPr>
        <p:spPr>
          <a:xfrm xmlns:a="http://schemas.openxmlformats.org/drawingml/2006/main" flipH="1" flipV="0">
            <a:off x="333375" y="2886075"/>
            <a:ext cx="276225" cy="0"/>
          </a:xfrm>
          <a:prstGeom xmlns:a="http://schemas.openxmlformats.org/drawingml/2006/main" prst="straightConnector1">
            <a:avLst/>
          </a:prstGeom>
          <a:ln xmlns:a="http://schemas.openxmlformats.org/drawingml/2006/main" w="19050">
            <a:solidFill>
              <a:srgbClr val="789272"/>
            </a:solidFill>
          </a:ln>
        </p:spPr>
      </p:cxnSp>
      <p:cxnSp>
        <p:nvCxnSpPr>
          <p:cNvPr id="29" name="">
            <a:extLst xmlns:a="http://schemas.openxmlformats.org/drawingml/2006/main">
              <a:ext uri="{FF2B5EF4-FFF2-40B4-BE49-F238E27FC236}">
                <a16:creationId xmlns:a16="http://schemas.microsoft.com/office/drawing/2014/main" id="{980E044B-8260-4A92-AFBF-5721C19F2C1A}"/>
              </a:ext>
            </a:extLst>
          </p:cNvPr>
          <p:cNvCxnSpPr/>
          <p:nvPr/>
        </p:nvCxnSpPr>
        <p:spPr>
          <a:xfrm xmlns:a="http://schemas.openxmlformats.org/drawingml/2006/main" flipH="0" flipV="0">
            <a:off x="333375" y="2886075"/>
            <a:ext cx="0" cy="2543175"/>
          </a:xfrm>
          <a:prstGeom xmlns:a="http://schemas.openxmlformats.org/drawingml/2006/main" prst="straightConnector1">
            <a:avLst/>
          </a:prstGeom>
          <a:ln xmlns:a="http://schemas.openxmlformats.org/drawingml/2006/main" w="19050">
            <a:solidFill>
              <a:srgbClr val="789272"/>
            </a:solidFill>
          </a:ln>
        </p:spPr>
      </p:cxnSp>
      <p:cxnSp>
        <p:nvCxnSpPr>
          <p:cNvPr id="30" name="">
            <a:extLst xmlns:a="http://schemas.openxmlformats.org/drawingml/2006/main">
              <a:ext uri="{FF2B5EF4-FFF2-40B4-BE49-F238E27FC236}">
                <a16:creationId xmlns:a16="http://schemas.microsoft.com/office/drawing/2014/main" id="{865EC616-D101-458A-A3EE-221E218ABBA2}"/>
              </a:ext>
            </a:extLst>
          </p:cNvPr>
          <p:cNvCxnSpPr/>
          <p:nvPr/>
        </p:nvCxnSpPr>
        <p:spPr>
          <a:xfrm xmlns:a="http://schemas.openxmlformats.org/drawingml/2006/main" flipH="0" flipV="0">
            <a:off x="333375" y="5429250"/>
            <a:ext cx="2609850" cy="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31" name="text">
            <a:extLst xmlns:a="http://schemas.openxmlformats.org/drawingml/2006/main">
              <a:ext uri="{FF2B5EF4-FFF2-40B4-BE49-F238E27FC236}">
                <a16:creationId xmlns:a16="http://schemas.microsoft.com/office/drawing/2014/main" id="{040F73B3-83B8-434E-BB9E-D88ED9648545}"/>
              </a:ext>
            </a:extLst>
          </p:cNvPr>
          <p:cNvSpPr>
            <a:spLocks xmlns:a="http://schemas.openxmlformats.org/drawingml/2006/main" noGrp="1"/>
          </p:cNvSpPr>
          <p:nvPr/>
        </p:nvSpPr>
        <p:spPr>
          <a:xfrm xmlns:a="http://schemas.openxmlformats.org/drawingml/2006/main">
            <a:off x="733425" y="4257675"/>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60735E"/>
                </a:solidFill>
                <a:latin typeface="Arial"/>
                <a:ea typeface="Arial"/>
                <a:cs typeface="Arial"/>
              </a:defRPr>
            </a:defPPr>
            <a:lvl1pPr>
              <a:defRPr sz="1350" b="1">
                <a:solidFill>
                  <a:srgbClr val="60735E"/>
                </a:solidFill>
                <a:latin typeface="Arial"/>
                <a:ea typeface="Arial"/>
                <a:cs typeface="Arial"/>
              </a:defRPr>
            </a:lvl1pPr>
            <a:lvl2pPr>
              <a:defRPr sz="1350" b="1">
                <a:solidFill>
                  <a:srgbClr val="60735E"/>
                </a:solidFill>
                <a:latin typeface="Arial"/>
                <a:ea typeface="Arial"/>
                <a:cs typeface="Arial"/>
              </a:defRPr>
            </a:lvl2pPr>
            <a:lvl3pPr>
              <a:defRPr sz="1350" b="1">
                <a:solidFill>
                  <a:srgbClr val="60735E"/>
                </a:solidFill>
                <a:latin typeface="Arial"/>
                <a:ea typeface="Arial"/>
                <a:cs typeface="Arial"/>
              </a:defRPr>
            </a:lvl3pPr>
            <a:lvl4pPr>
              <a:defRPr sz="1350" b="1">
                <a:solidFill>
                  <a:srgbClr val="60735E"/>
                </a:solidFill>
                <a:latin typeface="Arial"/>
                <a:ea typeface="Arial"/>
                <a:cs typeface="Arial"/>
              </a:defRPr>
            </a:lvl4pPr>
            <a:lvl5pPr>
              <a:defRPr sz="1350" b="1">
                <a:solidFill>
                  <a:srgbClr val="60735E"/>
                </a:solidFill>
                <a:latin typeface="Arial"/>
                <a:ea typeface="Arial"/>
                <a:cs typeface="Arial"/>
              </a:defRPr>
            </a:lvl5pPr>
            <a:lvl6pPr>
              <a:defRPr sz="1350" b="1">
                <a:solidFill>
                  <a:srgbClr val="60735E"/>
                </a:solidFill>
                <a:latin typeface="Arial"/>
                <a:ea typeface="Arial"/>
                <a:cs typeface="Arial"/>
              </a:defRPr>
            </a:lvl6pPr>
            <a:lvl7pPr>
              <a:defRPr sz="1350" b="1">
                <a:solidFill>
                  <a:srgbClr val="60735E"/>
                </a:solidFill>
                <a:latin typeface="Arial"/>
                <a:ea typeface="Arial"/>
                <a:cs typeface="Arial"/>
              </a:defRPr>
            </a:lvl7pPr>
            <a:lvl8pPr>
              <a:defRPr sz="1350" b="1">
                <a:solidFill>
                  <a:srgbClr val="60735E"/>
                </a:solidFill>
                <a:latin typeface="Arial"/>
                <a:ea typeface="Arial"/>
                <a:cs typeface="Arial"/>
              </a:defRPr>
            </a:lvl8pPr>
            <a:lvl9pPr>
              <a:defRPr sz="1350" b="1">
                <a:solidFill>
                  <a:srgbClr val="60735E"/>
                </a:solidFill>
                <a:latin typeface="Arial"/>
                <a:ea typeface="Arial"/>
                <a:cs typeface="Arial"/>
              </a:defRPr>
            </a:lvl9pPr>
          </a:lstStyle>
          <a:p xmlns:a="http://schemas.openxmlformats.org/drawingml/2006/main">
            <a:pPr>
              <a:defRPr sz="1350" b="1">
                <a:solidFill>
                  <a:srgbClr val="60735E"/>
                </a:solidFill>
                <a:latin typeface="Arial"/>
                <a:ea typeface="Arial"/>
                <a:cs typeface="Arial"/>
              </a:defRPr>
            </a:pPr>
            <a:r>
              <a:rPr sz="1350" b="1">
                <a:solidFill>
                  <a:srgbClr val="60735E"/>
                </a:solidFill>
                <a:latin typeface="Arial"/>
                <a:ea typeface="Arial"/>
                <a:cs typeface="Arial"/>
              </a:rPr>
              <a:t>Reject</a:t>
            </a:r>
          </a:p>
        </p:txBody>
      </p:sp>
      <p:cxnSp>
        <p:nvCxnSpPr>
          <p:cNvPr id="32" name="">
            <a:extLst xmlns:a="http://schemas.openxmlformats.org/drawingml/2006/main">
              <a:ext uri="{FF2B5EF4-FFF2-40B4-BE49-F238E27FC236}">
                <a16:creationId xmlns:a16="http://schemas.microsoft.com/office/drawing/2014/main" id="{1CDF9DAC-9A73-4559-90C7-CFCC1BE858EA}"/>
              </a:ext>
            </a:extLst>
          </p:cNvPr>
          <p:cNvCxnSpPr/>
          <p:nvPr/>
        </p:nvCxnSpPr>
        <p:spPr>
          <a:xfrm xmlns:a="http://schemas.openxmlformats.org/drawingml/2006/main" flipH="0" flipV="0">
            <a:off x="3962400" y="3505200"/>
            <a:ext cx="0" cy="144780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33" name="text">
            <a:extLst xmlns:a="http://schemas.openxmlformats.org/drawingml/2006/main">
              <a:ext uri="{FF2B5EF4-FFF2-40B4-BE49-F238E27FC236}">
                <a16:creationId xmlns:a16="http://schemas.microsoft.com/office/drawing/2014/main" id="{3D0A0AE6-CEA2-4FED-A0BA-25F2ED9F5E21}"/>
              </a:ext>
            </a:extLst>
          </p:cNvPr>
          <p:cNvSpPr>
            <a:spLocks xmlns:a="http://schemas.openxmlformats.org/drawingml/2006/main" noGrp="1"/>
          </p:cNvSpPr>
          <p:nvPr/>
        </p:nvSpPr>
        <p:spPr>
          <a:xfrm xmlns:a="http://schemas.openxmlformats.org/drawingml/2006/main">
            <a:off x="4143375" y="447675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60735E"/>
                </a:solidFill>
                <a:latin typeface="Arial"/>
                <a:ea typeface="Arial"/>
                <a:cs typeface="Arial"/>
              </a:defRPr>
            </a:defPPr>
            <a:lvl1pPr>
              <a:defRPr sz="1350" b="1">
                <a:solidFill>
                  <a:srgbClr val="60735E"/>
                </a:solidFill>
                <a:latin typeface="Arial"/>
                <a:ea typeface="Arial"/>
                <a:cs typeface="Arial"/>
              </a:defRPr>
            </a:lvl1pPr>
            <a:lvl2pPr>
              <a:defRPr sz="1350" b="1">
                <a:solidFill>
                  <a:srgbClr val="60735E"/>
                </a:solidFill>
                <a:latin typeface="Arial"/>
                <a:ea typeface="Arial"/>
                <a:cs typeface="Arial"/>
              </a:defRPr>
            </a:lvl2pPr>
            <a:lvl3pPr>
              <a:defRPr sz="1350" b="1">
                <a:solidFill>
                  <a:srgbClr val="60735E"/>
                </a:solidFill>
                <a:latin typeface="Arial"/>
                <a:ea typeface="Arial"/>
                <a:cs typeface="Arial"/>
              </a:defRPr>
            </a:lvl3pPr>
            <a:lvl4pPr>
              <a:defRPr sz="1350" b="1">
                <a:solidFill>
                  <a:srgbClr val="60735E"/>
                </a:solidFill>
                <a:latin typeface="Arial"/>
                <a:ea typeface="Arial"/>
                <a:cs typeface="Arial"/>
              </a:defRPr>
            </a:lvl4pPr>
            <a:lvl5pPr>
              <a:defRPr sz="1350" b="1">
                <a:solidFill>
                  <a:srgbClr val="60735E"/>
                </a:solidFill>
                <a:latin typeface="Arial"/>
                <a:ea typeface="Arial"/>
                <a:cs typeface="Arial"/>
              </a:defRPr>
            </a:lvl5pPr>
            <a:lvl6pPr>
              <a:defRPr sz="1350" b="1">
                <a:solidFill>
                  <a:srgbClr val="60735E"/>
                </a:solidFill>
                <a:latin typeface="Arial"/>
                <a:ea typeface="Arial"/>
                <a:cs typeface="Arial"/>
              </a:defRPr>
            </a:lvl6pPr>
            <a:lvl7pPr>
              <a:defRPr sz="1350" b="1">
                <a:solidFill>
                  <a:srgbClr val="60735E"/>
                </a:solidFill>
                <a:latin typeface="Arial"/>
                <a:ea typeface="Arial"/>
                <a:cs typeface="Arial"/>
              </a:defRPr>
            </a:lvl7pPr>
            <a:lvl8pPr>
              <a:defRPr sz="1350" b="1">
                <a:solidFill>
                  <a:srgbClr val="60735E"/>
                </a:solidFill>
                <a:latin typeface="Arial"/>
                <a:ea typeface="Arial"/>
                <a:cs typeface="Arial"/>
              </a:defRPr>
            </a:lvl8pPr>
            <a:lvl9pPr>
              <a:defRPr sz="1350" b="1">
                <a:solidFill>
                  <a:srgbClr val="60735E"/>
                </a:solidFill>
                <a:latin typeface="Arial"/>
                <a:ea typeface="Arial"/>
                <a:cs typeface="Arial"/>
              </a:defRPr>
            </a:lvl9pPr>
          </a:lstStyle>
          <a:p xmlns:a="http://schemas.openxmlformats.org/drawingml/2006/main">
            <a:pPr>
              <a:defRPr sz="1350" b="1">
                <a:solidFill>
                  <a:srgbClr val="60735E"/>
                </a:solidFill>
                <a:latin typeface="Arial"/>
                <a:ea typeface="Arial"/>
                <a:cs typeface="Arial"/>
              </a:defRPr>
            </a:pPr>
            <a:r>
              <a:rPr sz="1350" b="1">
                <a:solidFill>
                  <a:srgbClr val="60735E"/>
                </a:solidFill>
                <a:latin typeface="Arial"/>
                <a:ea typeface="Arial"/>
                <a:cs typeface="Arial"/>
              </a:rPr>
              <a:t>Reject</a:t>
            </a:r>
          </a:p>
        </p:txBody>
      </p:sp>
      <p:cxnSp>
        <p:nvCxnSpPr>
          <p:cNvPr id="34" name="">
            <a:extLst xmlns:a="http://schemas.openxmlformats.org/drawingml/2006/main">
              <a:ext uri="{FF2B5EF4-FFF2-40B4-BE49-F238E27FC236}">
                <a16:creationId xmlns:a16="http://schemas.microsoft.com/office/drawing/2014/main" id="{255D0C6E-B1B0-4AE5-9BBA-EFC7E12A63A9}"/>
              </a:ext>
            </a:extLst>
          </p:cNvPr>
          <p:cNvCxnSpPr/>
          <p:nvPr/>
        </p:nvCxnSpPr>
        <p:spPr>
          <a:xfrm xmlns:a="http://schemas.openxmlformats.org/drawingml/2006/main" flipH="0" flipV="0">
            <a:off x="8629650" y="3505200"/>
            <a:ext cx="0" cy="781050"/>
          </a:xfrm>
          <a:prstGeom xmlns:a="http://schemas.openxmlformats.org/drawingml/2006/main" prst="straightConnector1">
            <a:avLst/>
          </a:prstGeom>
          <a:ln xmlns:a="http://schemas.openxmlformats.org/drawingml/2006/main" w="19050">
            <a:solidFill>
              <a:srgbClr val="789272"/>
            </a:solidFill>
          </a:ln>
        </p:spPr>
      </p:cxnSp>
      <p:cxnSp>
        <p:nvCxnSpPr>
          <p:cNvPr id="35" name="">
            <a:extLst xmlns:a="http://schemas.openxmlformats.org/drawingml/2006/main">
              <a:ext uri="{FF2B5EF4-FFF2-40B4-BE49-F238E27FC236}">
                <a16:creationId xmlns:a16="http://schemas.microsoft.com/office/drawing/2014/main" id="{6D01F023-2FDA-462C-8620-0D8077F58B93}"/>
              </a:ext>
            </a:extLst>
          </p:cNvPr>
          <p:cNvCxnSpPr/>
          <p:nvPr/>
        </p:nvCxnSpPr>
        <p:spPr>
          <a:xfrm xmlns:a="http://schemas.openxmlformats.org/drawingml/2006/main" flipH="1" flipV="0">
            <a:off x="1628775" y="4286250"/>
            <a:ext cx="7000875" cy="0"/>
          </a:xfrm>
          <a:prstGeom xmlns:a="http://schemas.openxmlformats.org/drawingml/2006/main" prst="straightConnector1">
            <a:avLst/>
          </a:prstGeom>
          <a:ln xmlns:a="http://schemas.openxmlformats.org/drawingml/2006/main" w="19050">
            <a:solidFill>
              <a:srgbClr val="789272"/>
            </a:solidFill>
          </a:ln>
        </p:spPr>
      </p:cxnSp>
      <p:cxnSp>
        <p:nvCxnSpPr>
          <p:cNvPr id="36" name="">
            <a:extLst xmlns:a="http://schemas.openxmlformats.org/drawingml/2006/main">
              <a:ext uri="{FF2B5EF4-FFF2-40B4-BE49-F238E27FC236}">
                <a16:creationId xmlns:a16="http://schemas.microsoft.com/office/drawing/2014/main" id="{AC3349AC-9B47-4D2B-B074-7B2B1619AB36}"/>
              </a:ext>
            </a:extLst>
          </p:cNvPr>
          <p:cNvCxnSpPr/>
          <p:nvPr/>
        </p:nvCxnSpPr>
        <p:spPr>
          <a:xfrm xmlns:a="http://schemas.openxmlformats.org/drawingml/2006/main" flipH="0" flipV="1">
            <a:off x="1628775" y="3505200"/>
            <a:ext cx="0" cy="78105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37" name="text">
            <a:extLst xmlns:a="http://schemas.openxmlformats.org/drawingml/2006/main">
              <a:ext uri="{FF2B5EF4-FFF2-40B4-BE49-F238E27FC236}">
                <a16:creationId xmlns:a16="http://schemas.microsoft.com/office/drawing/2014/main" id="{AF7361C2-B315-491D-9522-96B140C7A0EE}"/>
              </a:ext>
            </a:extLst>
          </p:cNvPr>
          <p:cNvSpPr>
            <a:spLocks xmlns:a="http://schemas.openxmlformats.org/drawingml/2006/main" noGrp="1"/>
          </p:cNvSpPr>
          <p:nvPr/>
        </p:nvSpPr>
        <p:spPr>
          <a:xfrm xmlns:a="http://schemas.openxmlformats.org/drawingml/2006/main">
            <a:off x="5162550" y="3924300"/>
            <a:ext cx="409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60735E"/>
                </a:solidFill>
                <a:latin typeface="Arial"/>
                <a:ea typeface="Arial"/>
                <a:cs typeface="Arial"/>
              </a:defRPr>
            </a:defPPr>
            <a:lvl1pPr>
              <a:defRPr sz="1350" b="1">
                <a:solidFill>
                  <a:srgbClr val="60735E"/>
                </a:solidFill>
                <a:latin typeface="Arial"/>
                <a:ea typeface="Arial"/>
                <a:cs typeface="Arial"/>
              </a:defRPr>
            </a:lvl1pPr>
            <a:lvl2pPr>
              <a:defRPr sz="1350" b="1">
                <a:solidFill>
                  <a:srgbClr val="60735E"/>
                </a:solidFill>
                <a:latin typeface="Arial"/>
                <a:ea typeface="Arial"/>
                <a:cs typeface="Arial"/>
              </a:defRPr>
            </a:lvl2pPr>
            <a:lvl3pPr>
              <a:defRPr sz="1350" b="1">
                <a:solidFill>
                  <a:srgbClr val="60735E"/>
                </a:solidFill>
                <a:latin typeface="Arial"/>
                <a:ea typeface="Arial"/>
                <a:cs typeface="Arial"/>
              </a:defRPr>
            </a:lvl3pPr>
            <a:lvl4pPr>
              <a:defRPr sz="1350" b="1">
                <a:solidFill>
                  <a:srgbClr val="60735E"/>
                </a:solidFill>
                <a:latin typeface="Arial"/>
                <a:ea typeface="Arial"/>
                <a:cs typeface="Arial"/>
              </a:defRPr>
            </a:lvl4pPr>
            <a:lvl5pPr>
              <a:defRPr sz="1350" b="1">
                <a:solidFill>
                  <a:srgbClr val="60735E"/>
                </a:solidFill>
                <a:latin typeface="Arial"/>
                <a:ea typeface="Arial"/>
                <a:cs typeface="Arial"/>
              </a:defRPr>
            </a:lvl5pPr>
            <a:lvl6pPr>
              <a:defRPr sz="1350" b="1">
                <a:solidFill>
                  <a:srgbClr val="60735E"/>
                </a:solidFill>
                <a:latin typeface="Arial"/>
                <a:ea typeface="Arial"/>
                <a:cs typeface="Arial"/>
              </a:defRPr>
            </a:lvl6pPr>
            <a:lvl7pPr>
              <a:defRPr sz="1350" b="1">
                <a:solidFill>
                  <a:srgbClr val="60735E"/>
                </a:solidFill>
                <a:latin typeface="Arial"/>
                <a:ea typeface="Arial"/>
                <a:cs typeface="Arial"/>
              </a:defRPr>
            </a:lvl7pPr>
            <a:lvl8pPr>
              <a:defRPr sz="1350" b="1">
                <a:solidFill>
                  <a:srgbClr val="60735E"/>
                </a:solidFill>
                <a:latin typeface="Arial"/>
                <a:ea typeface="Arial"/>
                <a:cs typeface="Arial"/>
              </a:defRPr>
            </a:lvl8pPr>
            <a:lvl9pPr>
              <a:defRPr sz="1350" b="1">
                <a:solidFill>
                  <a:srgbClr val="60735E"/>
                </a:solidFill>
                <a:latin typeface="Arial"/>
                <a:ea typeface="Arial"/>
                <a:cs typeface="Arial"/>
              </a:defRPr>
            </a:lvl9pPr>
          </a:lstStyle>
          <a:p xmlns:a="http://schemas.openxmlformats.org/drawingml/2006/main">
            <a:pPr>
              <a:defRPr sz="1350" b="1">
                <a:solidFill>
                  <a:srgbClr val="60735E"/>
                </a:solidFill>
                <a:latin typeface="Arial"/>
                <a:ea typeface="Arial"/>
                <a:cs typeface="Arial"/>
              </a:defRPr>
            </a:pPr>
            <a:r>
              <a:rPr sz="1350" b="1">
                <a:solidFill>
                  <a:srgbClr val="60735E"/>
                </a:solidFill>
                <a:latin typeface="Arial"/>
                <a:ea typeface="Arial"/>
                <a:cs typeface="Arial"/>
              </a:rPr>
              <a:t>Student reopens a resolved issue</a:t>
            </a:r>
          </a:p>
        </p:txBody>
      </p:sp>
      <p:sp>
        <p:nvSpPr>
          <p:cNvPr id="38" name="text">
            <a:extLst xmlns:a="http://schemas.openxmlformats.org/drawingml/2006/main">
              <a:ext uri="{FF2B5EF4-FFF2-40B4-BE49-F238E27FC236}">
                <a16:creationId xmlns:a16="http://schemas.microsoft.com/office/drawing/2014/main" id="{C5B4F345-2761-46DA-B014-2A7BFB556E60}"/>
              </a:ext>
            </a:extLst>
          </p:cNvPr>
          <p:cNvSpPr>
            <a:spLocks xmlns:a="http://schemas.openxmlformats.org/drawingml/2006/main" noGrp="1"/>
          </p:cNvSpPr>
          <p:nvPr/>
        </p:nvSpPr>
        <p:spPr>
          <a:xfrm xmlns:a="http://schemas.openxmlformats.org/drawingml/2006/main">
            <a:off x="628650" y="6067425"/>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Reopening clears the staff assignment and resolved timestamp. Feedback closes the complaint automatically.</a:t>
            </a:r>
          </a:p>
        </p:txBody>
      </p:sp>
    </p:spTree>
    <p:extLst>
      <p:ext uri="{BB962C8B-B14F-4D97-AF65-F5344CB8AC3E}">
        <p14:creationId xmlns:p14="http://schemas.microsoft.com/office/powerpoint/2010/main" val="868731009"/>
      </p:ext>
    </p:extLst>
  </p:cSld>
</p:sld>
</file>

<file path=ppt/slides/slide31.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0C1310F7-801E-45DC-B9D9-19CFC722067E}"/>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Business Logic Implementation</a:t>
            </a:r>
          </a:p>
        </p:txBody>
      </p:sp>
      <p:sp>
        <p:nvSpPr>
          <p:cNvPr id="3" name="footer">
            <a:extLst xmlns:a="http://schemas.openxmlformats.org/drawingml/2006/main">
              <a:ext uri="{FF2B5EF4-FFF2-40B4-BE49-F238E27FC236}">
                <a16:creationId xmlns:a16="http://schemas.microsoft.com/office/drawing/2014/main" id="{E00B011D-99E3-4A4B-9F7B-D14D120C19D8}"/>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A1560740-5F3F-40D3-915D-412151D7C19D}"/>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31 / 36</a:t>
            </a:r>
          </a:p>
        </p:txBody>
      </p:sp>
      <p:graphicFrame>
        <p:nvGraphicFramePr>
          <p:cNvPr id="5" name="">
            <a:extLst xmlns:a="http://schemas.openxmlformats.org/drawingml/2006/main">
              <a:ext uri="{FF2B5EF4-FFF2-40B4-BE49-F238E27FC236}">
                <a16:creationId xmlns:a16="http://schemas.microsoft.com/office/drawing/2014/main" id="{AB13162B-37E8-4E3B-9E10-DD66627FC880}"/>
              </a:ext>
            </a:extLst>
          </p:cNvPr>
          <p:cNvGraphicFramePr/>
          <p:nvPr/>
        </p:nvGraphicFramePr>
        <p:xfrm>
          <a:off xmlns:a="http://schemas.openxmlformats.org/drawingml/2006/main" x="609600" y="1790700"/>
          <a:ext xmlns:a="http://schemas.openxmlformats.org/drawingml/2006/main" cx="10972800" cy="4229100"/>
        </p:xfrm>
        <a:graphic xmlns:a="http://schemas.openxmlformats.org/drawingml/2006/main">
          <a:graphicData uri="http://schemas.openxmlformats.org/drawingml/2006/table">
            <a:tbl>
              <a:tblPr/>
              <a:tblGrid>
                <a:gridCol w="4381500"/>
                <a:gridCol w="2095500"/>
                <a:gridCol w="4495800"/>
              </a:tblGrid>
              <a:tr h="457200">
                <a:tc>
                  <a:txBody>
                    <a:bodyPr lIns="114300" tIns="114300" rIns="114300" bIns="114300"/>
                    <a:lstStyle/>
                    <a:p>
                      <a:r>
                        <a:rPr sz="1500" b="1">
                          <a:solidFill>
                            <a:srgbClr val="FFFFFF"/>
                          </a:solidFill>
                          <a:latin typeface="Arial"/>
                          <a:ea typeface="Arial"/>
                          <a:cs typeface="Arial"/>
                        </a:rPr>
                        <a:t>Trigger</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500" b="1">
                          <a:solidFill>
                            <a:srgbClr val="FFFFFF"/>
                          </a:solidFill>
                          <a:latin typeface="Arial"/>
                          <a:ea typeface="Arial"/>
                          <a:cs typeface="Arial"/>
                        </a:rPr>
                        <a:t>Timing</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500" b="1">
                          <a:solidFill>
                            <a:srgbClr val="FFFFFF"/>
                          </a:solidFill>
                          <a:latin typeface="Arial"/>
                          <a:ea typeface="Arial"/>
                          <a:cs typeface="Arial"/>
                        </a:rPr>
                        <a:t>Responsibility</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628650">
                <a:tc>
                  <a:txBody>
                    <a:bodyPr lIns="114300" tIns="114300" rIns="114300" bIns="114300"/>
                    <a:lstStyle/>
                    <a:p>
                      <a:r>
                        <a:rPr sz="1575" b="0">
                          <a:solidFill>
                            <a:srgbClr val="243B2D"/>
                          </a:solidFill>
                          <a:latin typeface="Arial"/>
                          <a:ea typeface="Arial"/>
                          <a:cs typeface="Arial"/>
                        </a:rPr>
                        <a:t>trg_allocation_before_insert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BEFORE INSERT</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Room availability, capacity and gender</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575" b="0">
                          <a:solidFill>
                            <a:srgbClr val="243B2D"/>
                          </a:solidFill>
                          <a:latin typeface="Arial"/>
                          <a:ea typeface="Arial"/>
                          <a:cs typeface="Arial"/>
                        </a:rPr>
                        <a:t>trg_complaint_before_update</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BEFORE UPDATE</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Allowed state transitions and resolution timestamps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628650">
                <a:tc>
                  <a:txBody>
                    <a:bodyPr lIns="114300" tIns="114300" rIns="114300" bIns="114300"/>
                    <a:lstStyle/>
                    <a:p>
                      <a:r>
                        <a:rPr sz="1575" b="0">
                          <a:solidFill>
                            <a:srgbClr val="243B2D"/>
                          </a:solidFill>
                          <a:latin typeface="Arial"/>
                          <a:ea typeface="Arial"/>
                          <a:cs typeface="Arial"/>
                        </a:rPr>
                        <a:t>trg_complaint_after_insert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AFTER INSERT</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Create the initial history row</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575" b="0">
                          <a:solidFill>
                            <a:srgbClr val="243B2D"/>
                          </a:solidFill>
                          <a:latin typeface="Arial"/>
                          <a:ea typeface="Arial"/>
                          <a:cs typeface="Arial"/>
                        </a:rPr>
                        <a:t>trg_complaint_after_update</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AFTER UPDATE</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Log status and assignment changes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628650">
                <a:tc>
                  <a:txBody>
                    <a:bodyPr lIns="114300" tIns="114300" rIns="114300" bIns="114300"/>
                    <a:lstStyle/>
                    <a:p>
                      <a:r>
                        <a:rPr sz="1575" b="0">
                          <a:solidFill>
                            <a:srgbClr val="243B2D"/>
                          </a:solidFill>
                          <a:latin typeface="Arial"/>
                          <a:ea typeface="Arial"/>
                          <a:cs typeface="Arial"/>
                        </a:rPr>
                        <a:t>trg_feedback_before_insert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BEFORE INSERT</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Require resolved status and complaint owner</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575" b="0">
                          <a:solidFill>
                            <a:srgbClr val="243B2D"/>
                          </a:solidFill>
                          <a:latin typeface="Arial"/>
                          <a:ea typeface="Arial"/>
                          <a:cs typeface="Arial"/>
                        </a:rPr>
                        <a:t>trg_feedback_after_insert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AFTER INSERT</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Close the complaint after feedback</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bl>
          </a:graphicData>
        </a:graphic>
      </p:graphicFrame>
      <p:sp>
        <p:nvSpPr>
          <p:cNvPr id="6" name="slide-subtitle">
            <a:extLst xmlns:a="http://schemas.openxmlformats.org/drawingml/2006/main">
              <a:ext uri="{FF2B5EF4-FFF2-40B4-BE49-F238E27FC236}">
                <a16:creationId xmlns:a16="http://schemas.microsoft.com/office/drawing/2014/main" id="{6B4905B9-5958-44AD-955E-49C92B369613}"/>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Six triggers validate and automatically record changes</a:t>
            </a:r>
          </a:p>
        </p:txBody>
      </p:sp>
    </p:spTree>
    <p:extLst>
      <p:ext uri="{BB962C8B-B14F-4D97-AF65-F5344CB8AC3E}">
        <p14:creationId xmlns:p14="http://schemas.microsoft.com/office/powerpoint/2010/main" val="863269652"/>
      </p:ext>
    </p:extLst>
  </p:cSld>
</p:sld>
</file>

<file path=ppt/slides/slide32.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B459A91B-0E9C-481A-80B7-649F41F5323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Business Logic Implementation</a:t>
            </a:r>
          </a:p>
        </p:txBody>
      </p:sp>
      <p:sp>
        <p:nvSpPr>
          <p:cNvPr id="3" name="footer">
            <a:extLst xmlns:a="http://schemas.openxmlformats.org/drawingml/2006/main">
              <a:ext uri="{FF2B5EF4-FFF2-40B4-BE49-F238E27FC236}">
                <a16:creationId xmlns:a16="http://schemas.microsoft.com/office/drawing/2014/main" id="{97165C4F-C56C-434F-B990-F2115B464016}"/>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BC13129B-9E80-45DB-BEF0-809157794206}"/>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32 / 36</a:t>
            </a:r>
          </a:p>
        </p:txBody>
      </p:sp>
      <p:graphicFrame>
        <p:nvGraphicFramePr>
          <p:cNvPr id="5" name="">
            <a:extLst xmlns:a="http://schemas.openxmlformats.org/drawingml/2006/main">
              <a:ext uri="{FF2B5EF4-FFF2-40B4-BE49-F238E27FC236}">
                <a16:creationId xmlns:a16="http://schemas.microsoft.com/office/drawing/2014/main" id="{C9A75BE8-9869-4F63-88C9-8F301C8BCD05}"/>
              </a:ext>
            </a:extLst>
          </p:cNvPr>
          <p:cNvGraphicFramePr/>
          <p:nvPr/>
        </p:nvGraphicFramePr>
        <p:xfrm>
          <a:off xmlns:a="http://schemas.openxmlformats.org/drawingml/2006/main" x="609600" y="1790700"/>
          <a:ext xmlns:a="http://schemas.openxmlformats.org/drawingml/2006/main" cx="10972800" cy="4048125"/>
        </p:xfrm>
        <a:graphic xmlns:a="http://schemas.openxmlformats.org/drawingml/2006/main">
          <a:graphicData uri="http://schemas.openxmlformats.org/drawingml/2006/table">
            <a:tbl>
              <a:tblPr/>
              <a:tblGrid>
                <a:gridCol w="3810000"/>
                <a:gridCol w="7162800"/>
              </a:tblGrid>
              <a:tr h="457200">
                <a:tc>
                  <a:txBody>
                    <a:bodyPr lIns="114300" tIns="114300" rIns="114300" bIns="114300"/>
                    <a:lstStyle/>
                    <a:p>
                      <a:r>
                        <a:rPr sz="1725" b="1">
                          <a:solidFill>
                            <a:srgbClr val="FFFFFF"/>
                          </a:solidFill>
                          <a:latin typeface="Arial"/>
                          <a:ea typeface="Arial"/>
                          <a:cs typeface="Arial"/>
                        </a:rPr>
                        <a:t>Procedure</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725" b="1">
                          <a:solidFill>
                            <a:srgbClr val="FFFFFF"/>
                          </a:solidFill>
                          <a:latin typeface="Arial"/>
                          <a:ea typeface="Arial"/>
                          <a:cs typeface="Arial"/>
                        </a:rPr>
                        <a:t>Inputs / responsibility</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718185">
                <a:tc>
                  <a:txBody>
                    <a:bodyPr lIns="114300" tIns="114300" rIns="114300" bIns="114300"/>
                    <a:lstStyle/>
                    <a:p>
                      <a:r>
                        <a:rPr sz="1800" b="0">
                          <a:solidFill>
                            <a:srgbClr val="243B2D"/>
                          </a:solidFill>
                          <a:latin typeface="Arial"/>
                          <a:ea typeface="Arial"/>
                          <a:cs typeface="Arial"/>
                        </a:rPr>
                        <a:t>sp_allocate_room</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Student, room, academic year, actor. Lock and create a valid allotment.</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718185">
                <a:tc>
                  <a:txBody>
                    <a:bodyPr lIns="114300" tIns="114300" rIns="114300" bIns="114300"/>
                    <a:lstStyle/>
                    <a:p>
                      <a:r>
                        <a:rPr sz="1800" b="0">
                          <a:solidFill>
                            <a:srgbClr val="243B2D"/>
                          </a:solidFill>
                          <a:latin typeface="Arial"/>
                          <a:ea typeface="Arial"/>
                          <a:cs typeface="Arial"/>
                        </a:rPr>
                        <a:t>sp_vacate_room</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Allocation and actor. Mark VACATED and keep the old record.</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718185">
                <a:tc>
                  <a:txBody>
                    <a:bodyPr lIns="114300" tIns="114300" rIns="114300" bIns="114300"/>
                    <a:lstStyle/>
                    <a:p>
                      <a:r>
                        <a:rPr sz="1800" b="0">
                          <a:solidFill>
                            <a:srgbClr val="243B2D"/>
                          </a:solidFill>
                          <a:latin typeface="Arial"/>
                          <a:ea typeface="Arial"/>
                          <a:cs typeface="Arial"/>
                        </a:rPr>
                        <a:t>sp_raise_complaint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Student, category and content. Infer current room and reject duplicates.</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718185">
                <a:tc>
                  <a:txBody>
                    <a:bodyPr lIns="114300" tIns="114300" rIns="114300" bIns="114300"/>
                    <a:lstStyle/>
                    <a:p>
                      <a:r>
                        <a:rPr sz="1800" b="0">
                          <a:solidFill>
                            <a:srgbClr val="243B2D"/>
                          </a:solidFill>
                          <a:latin typeface="Arial"/>
                          <a:ea typeface="Arial"/>
                          <a:cs typeface="Arial"/>
                        </a:rPr>
                        <a:t>sp_assign_complaint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Complaint, staff and actor. Match block and specialization.</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718185">
                <a:tc>
                  <a:txBody>
                    <a:bodyPr lIns="114300" tIns="114300" rIns="114300" bIns="114300"/>
                    <a:lstStyle/>
                    <a:p>
                      <a:r>
                        <a:rPr sz="1800" b="0">
                          <a:solidFill>
                            <a:srgbClr val="243B2D"/>
                          </a:solidFill>
                          <a:latin typeface="Arial"/>
                          <a:ea typeface="Arial"/>
                          <a:cs typeface="Arial"/>
                        </a:rPr>
                        <a:t>sp_update_status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Complaint, next status, actor and remark. Enforce role ownership.</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bl>
          </a:graphicData>
        </a:graphic>
      </p:graphicFrame>
      <p:sp>
        <p:nvSpPr>
          <p:cNvPr id="6" name="text">
            <a:extLst xmlns:a="http://schemas.openxmlformats.org/drawingml/2006/main">
              <a:ext uri="{FF2B5EF4-FFF2-40B4-BE49-F238E27FC236}">
                <a16:creationId xmlns:a16="http://schemas.microsoft.com/office/drawing/2014/main" id="{AA356112-0DA6-43B3-B78F-4998F04D6986}"/>
              </a:ext>
            </a:extLst>
          </p:cNvPr>
          <p:cNvSpPr>
            <a:spLocks xmlns:a="http://schemas.openxmlformats.org/drawingml/2006/main" noGrp="1"/>
          </p:cNvSpPr>
          <p:nvPr/>
        </p:nvSpPr>
        <p:spPr>
          <a:xfrm xmlns:a="http://schemas.openxmlformats.org/drawingml/2006/main">
            <a:off x="628650" y="609600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F4D3B"/>
                </a:solidFill>
                <a:latin typeface="Arial"/>
                <a:ea typeface="Arial"/>
                <a:cs typeface="Arial"/>
              </a:defRPr>
            </a:defPPr>
            <a:lvl1pPr>
              <a:defRPr sz="1725" b="1">
                <a:solidFill>
                  <a:srgbClr val="1F4D3B"/>
                </a:solidFill>
                <a:latin typeface="Arial"/>
                <a:ea typeface="Arial"/>
                <a:cs typeface="Arial"/>
              </a:defRPr>
            </a:lvl1pPr>
            <a:lvl2pPr>
              <a:defRPr sz="1725" b="1">
                <a:solidFill>
                  <a:srgbClr val="1F4D3B"/>
                </a:solidFill>
                <a:latin typeface="Arial"/>
                <a:ea typeface="Arial"/>
                <a:cs typeface="Arial"/>
              </a:defRPr>
            </a:lvl2pPr>
            <a:lvl3pPr>
              <a:defRPr sz="1725" b="1">
                <a:solidFill>
                  <a:srgbClr val="1F4D3B"/>
                </a:solidFill>
                <a:latin typeface="Arial"/>
                <a:ea typeface="Arial"/>
                <a:cs typeface="Arial"/>
              </a:defRPr>
            </a:lvl3pPr>
            <a:lvl4pPr>
              <a:defRPr sz="1725" b="1">
                <a:solidFill>
                  <a:srgbClr val="1F4D3B"/>
                </a:solidFill>
                <a:latin typeface="Arial"/>
                <a:ea typeface="Arial"/>
                <a:cs typeface="Arial"/>
              </a:defRPr>
            </a:lvl4pPr>
            <a:lvl5pPr>
              <a:defRPr sz="1725" b="1">
                <a:solidFill>
                  <a:srgbClr val="1F4D3B"/>
                </a:solidFill>
                <a:latin typeface="Arial"/>
                <a:ea typeface="Arial"/>
                <a:cs typeface="Arial"/>
              </a:defRPr>
            </a:lvl5pPr>
            <a:lvl6pPr>
              <a:defRPr sz="1725" b="1">
                <a:solidFill>
                  <a:srgbClr val="1F4D3B"/>
                </a:solidFill>
                <a:latin typeface="Arial"/>
                <a:ea typeface="Arial"/>
                <a:cs typeface="Arial"/>
              </a:defRPr>
            </a:lvl6pPr>
            <a:lvl7pPr>
              <a:defRPr sz="1725" b="1">
                <a:solidFill>
                  <a:srgbClr val="1F4D3B"/>
                </a:solidFill>
                <a:latin typeface="Arial"/>
                <a:ea typeface="Arial"/>
                <a:cs typeface="Arial"/>
              </a:defRPr>
            </a:lvl7pPr>
            <a:lvl8pPr>
              <a:defRPr sz="1725" b="1">
                <a:solidFill>
                  <a:srgbClr val="1F4D3B"/>
                </a:solidFill>
                <a:latin typeface="Arial"/>
                <a:ea typeface="Arial"/>
                <a:cs typeface="Arial"/>
              </a:defRPr>
            </a:lvl8pPr>
            <a:lvl9pPr>
              <a:defRPr sz="1725" b="1">
                <a:solidFill>
                  <a:srgbClr val="1F4D3B"/>
                </a:solidFill>
                <a:latin typeface="Arial"/>
                <a:ea typeface="Arial"/>
                <a:cs typeface="Arial"/>
              </a:defRPr>
            </a:lvl9pPr>
          </a:lstStyle>
          <a:p xmlns:a="http://schemas.openxmlformats.org/drawingml/2006/main">
            <a:pPr>
              <a:defRPr sz="1725" b="1">
                <a:solidFill>
                  <a:srgbClr val="1F4D3B"/>
                </a:solidFill>
                <a:latin typeface="Arial"/>
                <a:ea typeface="Arial"/>
                <a:cs typeface="Arial"/>
              </a:defRPr>
            </a:pPr>
            <a:r>
              <a:rPr sz="1725" b="1">
                <a:solidFill>
                  <a:srgbClr val="1F4D3B"/>
                </a:solidFill>
                <a:latin typeface="Arial"/>
                <a:ea typeface="Arial"/>
                <a:cs typeface="Arial"/>
              </a:rPr>
              <a:t>The Express API owns BEGIN, COMMIT and ROLLBACK around procedure calls.</a:t>
            </a:r>
          </a:p>
        </p:txBody>
      </p:sp>
      <p:sp>
        <p:nvSpPr>
          <p:cNvPr id="7" name="slide-subtitle">
            <a:extLst xmlns:a="http://schemas.openxmlformats.org/drawingml/2006/main">
              <a:ext uri="{FF2B5EF4-FFF2-40B4-BE49-F238E27FC236}">
                <a16:creationId xmlns:a16="http://schemas.microsoft.com/office/drawing/2014/main" id="{D7AFF9D1-903F-4C4A-BCDA-DC9CA2C78C46}"/>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Five stored procedures handle the main data mutations</a:t>
            </a:r>
          </a:p>
        </p:txBody>
      </p:sp>
    </p:spTree>
    <p:extLst>
      <p:ext uri="{BB962C8B-B14F-4D97-AF65-F5344CB8AC3E}">
        <p14:creationId xmlns:p14="http://schemas.microsoft.com/office/powerpoint/2010/main" val="1201621901"/>
      </p:ext>
    </p:extLst>
  </p:cSld>
</p:sld>
</file>

<file path=ppt/slides/slide33.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1ACCE435-DBD7-48F8-8778-759407C6B98D}"/>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Business Logic Implementation</a:t>
            </a:r>
          </a:p>
        </p:txBody>
      </p:sp>
      <p:sp>
        <p:nvSpPr>
          <p:cNvPr id="3" name="footer">
            <a:extLst xmlns:a="http://schemas.openxmlformats.org/drawingml/2006/main">
              <a:ext uri="{FF2B5EF4-FFF2-40B4-BE49-F238E27FC236}">
                <a16:creationId xmlns:a16="http://schemas.microsoft.com/office/drawing/2014/main" id="{4FDF7716-C355-45CD-B478-48420BFAC107}"/>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05F73EC8-3937-4B95-803B-8A4A6D68A4CF}"/>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33 / 36</a:t>
            </a:r>
          </a:p>
        </p:txBody>
      </p:sp>
      <p:graphicFrame>
        <p:nvGraphicFramePr>
          <p:cNvPr id="5" name="">
            <a:extLst xmlns:a="http://schemas.openxmlformats.org/drawingml/2006/main">
              <a:ext uri="{FF2B5EF4-FFF2-40B4-BE49-F238E27FC236}">
                <a16:creationId xmlns:a16="http://schemas.microsoft.com/office/drawing/2014/main" id="{1E012547-7BAA-4795-8089-DE30C6863368}"/>
              </a:ext>
            </a:extLst>
          </p:cNvPr>
          <p:cNvGraphicFramePr/>
          <p:nvPr/>
        </p:nvGraphicFramePr>
        <p:xfrm>
          <a:off xmlns:a="http://schemas.openxmlformats.org/drawingml/2006/main" x="609600" y="1790700"/>
          <a:ext xmlns:a="http://schemas.openxmlformats.org/drawingml/2006/main" cx="10972800" cy="3476625"/>
        </p:xfrm>
        <a:graphic xmlns:a="http://schemas.openxmlformats.org/drawingml/2006/main">
          <a:graphicData uri="http://schemas.openxmlformats.org/drawingml/2006/table">
            <a:tbl>
              <a:tblPr/>
              <a:tblGrid>
                <a:gridCol w="4095750"/>
                <a:gridCol w="6877050"/>
              </a:tblGrid>
              <a:tr h="457200">
                <a:tc>
                  <a:txBody>
                    <a:bodyPr lIns="114300" tIns="114300" rIns="114300" bIns="114300"/>
                    <a:lstStyle/>
                    <a:p>
                      <a:r>
                        <a:rPr sz="1800" b="1">
                          <a:solidFill>
                            <a:srgbClr val="FFFFFF"/>
                          </a:solidFill>
                          <a:latin typeface="Arial"/>
                          <a:ea typeface="Arial"/>
                          <a:cs typeface="Arial"/>
                        </a:rPr>
                        <a:t>View</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800" b="1">
                          <a:solidFill>
                            <a:srgbClr val="FFFFFF"/>
                          </a:solidFill>
                          <a:latin typeface="Arial"/>
                          <a:ea typeface="Arial"/>
                          <a:cs typeface="Arial"/>
                        </a:rPr>
                        <a:t>Computed result</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754856">
                <a:tc>
                  <a:txBody>
                    <a:bodyPr lIns="114300" tIns="114300" rIns="114300" bIns="114300"/>
                    <a:lstStyle/>
                    <a:p>
                      <a:r>
                        <a:rPr sz="1875" b="0">
                          <a:solidFill>
                            <a:srgbClr val="243B2D"/>
                          </a:solidFill>
                          <a:latin typeface="Arial"/>
                          <a:ea typeface="Arial"/>
                          <a:cs typeface="Arial"/>
                        </a:rPr>
                        <a:t>v_room_occupancy</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75" b="0">
                          <a:solidFill>
                            <a:srgbClr val="243B2D"/>
                          </a:solidFill>
                          <a:latin typeface="Arial"/>
                          <a:ea typeface="Arial"/>
                          <a:cs typeface="Arial"/>
                        </a:rPr>
                        <a:t>Capacity, occupied beds, vacancies and available/full/blocked state</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754856">
                <a:tc>
                  <a:txBody>
                    <a:bodyPr lIns="114300" tIns="114300" rIns="114300" bIns="114300"/>
                    <a:lstStyle/>
                    <a:p>
                      <a:r>
                        <a:rPr sz="1875" b="0">
                          <a:solidFill>
                            <a:srgbClr val="243B2D"/>
                          </a:solidFill>
                          <a:latin typeface="Arial"/>
                          <a:ea typeface="Arial"/>
                          <a:cs typeface="Arial"/>
                        </a:rPr>
                        <a:t>v_complaint_dashboard</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75" b="0">
                          <a:solidFill>
                            <a:srgbClr val="243B2D"/>
                          </a:solidFill>
                          <a:latin typeface="Arial"/>
                          <a:ea typeface="Arial"/>
                          <a:cs typeface="Arial"/>
                        </a:rPr>
                        <a:t>Student, room, block, category, staff and complaint age</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754856">
                <a:tc>
                  <a:txBody>
                    <a:bodyPr lIns="114300" tIns="114300" rIns="114300" bIns="114300"/>
                    <a:lstStyle/>
                    <a:p>
                      <a:r>
                        <a:rPr sz="1875" b="0">
                          <a:solidFill>
                            <a:srgbClr val="243B2D"/>
                          </a:solidFill>
                          <a:latin typeface="Arial"/>
                          <a:ea typeface="Arial"/>
                          <a:cs typeface="Arial"/>
                        </a:rPr>
                        <a:t>v_overdue_complaints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75" b="0">
                          <a:solidFill>
                            <a:srgbClr val="243B2D"/>
                          </a:solidFill>
                          <a:latin typeface="Arial"/>
                          <a:ea typeface="Arial"/>
                          <a:cs typeface="Arial"/>
                        </a:rPr>
                        <a:t>OPEN, ASSIGNED or IN_PROGRESS issues older than category SLA</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754856">
                <a:tc>
                  <a:txBody>
                    <a:bodyPr lIns="114300" tIns="114300" rIns="114300" bIns="114300"/>
                    <a:lstStyle/>
                    <a:p>
                      <a:r>
                        <a:rPr sz="1875" b="0">
                          <a:solidFill>
                            <a:srgbClr val="243B2D"/>
                          </a:solidFill>
                          <a:latin typeface="Arial"/>
                          <a:ea typeface="Arial"/>
                          <a:cs typeface="Arial"/>
                        </a:rPr>
                        <a:t>v_staff_workload</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75" b="0">
                          <a:solidFill>
                            <a:srgbClr val="243B2D"/>
                          </a:solidFill>
                          <a:latin typeface="Arial"/>
                          <a:ea typeface="Arial"/>
                          <a:cs typeface="Arial"/>
                        </a:rPr>
                        <a:t>Active and completed jobs grouped by maintenance staff</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bl>
          </a:graphicData>
        </a:graphic>
      </p:graphicFrame>
      <p:sp>
        <p:nvSpPr>
          <p:cNvPr id="6" name="text">
            <a:extLst xmlns:a="http://schemas.openxmlformats.org/drawingml/2006/main">
              <a:ext uri="{FF2B5EF4-FFF2-40B4-BE49-F238E27FC236}">
                <a16:creationId xmlns:a16="http://schemas.microsoft.com/office/drawing/2014/main" id="{4471C41E-0981-4580-ABEC-033083BCE007}"/>
              </a:ext>
            </a:extLst>
          </p:cNvPr>
          <p:cNvSpPr>
            <a:spLocks xmlns:a="http://schemas.openxmlformats.org/drawingml/2006/main" noGrp="1"/>
          </p:cNvSpPr>
          <p:nvPr/>
        </p:nvSpPr>
        <p:spPr>
          <a:xfrm xmlns:a="http://schemas.openxmlformats.org/drawingml/2006/main">
            <a:off x="628650" y="56388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0735E"/>
                </a:solidFill>
                <a:latin typeface="Arial"/>
                <a:ea typeface="Arial"/>
                <a:cs typeface="Arial"/>
              </a:defRPr>
            </a:defPPr>
            <a:lvl1pPr>
              <a:defRPr sz="1950" b="0">
                <a:solidFill>
                  <a:srgbClr val="60735E"/>
                </a:solidFill>
                <a:latin typeface="Arial"/>
                <a:ea typeface="Arial"/>
                <a:cs typeface="Arial"/>
              </a:defRPr>
            </a:lvl1pPr>
            <a:lvl2pPr>
              <a:defRPr sz="1950" b="0">
                <a:solidFill>
                  <a:srgbClr val="60735E"/>
                </a:solidFill>
                <a:latin typeface="Arial"/>
                <a:ea typeface="Arial"/>
                <a:cs typeface="Arial"/>
              </a:defRPr>
            </a:lvl2pPr>
            <a:lvl3pPr>
              <a:defRPr sz="1950" b="0">
                <a:solidFill>
                  <a:srgbClr val="60735E"/>
                </a:solidFill>
                <a:latin typeface="Arial"/>
                <a:ea typeface="Arial"/>
                <a:cs typeface="Arial"/>
              </a:defRPr>
            </a:lvl3pPr>
            <a:lvl4pPr>
              <a:defRPr sz="1950" b="0">
                <a:solidFill>
                  <a:srgbClr val="60735E"/>
                </a:solidFill>
                <a:latin typeface="Arial"/>
                <a:ea typeface="Arial"/>
                <a:cs typeface="Arial"/>
              </a:defRPr>
            </a:lvl4pPr>
            <a:lvl5pPr>
              <a:defRPr sz="1950" b="0">
                <a:solidFill>
                  <a:srgbClr val="60735E"/>
                </a:solidFill>
                <a:latin typeface="Arial"/>
                <a:ea typeface="Arial"/>
                <a:cs typeface="Arial"/>
              </a:defRPr>
            </a:lvl5pPr>
            <a:lvl6pPr>
              <a:defRPr sz="1950" b="0">
                <a:solidFill>
                  <a:srgbClr val="60735E"/>
                </a:solidFill>
                <a:latin typeface="Arial"/>
                <a:ea typeface="Arial"/>
                <a:cs typeface="Arial"/>
              </a:defRPr>
            </a:lvl6pPr>
            <a:lvl7pPr>
              <a:defRPr sz="1950" b="0">
                <a:solidFill>
                  <a:srgbClr val="60735E"/>
                </a:solidFill>
                <a:latin typeface="Arial"/>
                <a:ea typeface="Arial"/>
                <a:cs typeface="Arial"/>
              </a:defRPr>
            </a:lvl7pPr>
            <a:lvl8pPr>
              <a:defRPr sz="1950" b="0">
                <a:solidFill>
                  <a:srgbClr val="60735E"/>
                </a:solidFill>
                <a:latin typeface="Arial"/>
                <a:ea typeface="Arial"/>
                <a:cs typeface="Arial"/>
              </a:defRPr>
            </a:lvl8pPr>
            <a:lvl9pPr>
              <a:defRPr sz="1950" b="0">
                <a:solidFill>
                  <a:srgbClr val="60735E"/>
                </a:solidFill>
                <a:latin typeface="Arial"/>
                <a:ea typeface="Arial"/>
                <a:cs typeface="Arial"/>
              </a:defRPr>
            </a:lvl9pPr>
          </a:lstStyle>
          <a:p xmlns:a="http://schemas.openxmlformats.org/drawingml/2006/main">
            <a:pPr>
              <a:defRPr sz="1950" b="0">
                <a:solidFill>
                  <a:srgbClr val="60735E"/>
                </a:solidFill>
                <a:latin typeface="Arial"/>
                <a:ea typeface="Arial"/>
                <a:cs typeface="Arial"/>
              </a:defRPr>
            </a:pPr>
            <a:r>
              <a:rPr sz="1950" b="0">
                <a:solidFill>
                  <a:srgbClr val="60735E"/>
                </a:solidFill>
                <a:latin typeface="Arial"/>
                <a:ea typeface="Arial"/>
                <a:cs typeface="Arial"/>
              </a:rPr>
              <a:t>Reports show category totals, status distribution, average resolution time and feedback ratings. CSV export respects the signed-in user’s scope.</a:t>
            </a:r>
          </a:p>
        </p:txBody>
      </p:sp>
      <p:sp>
        <p:nvSpPr>
          <p:cNvPr id="7" name="slide-subtitle">
            <a:extLst xmlns:a="http://schemas.openxmlformats.org/drawingml/2006/main">
              <a:ext uri="{FF2B5EF4-FFF2-40B4-BE49-F238E27FC236}">
                <a16:creationId xmlns:a16="http://schemas.microsoft.com/office/drawing/2014/main" id="{27449164-DFB4-4DD6-89BE-CC80C4E291BA}"/>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Four views support occupancy, complaint and workload reporting</a:t>
            </a:r>
          </a:p>
        </p:txBody>
      </p:sp>
    </p:spTree>
    <p:extLst>
      <p:ext uri="{BB962C8B-B14F-4D97-AF65-F5344CB8AC3E}">
        <p14:creationId xmlns:p14="http://schemas.microsoft.com/office/powerpoint/2010/main" val="129963750"/>
      </p:ext>
    </p:extLst>
  </p:cSld>
</p:sld>
</file>

<file path=ppt/slides/slide34.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FC539F61-074A-4957-A295-F554C57B3671}"/>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Database Connectivity</a:t>
            </a:r>
          </a:p>
        </p:txBody>
      </p:sp>
      <p:sp>
        <p:nvSpPr>
          <p:cNvPr id="3" name="slide-subtitle">
            <a:extLst xmlns:a="http://schemas.openxmlformats.org/drawingml/2006/main">
              <a:ext uri="{FF2B5EF4-FFF2-40B4-BE49-F238E27FC236}">
                <a16:creationId xmlns:a16="http://schemas.microsoft.com/office/drawing/2014/main" id="{C468894E-A8C6-4B58-AE92-E8222478992B}"/>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The browser calls Express. The backend connects to MySQL using mysql2.</a:t>
            </a:r>
          </a:p>
        </p:txBody>
      </p:sp>
      <p:sp>
        <p:nvSpPr>
          <p:cNvPr id="4" name="footer">
            <a:extLst xmlns:a="http://schemas.openxmlformats.org/drawingml/2006/main">
              <a:ext uri="{FF2B5EF4-FFF2-40B4-BE49-F238E27FC236}">
                <a16:creationId xmlns:a16="http://schemas.microsoft.com/office/drawing/2014/main" id="{121E5F9E-E7CA-4173-9053-6FBA171A6421}"/>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156DA958-4D6F-424E-8764-77BFCAEDB2E4}"/>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34 / 36</a:t>
            </a:r>
          </a:p>
        </p:txBody>
      </p:sp>
      <p:sp>
        <p:nvSpPr>
          <p:cNvPr id="6" name="entity-REACT FRONTEND">
            <a:extLst xmlns:a="http://schemas.openxmlformats.org/drawingml/2006/main">
              <a:ext uri="{FF2B5EF4-FFF2-40B4-BE49-F238E27FC236}">
                <a16:creationId xmlns:a16="http://schemas.microsoft.com/office/drawing/2014/main" id="{84EF06F7-870F-41DE-A34C-B5B5DFCE567A}"/>
              </a:ext>
            </a:extLst>
          </p:cNvPr>
          <p:cNvSpPr>
            <a:spLocks xmlns:a="http://schemas.openxmlformats.org/drawingml/2006/main" noGrp="1"/>
          </p:cNvSpPr>
          <p:nvPr/>
        </p:nvSpPr>
        <p:spPr>
          <a:xfrm xmlns:a="http://schemas.openxmlformats.org/drawingml/2006/main">
            <a:off x="619125" y="1981200"/>
            <a:ext cx="2952750"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7" name="entity-name-REACT FRONTEND">
            <a:extLst xmlns:a="http://schemas.openxmlformats.org/drawingml/2006/main">
              <a:ext uri="{FF2B5EF4-FFF2-40B4-BE49-F238E27FC236}">
                <a16:creationId xmlns:a16="http://schemas.microsoft.com/office/drawing/2014/main" id="{7A575E90-C2FC-4DCF-9023-32750DFCB980}"/>
              </a:ext>
            </a:extLst>
          </p:cNvPr>
          <p:cNvSpPr>
            <a:spLocks xmlns:a="http://schemas.openxmlformats.org/drawingml/2006/main" noGrp="1"/>
          </p:cNvSpPr>
          <p:nvPr/>
        </p:nvSpPr>
        <p:spPr>
          <a:xfrm xmlns:a="http://schemas.openxmlformats.org/drawingml/2006/main">
            <a:off x="742950" y="2076450"/>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REACT FRONTEND</a:t>
            </a:r>
          </a:p>
        </p:txBody>
      </p:sp>
      <p:sp>
        <p:nvSpPr>
          <p:cNvPr id="8" name="entity-fields-REACT FRONTEND">
            <a:extLst xmlns:a="http://schemas.openxmlformats.org/drawingml/2006/main">
              <a:ext uri="{FF2B5EF4-FFF2-40B4-BE49-F238E27FC236}">
                <a16:creationId xmlns:a16="http://schemas.microsoft.com/office/drawing/2014/main" id="{D665CFF8-051D-4E8B-9124-3F3F6C9D82D7}"/>
              </a:ext>
            </a:extLst>
          </p:cNvPr>
          <p:cNvSpPr>
            <a:spLocks xmlns:a="http://schemas.openxmlformats.org/drawingml/2006/main" noGrp="1"/>
          </p:cNvSpPr>
          <p:nvPr/>
        </p:nvSpPr>
        <p:spPr>
          <a:xfrm xmlns:a="http://schemas.openxmlformats.org/drawingml/2006/main">
            <a:off x="742950" y="2438400"/>
            <a:ext cx="2705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Role dashboards and forms</a:t>
            </a:r>
          </a:p>
        </p:txBody>
      </p:sp>
      <p:sp>
        <p:nvSpPr>
          <p:cNvPr id="9" name="entity-EXPRESS API">
            <a:extLst xmlns:a="http://schemas.openxmlformats.org/drawingml/2006/main">
              <a:ext uri="{FF2B5EF4-FFF2-40B4-BE49-F238E27FC236}">
                <a16:creationId xmlns:a16="http://schemas.microsoft.com/office/drawing/2014/main" id="{7F321D0B-58A9-4111-B2A7-42087CAFBB6D}"/>
              </a:ext>
            </a:extLst>
          </p:cNvPr>
          <p:cNvSpPr>
            <a:spLocks xmlns:a="http://schemas.openxmlformats.org/drawingml/2006/main" noGrp="1"/>
          </p:cNvSpPr>
          <p:nvPr/>
        </p:nvSpPr>
        <p:spPr>
          <a:xfrm xmlns:a="http://schemas.openxmlformats.org/drawingml/2006/main">
            <a:off x="4619625" y="1981200"/>
            <a:ext cx="2952750"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0" name="entity-name-EXPRESS API">
            <a:extLst xmlns:a="http://schemas.openxmlformats.org/drawingml/2006/main">
              <a:ext uri="{FF2B5EF4-FFF2-40B4-BE49-F238E27FC236}">
                <a16:creationId xmlns:a16="http://schemas.microsoft.com/office/drawing/2014/main" id="{3D8F6DC0-8C61-4251-9626-F10EDADC64D4}"/>
              </a:ext>
            </a:extLst>
          </p:cNvPr>
          <p:cNvSpPr>
            <a:spLocks xmlns:a="http://schemas.openxmlformats.org/drawingml/2006/main" noGrp="1"/>
          </p:cNvSpPr>
          <p:nvPr/>
        </p:nvSpPr>
        <p:spPr>
          <a:xfrm xmlns:a="http://schemas.openxmlformats.org/drawingml/2006/main">
            <a:off x="4743450" y="2076450"/>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EXPRESS API</a:t>
            </a:r>
          </a:p>
        </p:txBody>
      </p:sp>
      <p:sp>
        <p:nvSpPr>
          <p:cNvPr id="11" name="entity-fields-EXPRESS API">
            <a:extLst xmlns:a="http://schemas.openxmlformats.org/drawingml/2006/main">
              <a:ext uri="{FF2B5EF4-FFF2-40B4-BE49-F238E27FC236}">
                <a16:creationId xmlns:a16="http://schemas.microsoft.com/office/drawing/2014/main" id="{F74A40E4-7C12-48BB-A606-C37996FFB9A6}"/>
              </a:ext>
            </a:extLst>
          </p:cNvPr>
          <p:cNvSpPr>
            <a:spLocks xmlns:a="http://schemas.openxmlformats.org/drawingml/2006/main" noGrp="1"/>
          </p:cNvSpPr>
          <p:nvPr/>
        </p:nvSpPr>
        <p:spPr>
          <a:xfrm xmlns:a="http://schemas.openxmlformats.org/drawingml/2006/main">
            <a:off x="4743450" y="2438400"/>
            <a:ext cx="2705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JWT, validation, parameterized SQL</a:t>
            </a:r>
          </a:p>
        </p:txBody>
      </p:sp>
      <p:sp>
        <p:nvSpPr>
          <p:cNvPr id="12" name="entity-MYSQL 8.4">
            <a:extLst xmlns:a="http://schemas.openxmlformats.org/drawingml/2006/main">
              <a:ext uri="{FF2B5EF4-FFF2-40B4-BE49-F238E27FC236}">
                <a16:creationId xmlns:a16="http://schemas.microsoft.com/office/drawing/2014/main" id="{93734014-35C2-46AE-9A6F-46088FF13664}"/>
              </a:ext>
            </a:extLst>
          </p:cNvPr>
          <p:cNvSpPr>
            <a:spLocks xmlns:a="http://schemas.openxmlformats.org/drawingml/2006/main" noGrp="1"/>
          </p:cNvSpPr>
          <p:nvPr/>
        </p:nvSpPr>
        <p:spPr>
          <a:xfrm xmlns:a="http://schemas.openxmlformats.org/drawingml/2006/main">
            <a:off x="8620125" y="1981200"/>
            <a:ext cx="2952750"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3" name="entity-name-MYSQL 8.4">
            <a:extLst xmlns:a="http://schemas.openxmlformats.org/drawingml/2006/main">
              <a:ext uri="{FF2B5EF4-FFF2-40B4-BE49-F238E27FC236}">
                <a16:creationId xmlns:a16="http://schemas.microsoft.com/office/drawing/2014/main" id="{075C060F-DF02-4D7D-8628-6FDE1B8A62B5}"/>
              </a:ext>
            </a:extLst>
          </p:cNvPr>
          <p:cNvSpPr>
            <a:spLocks xmlns:a="http://schemas.openxmlformats.org/drawingml/2006/main" noGrp="1"/>
          </p:cNvSpPr>
          <p:nvPr/>
        </p:nvSpPr>
        <p:spPr>
          <a:xfrm xmlns:a="http://schemas.openxmlformats.org/drawingml/2006/main">
            <a:off x="8743950" y="2076450"/>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MYSQL 8.4</a:t>
            </a:r>
          </a:p>
        </p:txBody>
      </p:sp>
      <p:sp>
        <p:nvSpPr>
          <p:cNvPr id="14" name="entity-fields-MYSQL 8.4">
            <a:extLst xmlns:a="http://schemas.openxmlformats.org/drawingml/2006/main">
              <a:ext uri="{FF2B5EF4-FFF2-40B4-BE49-F238E27FC236}">
                <a16:creationId xmlns:a16="http://schemas.microsoft.com/office/drawing/2014/main" id="{F1D44F21-6CC8-4F0D-863B-75D1DE1E0BB5}"/>
              </a:ext>
            </a:extLst>
          </p:cNvPr>
          <p:cNvSpPr>
            <a:spLocks xmlns:a="http://schemas.openxmlformats.org/drawingml/2006/main" noGrp="1"/>
          </p:cNvSpPr>
          <p:nvPr/>
        </p:nvSpPr>
        <p:spPr>
          <a:xfrm xmlns:a="http://schemas.openxmlformats.org/drawingml/2006/main">
            <a:off x="8743950" y="2438400"/>
            <a:ext cx="2705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Tables, views and routines</a:t>
            </a:r>
          </a:p>
        </p:txBody>
      </p:sp>
      <p:cxnSp>
        <p:nvCxnSpPr>
          <p:cNvPr id="15" name="">
            <a:extLst xmlns:a="http://schemas.openxmlformats.org/drawingml/2006/main">
              <a:ext uri="{FF2B5EF4-FFF2-40B4-BE49-F238E27FC236}">
                <a16:creationId xmlns:a16="http://schemas.microsoft.com/office/drawing/2014/main" id="{91F34F8C-815E-4647-9C5E-86008633AE8F}"/>
              </a:ext>
            </a:extLst>
          </p:cNvPr>
          <p:cNvCxnSpPr/>
          <p:nvPr/>
        </p:nvCxnSpPr>
        <p:spPr>
          <a:xfrm xmlns:a="http://schemas.openxmlformats.org/drawingml/2006/main" flipH="0" flipV="0">
            <a:off x="3571875" y="2524125"/>
            <a:ext cx="1047750" cy="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16" name="text">
            <a:extLst xmlns:a="http://schemas.openxmlformats.org/drawingml/2006/main">
              <a:ext uri="{FF2B5EF4-FFF2-40B4-BE49-F238E27FC236}">
                <a16:creationId xmlns:a16="http://schemas.microsoft.com/office/drawing/2014/main" id="{16C23357-BBA7-4E24-BD18-9C0D566D31DF}"/>
              </a:ext>
            </a:extLst>
          </p:cNvPr>
          <p:cNvSpPr>
            <a:spLocks xmlns:a="http://schemas.openxmlformats.org/drawingml/2006/main" noGrp="1"/>
          </p:cNvSpPr>
          <p:nvPr/>
        </p:nvSpPr>
        <p:spPr>
          <a:xfrm xmlns:a="http://schemas.openxmlformats.org/drawingml/2006/main">
            <a:off x="3657600" y="2143125"/>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60735E"/>
                </a:solidFill>
                <a:latin typeface="Arial"/>
                <a:ea typeface="Arial"/>
                <a:cs typeface="Arial"/>
              </a:defRPr>
            </a:defPPr>
            <a:lvl1pPr>
              <a:defRPr sz="1350" b="1">
                <a:solidFill>
                  <a:srgbClr val="60735E"/>
                </a:solidFill>
                <a:latin typeface="Arial"/>
                <a:ea typeface="Arial"/>
                <a:cs typeface="Arial"/>
              </a:defRPr>
            </a:lvl1pPr>
            <a:lvl2pPr>
              <a:defRPr sz="1350" b="1">
                <a:solidFill>
                  <a:srgbClr val="60735E"/>
                </a:solidFill>
                <a:latin typeface="Arial"/>
                <a:ea typeface="Arial"/>
                <a:cs typeface="Arial"/>
              </a:defRPr>
            </a:lvl2pPr>
            <a:lvl3pPr>
              <a:defRPr sz="1350" b="1">
                <a:solidFill>
                  <a:srgbClr val="60735E"/>
                </a:solidFill>
                <a:latin typeface="Arial"/>
                <a:ea typeface="Arial"/>
                <a:cs typeface="Arial"/>
              </a:defRPr>
            </a:lvl3pPr>
            <a:lvl4pPr>
              <a:defRPr sz="1350" b="1">
                <a:solidFill>
                  <a:srgbClr val="60735E"/>
                </a:solidFill>
                <a:latin typeface="Arial"/>
                <a:ea typeface="Arial"/>
                <a:cs typeface="Arial"/>
              </a:defRPr>
            </a:lvl4pPr>
            <a:lvl5pPr>
              <a:defRPr sz="1350" b="1">
                <a:solidFill>
                  <a:srgbClr val="60735E"/>
                </a:solidFill>
                <a:latin typeface="Arial"/>
                <a:ea typeface="Arial"/>
                <a:cs typeface="Arial"/>
              </a:defRPr>
            </a:lvl5pPr>
            <a:lvl6pPr>
              <a:defRPr sz="1350" b="1">
                <a:solidFill>
                  <a:srgbClr val="60735E"/>
                </a:solidFill>
                <a:latin typeface="Arial"/>
                <a:ea typeface="Arial"/>
                <a:cs typeface="Arial"/>
              </a:defRPr>
            </a:lvl6pPr>
            <a:lvl7pPr>
              <a:defRPr sz="1350" b="1">
                <a:solidFill>
                  <a:srgbClr val="60735E"/>
                </a:solidFill>
                <a:latin typeface="Arial"/>
                <a:ea typeface="Arial"/>
                <a:cs typeface="Arial"/>
              </a:defRPr>
            </a:lvl7pPr>
            <a:lvl8pPr>
              <a:defRPr sz="1350" b="1">
                <a:solidFill>
                  <a:srgbClr val="60735E"/>
                </a:solidFill>
                <a:latin typeface="Arial"/>
                <a:ea typeface="Arial"/>
                <a:cs typeface="Arial"/>
              </a:defRPr>
            </a:lvl8pPr>
            <a:lvl9pPr>
              <a:defRPr sz="1350" b="1">
                <a:solidFill>
                  <a:srgbClr val="60735E"/>
                </a:solidFill>
                <a:latin typeface="Arial"/>
                <a:ea typeface="Arial"/>
                <a:cs typeface="Arial"/>
              </a:defRPr>
            </a:lvl9pPr>
          </a:lstStyle>
          <a:p xmlns:a="http://schemas.openxmlformats.org/drawingml/2006/main">
            <a:pPr>
              <a:defRPr sz="1350" b="1">
                <a:solidFill>
                  <a:srgbClr val="60735E"/>
                </a:solidFill>
                <a:latin typeface="Arial"/>
                <a:ea typeface="Arial"/>
                <a:cs typeface="Arial"/>
              </a:defRPr>
            </a:pPr>
            <a:r>
              <a:rPr sz="1350" b="1">
                <a:solidFill>
                  <a:srgbClr val="60735E"/>
                </a:solidFill>
                <a:latin typeface="Arial"/>
                <a:ea typeface="Arial"/>
                <a:cs typeface="Arial"/>
              </a:rPr>
              <a:t>REST API</a:t>
            </a:r>
          </a:p>
        </p:txBody>
      </p:sp>
      <p:cxnSp>
        <p:nvCxnSpPr>
          <p:cNvPr id="17" name="">
            <a:extLst xmlns:a="http://schemas.openxmlformats.org/drawingml/2006/main">
              <a:ext uri="{FF2B5EF4-FFF2-40B4-BE49-F238E27FC236}">
                <a16:creationId xmlns:a16="http://schemas.microsoft.com/office/drawing/2014/main" id="{2431E0AD-497D-49B0-BD24-5A9AD38790EE}"/>
              </a:ext>
            </a:extLst>
          </p:cNvPr>
          <p:cNvCxnSpPr/>
          <p:nvPr/>
        </p:nvCxnSpPr>
        <p:spPr>
          <a:xfrm xmlns:a="http://schemas.openxmlformats.org/drawingml/2006/main" flipH="0" flipV="0">
            <a:off x="7572375" y="2524125"/>
            <a:ext cx="1047750" cy="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18" name="text">
            <a:extLst xmlns:a="http://schemas.openxmlformats.org/drawingml/2006/main">
              <a:ext uri="{FF2B5EF4-FFF2-40B4-BE49-F238E27FC236}">
                <a16:creationId xmlns:a16="http://schemas.microsoft.com/office/drawing/2014/main" id="{A0800C1E-70CE-49A3-ABF1-847A1DEF2B32}"/>
              </a:ext>
            </a:extLst>
          </p:cNvPr>
          <p:cNvSpPr>
            <a:spLocks xmlns:a="http://schemas.openxmlformats.org/drawingml/2006/main" noGrp="1"/>
          </p:cNvSpPr>
          <p:nvPr/>
        </p:nvSpPr>
        <p:spPr>
          <a:xfrm xmlns:a="http://schemas.openxmlformats.org/drawingml/2006/main">
            <a:off x="7715250" y="2143125"/>
            <a:ext cx="85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60735E"/>
                </a:solidFill>
                <a:latin typeface="Arial"/>
                <a:ea typeface="Arial"/>
                <a:cs typeface="Arial"/>
              </a:defRPr>
            </a:defPPr>
            <a:lvl1pPr>
              <a:defRPr sz="1350" b="1">
                <a:solidFill>
                  <a:srgbClr val="60735E"/>
                </a:solidFill>
                <a:latin typeface="Arial"/>
                <a:ea typeface="Arial"/>
                <a:cs typeface="Arial"/>
              </a:defRPr>
            </a:lvl1pPr>
            <a:lvl2pPr>
              <a:defRPr sz="1350" b="1">
                <a:solidFill>
                  <a:srgbClr val="60735E"/>
                </a:solidFill>
                <a:latin typeface="Arial"/>
                <a:ea typeface="Arial"/>
                <a:cs typeface="Arial"/>
              </a:defRPr>
            </a:lvl2pPr>
            <a:lvl3pPr>
              <a:defRPr sz="1350" b="1">
                <a:solidFill>
                  <a:srgbClr val="60735E"/>
                </a:solidFill>
                <a:latin typeface="Arial"/>
                <a:ea typeface="Arial"/>
                <a:cs typeface="Arial"/>
              </a:defRPr>
            </a:lvl3pPr>
            <a:lvl4pPr>
              <a:defRPr sz="1350" b="1">
                <a:solidFill>
                  <a:srgbClr val="60735E"/>
                </a:solidFill>
                <a:latin typeface="Arial"/>
                <a:ea typeface="Arial"/>
                <a:cs typeface="Arial"/>
              </a:defRPr>
            </a:lvl4pPr>
            <a:lvl5pPr>
              <a:defRPr sz="1350" b="1">
                <a:solidFill>
                  <a:srgbClr val="60735E"/>
                </a:solidFill>
                <a:latin typeface="Arial"/>
                <a:ea typeface="Arial"/>
                <a:cs typeface="Arial"/>
              </a:defRPr>
            </a:lvl5pPr>
            <a:lvl6pPr>
              <a:defRPr sz="1350" b="1">
                <a:solidFill>
                  <a:srgbClr val="60735E"/>
                </a:solidFill>
                <a:latin typeface="Arial"/>
                <a:ea typeface="Arial"/>
                <a:cs typeface="Arial"/>
              </a:defRPr>
            </a:lvl6pPr>
            <a:lvl7pPr>
              <a:defRPr sz="1350" b="1">
                <a:solidFill>
                  <a:srgbClr val="60735E"/>
                </a:solidFill>
                <a:latin typeface="Arial"/>
                <a:ea typeface="Arial"/>
                <a:cs typeface="Arial"/>
              </a:defRPr>
            </a:lvl7pPr>
            <a:lvl8pPr>
              <a:defRPr sz="1350" b="1">
                <a:solidFill>
                  <a:srgbClr val="60735E"/>
                </a:solidFill>
                <a:latin typeface="Arial"/>
                <a:ea typeface="Arial"/>
                <a:cs typeface="Arial"/>
              </a:defRPr>
            </a:lvl8pPr>
            <a:lvl9pPr>
              <a:defRPr sz="1350" b="1">
                <a:solidFill>
                  <a:srgbClr val="60735E"/>
                </a:solidFill>
                <a:latin typeface="Arial"/>
                <a:ea typeface="Arial"/>
                <a:cs typeface="Arial"/>
              </a:defRPr>
            </a:lvl9pPr>
          </a:lstStyle>
          <a:p xmlns:a="http://schemas.openxmlformats.org/drawingml/2006/main">
            <a:pPr>
              <a:defRPr sz="1350" b="1">
                <a:solidFill>
                  <a:srgbClr val="60735E"/>
                </a:solidFill>
                <a:latin typeface="Arial"/>
                <a:ea typeface="Arial"/>
                <a:cs typeface="Arial"/>
              </a:defRPr>
            </a:pPr>
            <a:r>
              <a:rPr sz="1350" b="1">
                <a:solidFill>
                  <a:srgbClr val="60735E"/>
                </a:solidFill>
                <a:latin typeface="Arial"/>
                <a:ea typeface="Arial"/>
                <a:cs typeface="Arial"/>
              </a:rPr>
              <a:t>mysql2</a:t>
            </a:r>
          </a:p>
        </p:txBody>
      </p:sp>
      <p:sp>
        <p:nvSpPr>
          <p:cNvPr id="19" name="text">
            <a:extLst xmlns:a="http://schemas.openxmlformats.org/drawingml/2006/main">
              <a:ext uri="{FF2B5EF4-FFF2-40B4-BE49-F238E27FC236}">
                <a16:creationId xmlns:a16="http://schemas.microsoft.com/office/drawing/2014/main" id="{431CBE52-504B-473E-8150-00FA84D77271}"/>
              </a:ext>
            </a:extLst>
          </p:cNvPr>
          <p:cNvSpPr>
            <a:spLocks xmlns:a="http://schemas.openxmlformats.org/drawingml/2006/main" noGrp="1"/>
          </p:cNvSpPr>
          <p:nvPr/>
        </p:nvSpPr>
        <p:spPr>
          <a:xfrm xmlns:a="http://schemas.openxmlformats.org/drawingml/2006/main">
            <a:off x="628650" y="35528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F4D3B"/>
                </a:solidFill>
                <a:latin typeface="Arial"/>
                <a:ea typeface="Arial"/>
                <a:cs typeface="Arial"/>
              </a:defRPr>
            </a:defPPr>
            <a:lvl1pPr>
              <a:defRPr sz="2025" b="1">
                <a:solidFill>
                  <a:srgbClr val="1F4D3B"/>
                </a:solidFill>
                <a:latin typeface="Arial"/>
                <a:ea typeface="Arial"/>
                <a:cs typeface="Arial"/>
              </a:defRPr>
            </a:lvl1pPr>
            <a:lvl2pPr>
              <a:defRPr sz="2025" b="1">
                <a:solidFill>
                  <a:srgbClr val="1F4D3B"/>
                </a:solidFill>
                <a:latin typeface="Arial"/>
                <a:ea typeface="Arial"/>
                <a:cs typeface="Arial"/>
              </a:defRPr>
            </a:lvl2pPr>
            <a:lvl3pPr>
              <a:defRPr sz="2025" b="1">
                <a:solidFill>
                  <a:srgbClr val="1F4D3B"/>
                </a:solidFill>
                <a:latin typeface="Arial"/>
                <a:ea typeface="Arial"/>
                <a:cs typeface="Arial"/>
              </a:defRPr>
            </a:lvl3pPr>
            <a:lvl4pPr>
              <a:defRPr sz="2025" b="1">
                <a:solidFill>
                  <a:srgbClr val="1F4D3B"/>
                </a:solidFill>
                <a:latin typeface="Arial"/>
                <a:ea typeface="Arial"/>
                <a:cs typeface="Arial"/>
              </a:defRPr>
            </a:lvl4pPr>
            <a:lvl5pPr>
              <a:defRPr sz="2025" b="1">
                <a:solidFill>
                  <a:srgbClr val="1F4D3B"/>
                </a:solidFill>
                <a:latin typeface="Arial"/>
                <a:ea typeface="Arial"/>
                <a:cs typeface="Arial"/>
              </a:defRPr>
            </a:lvl5pPr>
            <a:lvl6pPr>
              <a:defRPr sz="2025" b="1">
                <a:solidFill>
                  <a:srgbClr val="1F4D3B"/>
                </a:solidFill>
                <a:latin typeface="Arial"/>
                <a:ea typeface="Arial"/>
                <a:cs typeface="Arial"/>
              </a:defRPr>
            </a:lvl6pPr>
            <a:lvl7pPr>
              <a:defRPr sz="2025" b="1">
                <a:solidFill>
                  <a:srgbClr val="1F4D3B"/>
                </a:solidFill>
                <a:latin typeface="Arial"/>
                <a:ea typeface="Arial"/>
                <a:cs typeface="Arial"/>
              </a:defRPr>
            </a:lvl7pPr>
            <a:lvl8pPr>
              <a:defRPr sz="2025" b="1">
                <a:solidFill>
                  <a:srgbClr val="1F4D3B"/>
                </a:solidFill>
                <a:latin typeface="Arial"/>
                <a:ea typeface="Arial"/>
                <a:cs typeface="Arial"/>
              </a:defRPr>
            </a:lvl8pPr>
            <a:lvl9pPr>
              <a:defRPr sz="2025" b="1">
                <a:solidFill>
                  <a:srgbClr val="1F4D3B"/>
                </a:solidFill>
                <a:latin typeface="Arial"/>
                <a:ea typeface="Arial"/>
                <a:cs typeface="Arial"/>
              </a:defRPr>
            </a:lvl9pPr>
          </a:lstStyle>
          <a:p xmlns:a="http://schemas.openxmlformats.org/drawingml/2006/main">
            <a:pPr>
              <a:defRPr sz="2025" b="1">
                <a:solidFill>
                  <a:srgbClr val="1F4D3B"/>
                </a:solidFill>
                <a:latin typeface="Arial"/>
                <a:ea typeface="Arial"/>
                <a:cs typeface="Arial"/>
              </a:defRPr>
            </a:pPr>
            <a:r>
              <a:rPr sz="2025" b="1">
                <a:solidFill>
                  <a:srgbClr val="1F4D3B"/>
                </a:solidFill>
                <a:latin typeface="Arial"/>
                <a:ea typeface="Arial"/>
                <a:cs typeface="Arial"/>
              </a:rPr>
              <a:t>Parameterized procedure call</a:t>
            </a:r>
          </a:p>
        </p:txBody>
      </p:sp>
      <p:sp>
        <p:nvSpPr>
          <p:cNvPr id="20" name="sql-example">
            <a:extLst xmlns:a="http://schemas.openxmlformats.org/drawingml/2006/main">
              <a:ext uri="{FF2B5EF4-FFF2-40B4-BE49-F238E27FC236}">
                <a16:creationId xmlns:a16="http://schemas.microsoft.com/office/drawing/2014/main" id="{980B1210-5B78-4909-A266-902A8E3CBC1A}"/>
              </a:ext>
            </a:extLst>
          </p:cNvPr>
          <p:cNvSpPr>
            <a:spLocks xmlns:a="http://schemas.openxmlformats.org/drawingml/2006/main" noGrp="1"/>
          </p:cNvSpPr>
          <p:nvPr/>
        </p:nvSpPr>
        <p:spPr>
          <a:xfrm xmlns:a="http://schemas.openxmlformats.org/drawingml/2006/main">
            <a:off x="628650" y="4076700"/>
            <a:ext cx="80962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await conn.beginTransaction();</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await conn.query(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'CALL sp_allocate_room(?,?,?,?)',</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[studentId, roomId, academicYear, actorId]</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await conn.commit();</a:t>
            </a:r>
          </a:p>
        </p:txBody>
      </p:sp>
      <p:sp>
        <p:nvSpPr>
          <p:cNvPr id="21" name="text">
            <a:extLst xmlns:a="http://schemas.openxmlformats.org/drawingml/2006/main">
              <a:ext uri="{FF2B5EF4-FFF2-40B4-BE49-F238E27FC236}">
                <a16:creationId xmlns:a16="http://schemas.microsoft.com/office/drawing/2014/main" id="{0CAD5CD3-84DD-4B7E-A770-2EE77E7268A0}"/>
              </a:ext>
            </a:extLst>
          </p:cNvPr>
          <p:cNvSpPr>
            <a:spLocks xmlns:a="http://schemas.openxmlformats.org/drawingml/2006/main" noGrp="1"/>
          </p:cNvSpPr>
          <p:nvPr/>
        </p:nvSpPr>
        <p:spPr>
          <a:xfrm xmlns:a="http://schemas.openxmlformats.org/drawingml/2006/main">
            <a:off x="8763000" y="4067175"/>
            <a:ext cx="28098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0735E"/>
                </a:solidFill>
                <a:latin typeface="Arial"/>
                <a:ea typeface="Arial"/>
                <a:cs typeface="Arial"/>
              </a:defRPr>
            </a:defPPr>
            <a:lvl1pPr>
              <a:defRPr sz="1800" b="0">
                <a:solidFill>
                  <a:srgbClr val="60735E"/>
                </a:solidFill>
                <a:latin typeface="Arial"/>
                <a:ea typeface="Arial"/>
                <a:cs typeface="Arial"/>
              </a:defRPr>
            </a:lvl1pPr>
            <a:lvl2pPr>
              <a:defRPr sz="1800" b="0">
                <a:solidFill>
                  <a:srgbClr val="60735E"/>
                </a:solidFill>
                <a:latin typeface="Arial"/>
                <a:ea typeface="Arial"/>
                <a:cs typeface="Arial"/>
              </a:defRPr>
            </a:lvl2pPr>
            <a:lvl3pPr>
              <a:defRPr sz="1800" b="0">
                <a:solidFill>
                  <a:srgbClr val="60735E"/>
                </a:solidFill>
                <a:latin typeface="Arial"/>
                <a:ea typeface="Arial"/>
                <a:cs typeface="Arial"/>
              </a:defRPr>
            </a:lvl3pPr>
            <a:lvl4pPr>
              <a:defRPr sz="1800" b="0">
                <a:solidFill>
                  <a:srgbClr val="60735E"/>
                </a:solidFill>
                <a:latin typeface="Arial"/>
                <a:ea typeface="Arial"/>
                <a:cs typeface="Arial"/>
              </a:defRPr>
            </a:lvl4pPr>
            <a:lvl5pPr>
              <a:defRPr sz="1800" b="0">
                <a:solidFill>
                  <a:srgbClr val="60735E"/>
                </a:solidFill>
                <a:latin typeface="Arial"/>
                <a:ea typeface="Arial"/>
                <a:cs typeface="Arial"/>
              </a:defRPr>
            </a:lvl5pPr>
            <a:lvl6pPr>
              <a:defRPr sz="1800" b="0">
                <a:solidFill>
                  <a:srgbClr val="60735E"/>
                </a:solidFill>
                <a:latin typeface="Arial"/>
                <a:ea typeface="Arial"/>
                <a:cs typeface="Arial"/>
              </a:defRPr>
            </a:lvl6pPr>
            <a:lvl7pPr>
              <a:defRPr sz="1800" b="0">
                <a:solidFill>
                  <a:srgbClr val="60735E"/>
                </a:solidFill>
                <a:latin typeface="Arial"/>
                <a:ea typeface="Arial"/>
                <a:cs typeface="Arial"/>
              </a:defRPr>
            </a:lvl7pPr>
            <a:lvl8pPr>
              <a:defRPr sz="1800" b="0">
                <a:solidFill>
                  <a:srgbClr val="60735E"/>
                </a:solidFill>
                <a:latin typeface="Arial"/>
                <a:ea typeface="Arial"/>
                <a:cs typeface="Arial"/>
              </a:defRPr>
            </a:lvl8pPr>
            <a:lvl9pPr>
              <a:defRPr sz="1800" b="0">
                <a:solidFill>
                  <a:srgbClr val="60735E"/>
                </a:solidFill>
                <a:latin typeface="Arial"/>
                <a:ea typeface="Arial"/>
                <a:cs typeface="Arial"/>
              </a:defRPr>
            </a:lvl9pPr>
          </a:lstStyle>
          <a:p xmlns:a="http://schemas.openxmlformats.org/drawingml/2006/main">
            <a:pPr>
              <a:defRPr sz="1800" b="0">
                <a:solidFill>
                  <a:srgbClr val="60735E"/>
                </a:solidFill>
                <a:latin typeface="Arial"/>
                <a:ea typeface="Arial"/>
                <a:cs typeface="Arial"/>
              </a:defRPr>
            </a:pPr>
            <a:r>
              <a:rPr sz="1800" b="0">
                <a:solidFill>
                  <a:srgbClr val="60735E"/>
                </a:solidFill>
                <a:latin typeface="Arial"/>
                <a:ea typeface="Arial"/>
                <a:cs typeface="Arial"/>
              </a:rPr>
              <a:t>Connection pool</a:t>
            </a:r>
          </a:p>
          <a:p xmlns:a="http://schemas.openxmlformats.org/drawingml/2006/main">
            <a:pPr>
              <a:defRPr sz="1800" b="0">
                <a:solidFill>
                  <a:srgbClr val="60735E"/>
                </a:solidFill>
                <a:latin typeface="Arial"/>
                <a:ea typeface="Arial"/>
                <a:cs typeface="Arial"/>
              </a:defRPr>
            </a:pPr>
            <a:r>
              <a:rPr sz="1800" b="0">
                <a:solidFill>
                  <a:srgbClr val="60735E"/>
                </a:solidFill>
                <a:latin typeface="Arial"/>
                <a:ea typeface="Arial"/>
                <a:cs typeface="Arial"/>
              </a:rPr>
              <a:t>Credentials in .env</a:t>
            </a:r>
          </a:p>
          <a:p xmlns:a="http://schemas.openxmlformats.org/drawingml/2006/main">
            <a:pPr>
              <a:defRPr sz="1800" b="0">
                <a:solidFill>
                  <a:srgbClr val="60735E"/>
                </a:solidFill>
                <a:latin typeface="Arial"/>
                <a:ea typeface="Arial"/>
                <a:cs typeface="Arial"/>
              </a:defRPr>
            </a:pPr>
            <a:r>
              <a:rPr sz="1800" b="0">
                <a:solidFill>
                  <a:srgbClr val="60735E"/>
                </a:solidFill>
                <a:latin typeface="Arial"/>
                <a:ea typeface="Arial"/>
                <a:cs typeface="Arial"/>
              </a:rPr>
              <a:t>Rollback on errors</a:t>
            </a:r>
          </a:p>
          <a:p xmlns:a="http://schemas.openxmlformats.org/drawingml/2006/main">
            <a:pPr>
              <a:defRPr sz="1800" b="0">
                <a:solidFill>
                  <a:srgbClr val="60735E"/>
                </a:solidFill>
                <a:latin typeface="Arial"/>
                <a:ea typeface="Arial"/>
                <a:cs typeface="Arial"/>
              </a:defRPr>
            </a:pPr>
            <a:r>
              <a:rPr sz="1800" b="0">
                <a:solidFill>
                  <a:srgbClr val="60735E"/>
                </a:solidFill>
                <a:latin typeface="Arial"/>
                <a:ea typeface="Arial"/>
                <a:cs typeface="Arial"/>
              </a:rPr>
              <a:t>Restricted app account</a:t>
            </a:r>
          </a:p>
        </p:txBody>
      </p:sp>
    </p:spTree>
    <p:extLst>
      <p:ext uri="{BB962C8B-B14F-4D97-AF65-F5344CB8AC3E}">
        <p14:creationId xmlns:p14="http://schemas.microsoft.com/office/powerpoint/2010/main" val="496125371"/>
      </p:ext>
    </p:extLst>
  </p:cSld>
</p:sld>
</file>

<file path=ppt/slides/slide35.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A6464516-CF68-4ECD-BF50-12BD893993F2}"/>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Testing and Validation</a:t>
            </a:r>
          </a:p>
        </p:txBody>
      </p:sp>
      <p:sp>
        <p:nvSpPr>
          <p:cNvPr id="3" name="slide-subtitle">
            <a:extLst xmlns:a="http://schemas.openxmlformats.org/drawingml/2006/main">
              <a:ext uri="{FF2B5EF4-FFF2-40B4-BE49-F238E27FC236}">
                <a16:creationId xmlns:a16="http://schemas.microsoft.com/office/drawing/2014/main" id="{741D49E9-0312-45B5-A113-4C57399271C4}"/>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31 automated checks passed against a fresh real MySQL database.</a:t>
            </a:r>
          </a:p>
        </p:txBody>
      </p:sp>
      <p:sp>
        <p:nvSpPr>
          <p:cNvPr id="4" name="footer">
            <a:extLst xmlns:a="http://schemas.openxmlformats.org/drawingml/2006/main">
              <a:ext uri="{FF2B5EF4-FFF2-40B4-BE49-F238E27FC236}">
                <a16:creationId xmlns:a16="http://schemas.microsoft.com/office/drawing/2014/main" id="{02B4A4A6-91A6-401C-A6B2-8CCA0E44FF2D}"/>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6C4D8266-23BE-4F60-BAEB-85957C932297}"/>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35 / 36</a:t>
            </a:r>
          </a:p>
        </p:txBody>
      </p:sp>
      <p:graphicFrame>
        <p:nvGraphicFramePr>
          <p:cNvPr id="6" name="">
            <a:extLst xmlns:a="http://schemas.openxmlformats.org/drawingml/2006/main">
              <a:ext uri="{FF2B5EF4-FFF2-40B4-BE49-F238E27FC236}">
                <a16:creationId xmlns:a16="http://schemas.microsoft.com/office/drawing/2014/main" id="{8B8F8870-ECF2-4FCA-AA82-3134AD662845}"/>
              </a:ext>
            </a:extLst>
          </p:cNvPr>
          <p:cNvGraphicFramePr/>
          <p:nvPr/>
        </p:nvGraphicFramePr>
        <p:xfrm>
          <a:off xmlns:a="http://schemas.openxmlformats.org/drawingml/2006/main" x="609600" y="1790700"/>
          <a:ext xmlns:a="http://schemas.openxmlformats.org/drawingml/2006/main" cx="10972800" cy="4238625"/>
        </p:xfrm>
        <a:graphic xmlns:a="http://schemas.openxmlformats.org/drawingml/2006/main">
          <a:graphicData uri="http://schemas.openxmlformats.org/drawingml/2006/table">
            <a:tbl>
              <a:tblPr/>
              <a:tblGrid>
                <a:gridCol w="2619375"/>
                <a:gridCol w="5400675"/>
                <a:gridCol w="2952750"/>
              </a:tblGrid>
              <a:tr h="457200">
                <a:tc>
                  <a:txBody>
                    <a:bodyPr lIns="114300" tIns="114300" rIns="114300" bIns="114300"/>
                    <a:lstStyle/>
                    <a:p>
                      <a:r>
                        <a:rPr sz="1425" b="1">
                          <a:solidFill>
                            <a:srgbClr val="FFFFFF"/>
                          </a:solidFill>
                          <a:latin typeface="Arial"/>
                          <a:ea typeface="Arial"/>
                          <a:cs typeface="Arial"/>
                        </a:rPr>
                        <a:t>Test area</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425" b="1">
                          <a:solidFill>
                            <a:srgbClr val="FFFFFF"/>
                          </a:solidFill>
                          <a:latin typeface="Arial"/>
                          <a:ea typeface="Arial"/>
                          <a:cs typeface="Arial"/>
                        </a:rPr>
                        <a:t>Representative check</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425" b="1">
                          <a:solidFill>
                            <a:srgbClr val="FFFFFF"/>
                          </a:solidFill>
                          <a:latin typeface="Arial"/>
                          <a:ea typeface="Arial"/>
                          <a:cs typeface="Arial"/>
                        </a:rPr>
                        <a:t>Recorded outcome</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540204">
                <a:tc>
                  <a:txBody>
                    <a:bodyPr lIns="114300" tIns="114300" rIns="114300" bIns="114300"/>
                    <a:lstStyle/>
                    <a:p>
                      <a:r>
                        <a:rPr sz="1500" b="0">
                          <a:solidFill>
                            <a:srgbClr val="243B2D"/>
                          </a:solidFill>
                          <a:latin typeface="Arial"/>
                          <a:ea typeface="Arial"/>
                          <a:cs typeface="Arial"/>
                        </a:rPr>
                        <a:t>Room integrity</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Full rooms, wrong block gender, second active room</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Rejected</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40204">
                <a:tc>
                  <a:txBody>
                    <a:bodyPr lIns="114300" tIns="114300" rIns="114300" bIns="114300"/>
                    <a:lstStyle/>
                    <a:p>
                      <a:r>
                        <a:rPr sz="1500" b="0">
                          <a:solidFill>
                            <a:srgbClr val="243B2D"/>
                          </a:solidFill>
                          <a:latin typeface="Arial"/>
                          <a:ea typeface="Arial"/>
                          <a:cs typeface="Arial"/>
                        </a:rPr>
                        <a:t>Concurrency</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Two requests claim the last bed</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Exactly one success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40204">
                <a:tc>
                  <a:txBody>
                    <a:bodyPr lIns="114300" tIns="114300" rIns="114300" bIns="114300"/>
                    <a:lstStyle/>
                    <a:p>
                      <a:r>
                        <a:rPr sz="1500" b="0">
                          <a:solidFill>
                            <a:srgbClr val="243B2D"/>
                          </a:solidFill>
                          <a:latin typeface="Arial"/>
                          <a:ea typeface="Arial"/>
                          <a:cs typeface="Arial"/>
                        </a:rPr>
                        <a:t>Duplicate complaints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Parallel requests for one room/category</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Exactly one record</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40204">
                <a:tc>
                  <a:txBody>
                    <a:bodyPr lIns="114300" tIns="114300" rIns="114300" bIns="114300"/>
                    <a:lstStyle/>
                    <a:p>
                      <a:r>
                        <a:rPr sz="1500" b="0">
                          <a:solidFill>
                            <a:srgbClr val="243B2D"/>
                          </a:solidFill>
                          <a:latin typeface="Arial"/>
                          <a:ea typeface="Arial"/>
                          <a:cs typeface="Arial"/>
                        </a:rPr>
                        <a:t>Role access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Another student, block warden or staff reads a record</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Denied</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40204">
                <a:tc>
                  <a:txBody>
                    <a:bodyPr lIns="114300" tIns="114300" rIns="114300" bIns="114300"/>
                    <a:lstStyle/>
                    <a:p>
                      <a:r>
                        <a:rPr sz="1500" b="0">
                          <a:solidFill>
                            <a:srgbClr val="243B2D"/>
                          </a:solidFill>
                          <a:latin typeface="Arial"/>
                          <a:ea typeface="Arial"/>
                          <a:cs typeface="Arial"/>
                        </a:rPr>
                        <a:t>Workflow and feedback</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Reopen, resolve, rate and close with authored history</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Passed</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40204">
                <a:tc>
                  <a:txBody>
                    <a:bodyPr lIns="114300" tIns="114300" rIns="114300" bIns="114300"/>
                    <a:lstStyle/>
                    <a:p>
                      <a:r>
                        <a:rPr sz="1500" b="0">
                          <a:solidFill>
                            <a:srgbClr val="243B2D"/>
                          </a:solidFill>
                          <a:latin typeface="Arial"/>
                          <a:ea typeface="Arial"/>
                          <a:cs typeface="Arial"/>
                        </a:rPr>
                        <a:t>Admin and accounts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Invalid occupancy edits and deactivated account token</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Blocked</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40204">
                <a:tc>
                  <a:txBody>
                    <a:bodyPr lIns="114300" tIns="114300" rIns="114300" bIns="114300"/>
                    <a:lstStyle/>
                    <a:p>
                      <a:r>
                        <a:rPr sz="1500" b="0">
                          <a:solidFill>
                            <a:srgbClr val="243B2D"/>
                          </a:solidFill>
                          <a:latin typeface="Arial"/>
                          <a:ea typeface="Arial"/>
                          <a:cs typeface="Arial"/>
                        </a:rPr>
                        <a:t>Browser walkthrough</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Submit, assign, start, resolve and give feedback</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CLOSED with full timeline</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bl>
          </a:graphicData>
        </a:graphic>
      </p:graphicFrame>
    </p:spTree>
    <p:extLst>
      <p:ext uri="{BB962C8B-B14F-4D97-AF65-F5344CB8AC3E}">
        <p14:creationId xmlns:p14="http://schemas.microsoft.com/office/powerpoint/2010/main" val="174516512"/>
      </p:ext>
    </p:extLst>
  </p:cSld>
</p:sld>
</file>

<file path=ppt/slides/slide36.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9827DF17-88B5-4DF9-A8D3-B33DA621E95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Project Demonstration and Documentation</a:t>
            </a:r>
          </a:p>
        </p:txBody>
      </p:sp>
      <p:sp>
        <p:nvSpPr>
          <p:cNvPr id="3" name="footer">
            <a:extLst xmlns:a="http://schemas.openxmlformats.org/drawingml/2006/main">
              <a:ext uri="{FF2B5EF4-FFF2-40B4-BE49-F238E27FC236}">
                <a16:creationId xmlns:a16="http://schemas.microsoft.com/office/drawing/2014/main" id="{A9CAA610-BA3C-4CFC-9BE0-9B0215FCE424}"/>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A3A37658-4B46-44D4-82AD-A08E3BA570A1}"/>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36 / 36</a:t>
            </a:r>
          </a:p>
        </p:txBody>
      </p:sp>
      <p:graphicFrame>
        <p:nvGraphicFramePr>
          <p:cNvPr id="5" name="">
            <a:extLst xmlns:a="http://schemas.openxmlformats.org/drawingml/2006/main">
              <a:ext uri="{FF2B5EF4-FFF2-40B4-BE49-F238E27FC236}">
                <a16:creationId xmlns:a16="http://schemas.microsoft.com/office/drawing/2014/main" id="{B8DFC0BF-0A00-4C78-92B9-8A7D9CF547BE}"/>
              </a:ext>
            </a:extLst>
          </p:cNvPr>
          <p:cNvGraphicFramePr/>
          <p:nvPr/>
        </p:nvGraphicFramePr>
        <p:xfrm>
          <a:off xmlns:a="http://schemas.openxmlformats.org/drawingml/2006/main" x="609600" y="1676400"/>
          <a:ext xmlns:a="http://schemas.openxmlformats.org/drawingml/2006/main" cx="10972800" cy="3333750"/>
        </p:xfrm>
        <a:graphic xmlns:a="http://schemas.openxmlformats.org/drawingml/2006/main">
          <a:graphicData uri="http://schemas.openxmlformats.org/drawingml/2006/table">
            <a:tbl>
              <a:tblPr/>
              <a:tblGrid>
                <a:gridCol w="904875"/>
                <a:gridCol w="2333625"/>
                <a:gridCol w="7734300"/>
              </a:tblGrid>
              <a:tr h="457200">
                <a:tc>
                  <a:txBody>
                    <a:bodyPr lIns="114300" tIns="114300" rIns="114300" bIns="114300"/>
                    <a:lstStyle/>
                    <a:p>
                      <a:r>
                        <a:rPr sz="1725" b="1">
                          <a:solidFill>
                            <a:srgbClr val="FFFFFF"/>
                          </a:solidFill>
                          <a:latin typeface="Arial"/>
                          <a:ea typeface="Arial"/>
                          <a:cs typeface="Arial"/>
                        </a:rPr>
                        <a:t>Step</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725" b="1">
                          <a:solidFill>
                            <a:srgbClr val="FFFFFF"/>
                          </a:solidFill>
                          <a:latin typeface="Arial"/>
                          <a:ea typeface="Arial"/>
                          <a:cs typeface="Arial"/>
                        </a:rPr>
                        <a:t>Role</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725" b="1">
                          <a:solidFill>
                            <a:srgbClr val="FFFFFF"/>
                          </a:solidFill>
                          <a:latin typeface="Arial"/>
                          <a:ea typeface="Arial"/>
                          <a:cs typeface="Arial"/>
                        </a:rPr>
                        <a:t>Demonstration</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575310">
                <a:tc>
                  <a:txBody>
                    <a:bodyPr lIns="114300" tIns="114300" rIns="114300" bIns="114300"/>
                    <a:lstStyle/>
                    <a:p>
                      <a:r>
                        <a:rPr sz="1800" b="0">
                          <a:solidFill>
                            <a:srgbClr val="243B2D"/>
                          </a:solidFill>
                          <a:latin typeface="Arial"/>
                          <a:ea typeface="Arial"/>
                          <a:cs typeface="Arial"/>
                        </a:rPr>
                        <a:t>1</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Student</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Show room and roommate, then raise a complaint.</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75310">
                <a:tc>
                  <a:txBody>
                    <a:bodyPr lIns="114300" tIns="114300" rIns="114300" bIns="114300"/>
                    <a:lstStyle/>
                    <a:p>
                      <a:r>
                        <a:rPr sz="1800" b="0">
                          <a:solidFill>
                            <a:srgbClr val="243B2D"/>
                          </a:solidFill>
                          <a:latin typeface="Arial"/>
                          <a:ea typeface="Arial"/>
                          <a:cs typeface="Arial"/>
                        </a:rPr>
                        <a:t>2</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Warden</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Assign the issue to matching staff in A Block.</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75310">
                <a:tc>
                  <a:txBody>
                    <a:bodyPr lIns="114300" tIns="114300" rIns="114300" bIns="114300"/>
                    <a:lstStyle/>
                    <a:p>
                      <a:r>
                        <a:rPr sz="1800" b="0">
                          <a:solidFill>
                            <a:srgbClr val="243B2D"/>
                          </a:solidFill>
                          <a:latin typeface="Arial"/>
                          <a:ea typeface="Arial"/>
                          <a:cs typeface="Arial"/>
                        </a:rPr>
                        <a:t>3</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Assigned staff</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Start work and resolve it with a repair remark.</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75310">
                <a:tc>
                  <a:txBody>
                    <a:bodyPr lIns="114300" tIns="114300" rIns="114300" bIns="114300"/>
                    <a:lstStyle/>
                    <a:p>
                      <a:r>
                        <a:rPr sz="1800" b="0">
                          <a:solidFill>
                            <a:srgbClr val="243B2D"/>
                          </a:solidFill>
                          <a:latin typeface="Arial"/>
                          <a:ea typeface="Arial"/>
                          <a:cs typeface="Arial"/>
                        </a:rPr>
                        <a:t>4</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Student</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Rate the repair. Show CLOSED status and full history.</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75310">
                <a:tc>
                  <a:txBody>
                    <a:bodyPr lIns="114300" tIns="114300" rIns="114300" bIns="114300"/>
                    <a:lstStyle/>
                    <a:p>
                      <a:r>
                        <a:rPr sz="1800" b="0">
                          <a:solidFill>
                            <a:srgbClr val="243B2D"/>
                          </a:solidFill>
                          <a:latin typeface="Arial"/>
                          <a:ea typeface="Arial"/>
                          <a:cs typeface="Arial"/>
                        </a:rPr>
                        <a:t>5</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Warden / admin</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Show occupancy, an invalid allotment and overdue reports.</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bl>
          </a:graphicData>
        </a:graphic>
      </p:graphicFrame>
      <p:sp>
        <p:nvSpPr>
          <p:cNvPr id="6" name="text">
            <a:extLst xmlns:a="http://schemas.openxmlformats.org/drawingml/2006/main">
              <a:ext uri="{FF2B5EF4-FFF2-40B4-BE49-F238E27FC236}">
                <a16:creationId xmlns:a16="http://schemas.microsoft.com/office/drawing/2014/main" id="{D20BF498-B707-42B0-8B12-A4EE21903A60}"/>
              </a:ext>
            </a:extLst>
          </p:cNvPr>
          <p:cNvSpPr>
            <a:spLocks xmlns:a="http://schemas.openxmlformats.org/drawingml/2006/main" noGrp="1"/>
          </p:cNvSpPr>
          <p:nvPr/>
        </p:nvSpPr>
        <p:spPr>
          <a:xfrm xmlns:a="http://schemas.openxmlformats.org/drawingml/2006/main">
            <a:off x="628650" y="53530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F4D3B"/>
                </a:solidFill>
                <a:latin typeface="Arial"/>
                <a:ea typeface="Arial"/>
                <a:cs typeface="Arial"/>
              </a:defRPr>
            </a:defPPr>
            <a:lvl1pPr>
              <a:defRPr sz="2025" b="1">
                <a:solidFill>
                  <a:srgbClr val="1F4D3B"/>
                </a:solidFill>
                <a:latin typeface="Arial"/>
                <a:ea typeface="Arial"/>
                <a:cs typeface="Arial"/>
              </a:defRPr>
            </a:lvl1pPr>
            <a:lvl2pPr>
              <a:defRPr sz="2025" b="1">
                <a:solidFill>
                  <a:srgbClr val="1F4D3B"/>
                </a:solidFill>
                <a:latin typeface="Arial"/>
                <a:ea typeface="Arial"/>
                <a:cs typeface="Arial"/>
              </a:defRPr>
            </a:lvl2pPr>
            <a:lvl3pPr>
              <a:defRPr sz="2025" b="1">
                <a:solidFill>
                  <a:srgbClr val="1F4D3B"/>
                </a:solidFill>
                <a:latin typeface="Arial"/>
                <a:ea typeface="Arial"/>
                <a:cs typeface="Arial"/>
              </a:defRPr>
            </a:lvl3pPr>
            <a:lvl4pPr>
              <a:defRPr sz="2025" b="1">
                <a:solidFill>
                  <a:srgbClr val="1F4D3B"/>
                </a:solidFill>
                <a:latin typeface="Arial"/>
                <a:ea typeface="Arial"/>
                <a:cs typeface="Arial"/>
              </a:defRPr>
            </a:lvl4pPr>
            <a:lvl5pPr>
              <a:defRPr sz="2025" b="1">
                <a:solidFill>
                  <a:srgbClr val="1F4D3B"/>
                </a:solidFill>
                <a:latin typeface="Arial"/>
                <a:ea typeface="Arial"/>
                <a:cs typeface="Arial"/>
              </a:defRPr>
            </a:lvl5pPr>
            <a:lvl6pPr>
              <a:defRPr sz="2025" b="1">
                <a:solidFill>
                  <a:srgbClr val="1F4D3B"/>
                </a:solidFill>
                <a:latin typeface="Arial"/>
                <a:ea typeface="Arial"/>
                <a:cs typeface="Arial"/>
              </a:defRPr>
            </a:lvl6pPr>
            <a:lvl7pPr>
              <a:defRPr sz="2025" b="1">
                <a:solidFill>
                  <a:srgbClr val="1F4D3B"/>
                </a:solidFill>
                <a:latin typeface="Arial"/>
                <a:ea typeface="Arial"/>
                <a:cs typeface="Arial"/>
              </a:defRPr>
            </a:lvl7pPr>
            <a:lvl8pPr>
              <a:defRPr sz="2025" b="1">
                <a:solidFill>
                  <a:srgbClr val="1F4D3B"/>
                </a:solidFill>
                <a:latin typeface="Arial"/>
                <a:ea typeface="Arial"/>
                <a:cs typeface="Arial"/>
              </a:defRPr>
            </a:lvl8pPr>
            <a:lvl9pPr>
              <a:defRPr sz="2025" b="1">
                <a:solidFill>
                  <a:srgbClr val="1F4D3B"/>
                </a:solidFill>
                <a:latin typeface="Arial"/>
                <a:ea typeface="Arial"/>
                <a:cs typeface="Arial"/>
              </a:defRPr>
            </a:lvl9pPr>
          </a:lstStyle>
          <a:p xmlns:a="http://schemas.openxmlformats.org/drawingml/2006/main">
            <a:pPr>
              <a:defRPr sz="2025" b="1">
                <a:solidFill>
                  <a:srgbClr val="1F4D3B"/>
                </a:solidFill>
                <a:latin typeface="Arial"/>
                <a:ea typeface="Arial"/>
                <a:cs typeface="Arial"/>
              </a:defRPr>
            </a:pPr>
            <a:r>
              <a:rPr sz="2025" b="1">
                <a:solidFill>
                  <a:srgbClr val="1F4D3B"/>
                </a:solidFill>
                <a:latin typeface="Arial"/>
                <a:ea typeface="Arial"/>
                <a:cs typeface="Arial"/>
              </a:rPr>
              <a:t>Documentation</a:t>
            </a:r>
          </a:p>
        </p:txBody>
      </p:sp>
      <p:sp>
        <p:nvSpPr>
          <p:cNvPr id="7" name="text">
            <a:extLst xmlns:a="http://schemas.openxmlformats.org/drawingml/2006/main">
              <a:ext uri="{FF2B5EF4-FFF2-40B4-BE49-F238E27FC236}">
                <a16:creationId xmlns:a16="http://schemas.microsoft.com/office/drawing/2014/main" id="{47C31C22-96EE-4B81-B61E-3CBF6A703E5A}"/>
              </a:ext>
            </a:extLst>
          </p:cNvPr>
          <p:cNvSpPr>
            <a:spLocks xmlns:a="http://schemas.openxmlformats.org/drawingml/2006/main" noGrp="1"/>
          </p:cNvSpPr>
          <p:nvPr/>
        </p:nvSpPr>
        <p:spPr>
          <a:xfrm xmlns:a="http://schemas.openxmlformats.org/drawingml/2006/main">
            <a:off x="628650" y="5772150"/>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0735E"/>
                </a:solidFill>
                <a:latin typeface="Arial"/>
                <a:ea typeface="Arial"/>
                <a:cs typeface="Arial"/>
              </a:defRPr>
            </a:defPPr>
            <a:lvl1pPr>
              <a:defRPr sz="1725" b="0">
                <a:solidFill>
                  <a:srgbClr val="60735E"/>
                </a:solidFill>
                <a:latin typeface="Arial"/>
                <a:ea typeface="Arial"/>
                <a:cs typeface="Arial"/>
              </a:defRPr>
            </a:lvl1pPr>
            <a:lvl2pPr>
              <a:defRPr sz="1725" b="0">
                <a:solidFill>
                  <a:srgbClr val="60735E"/>
                </a:solidFill>
                <a:latin typeface="Arial"/>
                <a:ea typeface="Arial"/>
                <a:cs typeface="Arial"/>
              </a:defRPr>
            </a:lvl2pPr>
            <a:lvl3pPr>
              <a:defRPr sz="1725" b="0">
                <a:solidFill>
                  <a:srgbClr val="60735E"/>
                </a:solidFill>
                <a:latin typeface="Arial"/>
                <a:ea typeface="Arial"/>
                <a:cs typeface="Arial"/>
              </a:defRPr>
            </a:lvl3pPr>
            <a:lvl4pPr>
              <a:defRPr sz="1725" b="0">
                <a:solidFill>
                  <a:srgbClr val="60735E"/>
                </a:solidFill>
                <a:latin typeface="Arial"/>
                <a:ea typeface="Arial"/>
                <a:cs typeface="Arial"/>
              </a:defRPr>
            </a:lvl4pPr>
            <a:lvl5pPr>
              <a:defRPr sz="1725" b="0">
                <a:solidFill>
                  <a:srgbClr val="60735E"/>
                </a:solidFill>
                <a:latin typeface="Arial"/>
                <a:ea typeface="Arial"/>
                <a:cs typeface="Arial"/>
              </a:defRPr>
            </a:lvl5pPr>
            <a:lvl6pPr>
              <a:defRPr sz="1725" b="0">
                <a:solidFill>
                  <a:srgbClr val="60735E"/>
                </a:solidFill>
                <a:latin typeface="Arial"/>
                <a:ea typeface="Arial"/>
                <a:cs typeface="Arial"/>
              </a:defRPr>
            </a:lvl6pPr>
            <a:lvl7pPr>
              <a:defRPr sz="1725" b="0">
                <a:solidFill>
                  <a:srgbClr val="60735E"/>
                </a:solidFill>
                <a:latin typeface="Arial"/>
                <a:ea typeface="Arial"/>
                <a:cs typeface="Arial"/>
              </a:defRPr>
            </a:lvl7pPr>
            <a:lvl8pPr>
              <a:defRPr sz="1725" b="0">
                <a:solidFill>
                  <a:srgbClr val="60735E"/>
                </a:solidFill>
                <a:latin typeface="Arial"/>
                <a:ea typeface="Arial"/>
                <a:cs typeface="Arial"/>
              </a:defRPr>
            </a:lvl8pPr>
            <a:lvl9pPr>
              <a:defRPr sz="1725" b="0">
                <a:solidFill>
                  <a:srgbClr val="60735E"/>
                </a:solidFill>
                <a:latin typeface="Arial"/>
                <a:ea typeface="Arial"/>
                <a:cs typeface="Arial"/>
              </a:defRPr>
            </a:lvl9pPr>
          </a:lstStyle>
          <a:p xmlns:a="http://schemas.openxmlformats.org/drawingml/2006/main">
            <a:pPr>
              <a:defRPr sz="1725" b="0">
                <a:solidFill>
                  <a:srgbClr val="60735E"/>
                </a:solidFill>
                <a:latin typeface="Arial"/>
                <a:ea typeface="Arial"/>
                <a:cs typeface="Arial"/>
              </a:defRPr>
            </a:pPr>
            <a:r>
              <a:rPr sz="1725" b="0">
                <a:solidFill>
                  <a:srgbClr val="60735E"/>
                </a:solidFill>
                <a:latin typeface="Arial"/>
                <a:ea typeface="Arial"/>
                <a:cs typeface="Arial"/>
              </a:rPr>
              <a:t>README.md   docs/API.md   database/README.md   docs/VALIDATION.md</a:t>
            </a:r>
          </a:p>
        </p:txBody>
      </p:sp>
    </p:spTree>
    <p:extLst>
      <p:ext uri="{BB962C8B-B14F-4D97-AF65-F5344CB8AC3E}">
        <p14:creationId xmlns:p14="http://schemas.microsoft.com/office/powerpoint/2010/main" val="698565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2026-10-26T17:03:12.5120000Z</dcterms:created>
  <dcterms:modified xsi:type="dcterms:W3CDTF">2026-10-26T17:03:12.5120000Z</dcterms:modified>
</coreProperties>
</file>